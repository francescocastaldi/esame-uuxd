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" y="228600"/>
            <a:ext cx="9461500" cy="7099300"/>
          </a:xfrm>
          <a:custGeom>
            <a:avLst/>
            <a:gdLst/>
            <a:ahLst/>
            <a:cxnLst/>
            <a:rect l="l" t="t" r="r" b="b"/>
            <a:pathLst>
              <a:path w="9461500" h="7099300">
                <a:moveTo>
                  <a:pt x="9461500" y="0"/>
                </a:moveTo>
                <a:lnTo>
                  <a:pt x="0" y="0"/>
                </a:lnTo>
                <a:lnTo>
                  <a:pt x="0" y="7099299"/>
                </a:lnTo>
                <a:lnTo>
                  <a:pt x="9461500" y="7099299"/>
                </a:lnTo>
                <a:lnTo>
                  <a:pt x="9461500" y="0"/>
                </a:lnTo>
                <a:close/>
              </a:path>
            </a:pathLst>
          </a:custGeom>
          <a:solidFill>
            <a:srgbClr val="BD2B0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853" y="1840167"/>
            <a:ext cx="2905822" cy="290712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999200" y="423877"/>
            <a:ext cx="0" cy="6634480"/>
          </a:xfrm>
          <a:custGeom>
            <a:avLst/>
            <a:gdLst/>
            <a:ahLst/>
            <a:cxnLst/>
            <a:rect l="l" t="t" r="r" b="b"/>
            <a:pathLst>
              <a:path w="0" h="6634480">
                <a:moveTo>
                  <a:pt x="0" y="0"/>
                </a:moveTo>
                <a:lnTo>
                  <a:pt x="1" y="6634203"/>
                </a:lnTo>
              </a:path>
            </a:pathLst>
          </a:custGeom>
          <a:ln w="985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32813" y="2563134"/>
            <a:ext cx="3491229" cy="1922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1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1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258423" y="1450682"/>
            <a:ext cx="4140200" cy="4679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738304" y="1450682"/>
            <a:ext cx="4137659" cy="4884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" y="228600"/>
            <a:ext cx="9461500" cy="7099300"/>
          </a:xfrm>
          <a:custGeom>
            <a:avLst/>
            <a:gdLst/>
            <a:ahLst/>
            <a:cxnLst/>
            <a:rect l="l" t="t" r="r" b="b"/>
            <a:pathLst>
              <a:path w="9461500" h="7099300">
                <a:moveTo>
                  <a:pt x="9461500" y="0"/>
                </a:moveTo>
                <a:lnTo>
                  <a:pt x="0" y="0"/>
                </a:lnTo>
                <a:lnTo>
                  <a:pt x="0" y="7099299"/>
                </a:lnTo>
                <a:lnTo>
                  <a:pt x="9461500" y="7099299"/>
                </a:lnTo>
                <a:lnTo>
                  <a:pt x="9461500" y="0"/>
                </a:lnTo>
                <a:close/>
              </a:path>
            </a:pathLst>
          </a:custGeom>
          <a:solidFill>
            <a:srgbClr val="BD2B0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853" y="1840167"/>
            <a:ext cx="2905822" cy="290712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999200" y="423877"/>
            <a:ext cx="0" cy="6634480"/>
          </a:xfrm>
          <a:custGeom>
            <a:avLst/>
            <a:gdLst/>
            <a:ahLst/>
            <a:cxnLst/>
            <a:rect l="l" t="t" r="r" b="b"/>
            <a:pathLst>
              <a:path w="0" h="6634480">
                <a:moveTo>
                  <a:pt x="0" y="0"/>
                </a:moveTo>
                <a:lnTo>
                  <a:pt x="1" y="6634203"/>
                </a:lnTo>
              </a:path>
            </a:pathLst>
          </a:custGeom>
          <a:ln w="985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18343" y="6619219"/>
            <a:ext cx="2495550" cy="568325"/>
          </a:xfrm>
          <a:custGeom>
            <a:avLst/>
            <a:gdLst/>
            <a:ahLst/>
            <a:cxnLst/>
            <a:rect l="l" t="t" r="r" b="b"/>
            <a:pathLst>
              <a:path w="2495550" h="568325">
                <a:moveTo>
                  <a:pt x="2495501" y="0"/>
                </a:moveTo>
                <a:lnTo>
                  <a:pt x="0" y="0"/>
                </a:lnTo>
                <a:lnTo>
                  <a:pt x="0" y="567985"/>
                </a:lnTo>
                <a:lnTo>
                  <a:pt x="2495501" y="567985"/>
                </a:lnTo>
                <a:lnTo>
                  <a:pt x="2495501" y="0"/>
                </a:lnTo>
                <a:close/>
              </a:path>
            </a:pathLst>
          </a:custGeom>
          <a:solidFill>
            <a:srgbClr val="BD2B0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7098" y="6628229"/>
            <a:ext cx="2077993" cy="5499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9661" y="464123"/>
            <a:ext cx="7737475" cy="528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1784" y="1422428"/>
            <a:ext cx="8328659" cy="5187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1">
                <a:solidFill>
                  <a:srgbClr val="15151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it.ly/4bev8XC" TargetMode="Externa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easuringusability.com/sus.php" TargetMode="Externa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it.ly/4bev8XC" TargetMode="Externa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userfocus.co.uk/resources/guidelines.html" TargetMode="Externa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79149" y="5406987"/>
            <a:ext cx="199199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229" b="1">
                <a:solidFill>
                  <a:srgbClr val="FFFFFF"/>
                </a:solidFill>
                <a:latin typeface="Verdana"/>
                <a:cs typeface="Verdana"/>
              </a:rPr>
              <a:t>Fabio</a:t>
            </a:r>
            <a:r>
              <a:rPr dirty="0" sz="2900" spc="-14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280" b="1">
                <a:solidFill>
                  <a:srgbClr val="FFFFFF"/>
                </a:solidFill>
                <a:latin typeface="Verdana"/>
                <a:cs typeface="Verdana"/>
              </a:rPr>
              <a:t>Vitali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algn="ctr" marL="12700" marR="5080" indent="-1270">
              <a:lnSpc>
                <a:spcPct val="101699"/>
              </a:lnSpc>
              <a:spcBef>
                <a:spcPts val="15"/>
              </a:spcBef>
            </a:pPr>
            <a:r>
              <a:rPr dirty="0" sz="41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4100" spc="-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i="1">
                <a:solidFill>
                  <a:srgbClr val="FFFFFF"/>
                </a:solidFill>
                <a:latin typeface="Calibri"/>
                <a:cs typeface="Calibri"/>
              </a:rPr>
              <a:t>exam</a:t>
            </a:r>
            <a:r>
              <a:rPr dirty="0" sz="41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25" i="1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410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4100" spc="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i="1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dirty="0" sz="4100" spc="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10" i="1">
                <a:solidFill>
                  <a:srgbClr val="FFFFFF"/>
                </a:solidFill>
                <a:latin typeface="Calibri"/>
                <a:cs typeface="Calibri"/>
              </a:rPr>
              <a:t>project </a:t>
            </a:r>
            <a:r>
              <a:rPr dirty="0" sz="4100" i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4100" spc="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175" i="1">
                <a:solidFill>
                  <a:srgbClr val="FFFFFF"/>
                </a:solidFill>
                <a:latin typeface="Calibri"/>
                <a:cs typeface="Calibri"/>
              </a:rPr>
              <a:t>A.Y.</a:t>
            </a:r>
            <a:r>
              <a:rPr dirty="0" sz="41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i="1">
                <a:solidFill>
                  <a:srgbClr val="FFFFFF"/>
                </a:solidFill>
                <a:latin typeface="Calibri"/>
                <a:cs typeface="Calibri"/>
              </a:rPr>
              <a:t>2025-</a:t>
            </a:r>
            <a:r>
              <a:rPr dirty="0" sz="4100" spc="-25" i="1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4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5"/>
              <a:t> </a:t>
            </a:r>
            <a:r>
              <a:rPr dirty="0"/>
              <a:t>final</a:t>
            </a:r>
            <a:r>
              <a:rPr dirty="0" spc="-15"/>
              <a:t> </a:t>
            </a:r>
            <a:r>
              <a:rPr dirty="0" spc="-20"/>
              <a:t>exam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00921"/>
            <a:ext cx="8086725" cy="573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" marR="301625" indent="-12065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Every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student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take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present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project.</a:t>
            </a:r>
            <a:endParaRPr sz="2500">
              <a:latin typeface="Calibri"/>
              <a:cs typeface="Calibri"/>
            </a:endParaRPr>
          </a:p>
          <a:p>
            <a:pPr marL="485775" marR="99695" indent="-473075">
              <a:lnSpc>
                <a:spcPct val="99500"/>
              </a:lnSpc>
              <a:spcBef>
                <a:spcPts val="605"/>
              </a:spcBef>
              <a:buAutoNum type="arabicPeriod"/>
              <a:tabLst>
                <a:tab pos="48577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individual,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taken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official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dates,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repeated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until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satisfactory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score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obtained.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written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exam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weighs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50%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final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score.</a:t>
            </a:r>
            <a:endParaRPr sz="2100">
              <a:latin typeface="Calibri"/>
              <a:cs typeface="Calibri"/>
            </a:endParaRPr>
          </a:p>
          <a:p>
            <a:pPr marL="485775" marR="5080" indent="-473075">
              <a:lnSpc>
                <a:spcPct val="103200"/>
              </a:lnSpc>
              <a:spcBef>
                <a:spcPts val="400"/>
              </a:spcBef>
              <a:buAutoNum type="arabicPeriod"/>
              <a:tabLst>
                <a:tab pos="48577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presentation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small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groups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(2-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people)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0000"/>
                </a:solidFill>
                <a:latin typeface="Calibri"/>
                <a:cs typeface="Calibri"/>
              </a:rPr>
              <a:t>(or</a:t>
            </a:r>
            <a:r>
              <a:rPr dirty="0" sz="21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Calibri"/>
                <a:cs typeface="Calibri"/>
              </a:rPr>
              <a:t>individuals </a:t>
            </a:r>
            <a:r>
              <a:rPr dirty="0" sz="2100">
                <a:solidFill>
                  <a:srgbClr val="FF0000"/>
                </a:solidFill>
                <a:latin typeface="Calibri"/>
                <a:cs typeface="Calibri"/>
              </a:rPr>
              <a:t>[*])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official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date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(ask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appointment),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be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repeated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group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whole.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presentation weighs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50%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final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score.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2100">
              <a:latin typeface="Calibri"/>
              <a:cs typeface="Calibri"/>
            </a:endParaRPr>
          </a:p>
          <a:p>
            <a:pPr marL="12700" marR="153035">
              <a:lnSpc>
                <a:spcPct val="110000"/>
              </a:lnSpc>
            </a:pP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exams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presence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our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labs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fixed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dates.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presentations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anytime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anywhere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including online.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100">
                <a:solidFill>
                  <a:srgbClr val="FF0000"/>
                </a:solidFill>
                <a:latin typeface="Calibri"/>
                <a:cs typeface="Calibri"/>
              </a:rPr>
              <a:t>[*]</a:t>
            </a:r>
            <a:r>
              <a:rPr dirty="0" sz="2100" spc="-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dirty="0" sz="2100" spc="-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Calibri"/>
                <a:cs typeface="Calibri"/>
              </a:rPr>
              <a:t>students</a:t>
            </a:r>
            <a:r>
              <a:rPr dirty="0" sz="2100" spc="-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dirty="0" sz="2100" spc="-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FF0000"/>
                </a:solidFill>
                <a:latin typeface="Calibri"/>
                <a:cs typeface="Calibri"/>
              </a:rPr>
              <a:t>strong</a:t>
            </a:r>
            <a:r>
              <a:rPr dirty="0" sz="2100" spc="-95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Calibri"/>
                <a:cs typeface="Calibri"/>
              </a:rPr>
              <a:t>justifications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Language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exam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7505700" cy="1169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5080" indent="-1651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made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Italian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English,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students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choose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whichever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two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languages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prefer,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even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switch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halfway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through.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784" y="3632057"/>
            <a:ext cx="7940675" cy="15532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8575" marR="5080" indent="-16510">
              <a:lnSpc>
                <a:spcPct val="100299"/>
              </a:lnSpc>
              <a:spcBef>
                <a:spcPts val="9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presentation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languages.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I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start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Italian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Italian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students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English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with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foreign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students,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switch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language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upon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request.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80"/>
              <a:t> </a:t>
            </a:r>
            <a:r>
              <a:rPr dirty="0"/>
              <a:t>written</a:t>
            </a:r>
            <a:r>
              <a:rPr dirty="0" spc="-80"/>
              <a:t> </a:t>
            </a:r>
            <a:r>
              <a:rPr dirty="0" spc="-20"/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195309" cy="529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612140" indent="-1651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8/10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open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text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questions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about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theoretical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parts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program.</a:t>
            </a:r>
            <a:endParaRPr sz="2500">
              <a:latin typeface="Calibri"/>
              <a:cs typeface="Calibri"/>
            </a:endParaRPr>
          </a:p>
          <a:p>
            <a:pPr marL="661670" marR="139065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E.g.: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"What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Maslow's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hierarchy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affect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product?"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Usually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exercises.</a:t>
            </a:r>
            <a:endParaRPr sz="2500">
              <a:latin typeface="Calibri"/>
              <a:cs typeface="Calibri"/>
            </a:endParaRPr>
          </a:p>
          <a:p>
            <a:pPr marL="28575" marR="5080" indent="-16510">
              <a:lnSpc>
                <a:spcPct val="100800"/>
              </a:lnSpc>
              <a:spcBef>
                <a:spcPts val="575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question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weight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depends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perceived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difficulty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length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providing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answer.</a:t>
            </a:r>
            <a:endParaRPr sz="2500">
              <a:latin typeface="Calibri"/>
              <a:cs typeface="Calibri"/>
            </a:endParaRPr>
          </a:p>
          <a:p>
            <a:pPr marL="28575" marR="885190" indent="-16510">
              <a:lnSpc>
                <a:spcPct val="100000"/>
              </a:lnSpc>
              <a:spcBef>
                <a:spcPts val="600"/>
              </a:spcBef>
            </a:pP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provided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official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dates,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no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exceptions.</a:t>
            </a:r>
            <a:endParaRPr sz="2500">
              <a:latin typeface="Calibri"/>
              <a:cs typeface="Calibri"/>
            </a:endParaRPr>
          </a:p>
          <a:p>
            <a:pPr marL="28575" marR="889000" indent="-16510">
              <a:lnSpc>
                <a:spcPct val="100000"/>
              </a:lnSpc>
              <a:spcBef>
                <a:spcPts val="60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December,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January,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February,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twice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June,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once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July, September.</a:t>
            </a:r>
            <a:endParaRPr sz="2500">
              <a:latin typeface="Calibri"/>
              <a:cs typeface="Calibri"/>
            </a:endParaRPr>
          </a:p>
          <a:p>
            <a:pPr marL="28575" marR="167005" indent="-16510">
              <a:lnSpc>
                <a:spcPct val="100000"/>
              </a:lnSpc>
              <a:spcBef>
                <a:spcPts val="60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Register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individually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tests,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anytime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want,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times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want.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784" y="434636"/>
            <a:ext cx="809879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written</a:t>
            </a:r>
            <a:r>
              <a:rPr dirty="0" spc="-20"/>
              <a:t> </a:t>
            </a:r>
            <a:r>
              <a:rPr dirty="0"/>
              <a:t>exam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optional</a:t>
            </a:r>
            <a:r>
              <a:rPr dirty="0" spc="-30"/>
              <a:t> </a:t>
            </a:r>
            <a:r>
              <a:rPr dirty="0" spc="-1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61194"/>
            <a:ext cx="8288020" cy="387794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questions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clearly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marked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follows:</a:t>
            </a:r>
            <a:endParaRPr sz="21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370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Question</a:t>
            </a:r>
            <a:r>
              <a:rPr dirty="0" sz="19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#</a:t>
            </a:r>
            <a:r>
              <a:rPr dirty="0" sz="19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J</a:t>
            </a:r>
            <a:r>
              <a:rPr dirty="0" sz="19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(Optional</a:t>
            </a:r>
            <a:r>
              <a:rPr dirty="0" sz="1900" spc="-3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19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51515"/>
                </a:solidFill>
                <a:latin typeface="Calibri"/>
                <a:cs typeface="Calibri"/>
              </a:rPr>
              <a:t>those</a:t>
            </a:r>
            <a:r>
              <a:rPr dirty="0" sz="19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who</a:t>
            </a:r>
            <a:r>
              <a:rPr dirty="0" sz="19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submitted</a:t>
            </a:r>
            <a:r>
              <a:rPr dirty="0" sz="19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optional</a:t>
            </a:r>
            <a:r>
              <a:rPr dirty="0" sz="19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exercise</a:t>
            </a:r>
            <a:r>
              <a:rPr dirty="0" sz="19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 i="1">
                <a:solidFill>
                  <a:srgbClr val="151515"/>
                </a:solidFill>
                <a:latin typeface="Calibri"/>
                <a:cs typeface="Calibri"/>
              </a:rPr>
              <a:t>1)</a:t>
            </a:r>
            <a:endParaRPr sz="19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430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Question</a:t>
            </a:r>
            <a:r>
              <a:rPr dirty="0" sz="1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#</a:t>
            </a:r>
            <a:r>
              <a:rPr dirty="0" sz="1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N</a:t>
            </a:r>
            <a:r>
              <a:rPr dirty="0" sz="1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(Required</a:t>
            </a:r>
            <a:r>
              <a:rPr dirty="0" sz="1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1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AI</a:t>
            </a:r>
            <a:r>
              <a:rPr dirty="0" sz="19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students,</a:t>
            </a:r>
            <a:r>
              <a:rPr dirty="0" sz="19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optional</a:t>
            </a:r>
            <a:r>
              <a:rPr dirty="0" sz="19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1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51515"/>
                </a:solidFill>
                <a:latin typeface="Calibri"/>
                <a:cs typeface="Calibri"/>
              </a:rPr>
              <a:t>others)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900">
              <a:latin typeface="Calibri"/>
              <a:cs typeface="Calibri"/>
            </a:endParaRPr>
          </a:p>
          <a:p>
            <a:pPr marL="22225" marR="933450" indent="-10160">
              <a:lnSpc>
                <a:spcPts val="2500"/>
              </a:lnSpc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wish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answer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anyway,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please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state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things: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"I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submitted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optional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exercise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#n,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answer: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XXXX"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100">
              <a:latin typeface="Calibri"/>
              <a:cs typeface="Calibri"/>
            </a:endParaRPr>
          </a:p>
          <a:p>
            <a:pPr marL="22225" marR="5080" indent="-10160">
              <a:lnSpc>
                <a:spcPct val="99400"/>
              </a:lnSpc>
              <a:spcBef>
                <a:spcPts val="5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case,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question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evaluated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twice,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grade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increase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correspondingly.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instance,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optional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question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worth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points,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then providing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66%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correct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answer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correspond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points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optional exercise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plus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66%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points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answer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=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5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points.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40350" y="5774274"/>
            <a:ext cx="4619625" cy="1553845"/>
            <a:chOff x="5340350" y="5774274"/>
            <a:chExt cx="4619625" cy="15538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7098" y="6628229"/>
              <a:ext cx="2077993" cy="5499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40350" y="5774274"/>
              <a:ext cx="4619625" cy="1553845"/>
            </a:xfrm>
            <a:custGeom>
              <a:avLst/>
              <a:gdLst/>
              <a:ahLst/>
              <a:cxnLst/>
              <a:rect l="l" t="t" r="r" b="b"/>
              <a:pathLst>
                <a:path w="4619625" h="1553845">
                  <a:moveTo>
                    <a:pt x="4619513" y="0"/>
                  </a:moveTo>
                  <a:lnTo>
                    <a:pt x="0" y="0"/>
                  </a:lnTo>
                  <a:lnTo>
                    <a:pt x="0" y="1553625"/>
                  </a:lnTo>
                  <a:lnTo>
                    <a:pt x="4619513" y="1553625"/>
                  </a:lnTo>
                  <a:lnTo>
                    <a:pt x="46195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Calendar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10"/>
              <a:t>dates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63684" y="1215083"/>
            <a:ext cx="3355340" cy="574294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69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During</a:t>
            </a:r>
            <a:r>
              <a:rPr dirty="0" sz="2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course</a:t>
            </a:r>
            <a:endParaRPr sz="29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635"/>
              </a:spcBef>
            </a:pP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21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deadline</a:t>
            </a:r>
            <a:endParaRPr sz="2100">
              <a:latin typeface="Calibri"/>
              <a:cs typeface="Calibri"/>
            </a:endParaRPr>
          </a:p>
          <a:p>
            <a:pPr marL="640715" indent="-2959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64071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Virtuale,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April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12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th</a:t>
            </a:r>
            <a:r>
              <a:rPr dirty="0" baseline="23809" sz="2100" spc="1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2026</a:t>
            </a:r>
            <a:endParaRPr sz="21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</a:pP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2100" spc="-6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B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deadline</a:t>
            </a:r>
            <a:endParaRPr sz="2100">
              <a:latin typeface="Calibri"/>
              <a:cs typeface="Calibri"/>
            </a:endParaRPr>
          </a:p>
          <a:p>
            <a:pPr marL="640715" indent="-2959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64071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Virtuale,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10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th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2026</a:t>
            </a:r>
            <a:endParaRPr sz="21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</a:pP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C+D</a:t>
            </a:r>
            <a:r>
              <a:rPr dirty="0" sz="2100" spc="-9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deadline</a:t>
            </a:r>
            <a:endParaRPr sz="2100">
              <a:latin typeface="Calibri"/>
              <a:cs typeface="Calibri"/>
            </a:endParaRPr>
          </a:p>
          <a:p>
            <a:pPr marL="640715" indent="-2959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64071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Virtuale,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31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st</a:t>
            </a:r>
            <a:r>
              <a:rPr dirty="0" baseline="23809" sz="2100" spc="1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2026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Clr>
                <a:srgbClr val="151515"/>
              </a:buClr>
              <a:buFont typeface="Arial MT"/>
              <a:buChar char="•"/>
            </a:pPr>
            <a:endParaRPr sz="2100">
              <a:latin typeface="Calibri"/>
              <a:cs typeface="Calibri"/>
            </a:endParaRPr>
          </a:p>
          <a:p>
            <a:pPr algn="just" marL="50800">
              <a:lnSpc>
                <a:spcPct val="100000"/>
              </a:lnSpc>
            </a:pP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exam</a:t>
            </a:r>
            <a:endParaRPr sz="2100">
              <a:latin typeface="Calibri"/>
              <a:cs typeface="Calibri"/>
            </a:endParaRPr>
          </a:p>
          <a:p>
            <a:pPr algn="just" marL="640715" marR="43180" indent="-2959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64071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29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th</a:t>
            </a:r>
            <a:r>
              <a:rPr dirty="0" baseline="23809" sz="2100" spc="1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2026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(11:00,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lab.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Ercolani)</a:t>
            </a:r>
            <a:endParaRPr sz="2100">
              <a:latin typeface="Calibri"/>
              <a:cs typeface="Calibri"/>
            </a:endParaRPr>
          </a:p>
          <a:p>
            <a:pPr algn="just" marL="50800">
              <a:lnSpc>
                <a:spcPct val="100000"/>
              </a:lnSpc>
              <a:spcBef>
                <a:spcPts val="480"/>
              </a:spcBef>
            </a:pP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Presentation</a:t>
            </a:r>
            <a:r>
              <a:rPr dirty="0" sz="2100" spc="-4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endParaRPr sz="2100">
              <a:latin typeface="Calibri"/>
              <a:cs typeface="Calibri"/>
            </a:endParaRPr>
          </a:p>
          <a:p>
            <a:pPr algn="just" marL="640715" marR="130175" indent="-295910">
              <a:lnSpc>
                <a:spcPts val="2500"/>
              </a:lnSpc>
              <a:spcBef>
                <a:spcPts val="580"/>
              </a:spcBef>
              <a:buFont typeface="Arial MT"/>
              <a:buChar char="•"/>
              <a:tabLst>
                <a:tab pos="64071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rd</a:t>
            </a:r>
            <a:r>
              <a:rPr dirty="0" baseline="23809" sz="2100" spc="127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June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2025 (afternoon,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my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office,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Via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Ranzani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14)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2104" y="1147737"/>
            <a:ext cx="3986529" cy="6026785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500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After</a:t>
            </a:r>
            <a:r>
              <a:rPr dirty="0" sz="2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course</a:t>
            </a:r>
            <a:endParaRPr sz="2900">
              <a:latin typeface="Calibri"/>
              <a:cs typeface="Calibri"/>
            </a:endParaRPr>
          </a:p>
          <a:p>
            <a:pPr marL="443230" indent="-354330">
              <a:lnSpc>
                <a:spcPct val="100000"/>
              </a:lnSpc>
              <a:spcBef>
                <a:spcPts val="1015"/>
              </a:spcBef>
              <a:buClr>
                <a:srgbClr val="DDDDDD"/>
              </a:buClr>
              <a:buSzPct val="47619"/>
              <a:buFont typeface="Arial MT"/>
              <a:buChar char="•"/>
              <a:tabLst>
                <a:tab pos="443230" algn="l"/>
              </a:tabLst>
            </a:pP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exam</a:t>
            </a:r>
            <a:endParaRPr sz="2100">
              <a:latin typeface="Calibri"/>
              <a:cs typeface="Calibri"/>
            </a:endParaRPr>
          </a:p>
          <a:p>
            <a:pPr marL="441959">
              <a:lnSpc>
                <a:spcPts val="2510"/>
              </a:lnSpc>
              <a:spcBef>
                <a:spcPts val="70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fixed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dates,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presence:</a:t>
            </a:r>
            <a:endParaRPr sz="2100">
              <a:latin typeface="Calibri"/>
              <a:cs typeface="Calibri"/>
            </a:endParaRPr>
          </a:p>
          <a:p>
            <a:pPr lvl="1" marL="737870" indent="-295910">
              <a:lnSpc>
                <a:spcPts val="2495"/>
              </a:lnSpc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24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th</a:t>
            </a:r>
            <a:r>
              <a:rPr dirty="0" baseline="23809" sz="2100" spc="97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June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2026</a:t>
            </a:r>
            <a:endParaRPr sz="2100">
              <a:latin typeface="Calibri"/>
              <a:cs typeface="Calibri"/>
            </a:endParaRPr>
          </a:p>
          <a:p>
            <a:pPr lvl="1" marL="737870" indent="-295910">
              <a:lnSpc>
                <a:spcPts val="2510"/>
              </a:lnSpc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10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th</a:t>
            </a:r>
            <a:r>
              <a:rPr dirty="0" baseline="23809" sz="2100" spc="104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July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2026</a:t>
            </a:r>
            <a:endParaRPr sz="2100">
              <a:latin typeface="Calibri"/>
              <a:cs typeface="Calibri"/>
            </a:endParaRPr>
          </a:p>
          <a:p>
            <a:pPr lvl="1" marL="737870" indent="-295910">
              <a:lnSpc>
                <a:spcPts val="2510"/>
              </a:lnSpc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10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th</a:t>
            </a:r>
            <a:r>
              <a:rPr dirty="0" baseline="23809" sz="2100" spc="104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September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2026</a:t>
            </a:r>
            <a:endParaRPr sz="2100">
              <a:latin typeface="Calibri"/>
              <a:cs typeface="Calibri"/>
            </a:endParaRPr>
          </a:p>
          <a:p>
            <a:pPr lvl="1" marL="737870" indent="-295910">
              <a:lnSpc>
                <a:spcPts val="2495"/>
              </a:lnSpc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date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TBD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January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2027</a:t>
            </a:r>
            <a:endParaRPr sz="2100">
              <a:latin typeface="Calibri"/>
              <a:cs typeface="Calibri"/>
            </a:endParaRPr>
          </a:p>
          <a:p>
            <a:pPr lvl="1" marL="737870" indent="-295910">
              <a:lnSpc>
                <a:spcPts val="2510"/>
              </a:lnSpc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date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TBD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February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2027</a:t>
            </a:r>
            <a:endParaRPr sz="2100">
              <a:latin typeface="Calibri"/>
              <a:cs typeface="Calibri"/>
            </a:endParaRPr>
          </a:p>
          <a:p>
            <a:pPr marL="443230" indent="-354330">
              <a:lnSpc>
                <a:spcPct val="100000"/>
              </a:lnSpc>
              <a:spcBef>
                <a:spcPts val="885"/>
              </a:spcBef>
              <a:buClr>
                <a:srgbClr val="DDDDDD"/>
              </a:buClr>
              <a:buSzPct val="47619"/>
              <a:buFont typeface="Arial MT"/>
              <a:buChar char="•"/>
              <a:tabLst>
                <a:tab pos="443230" algn="l"/>
              </a:tabLst>
            </a:pP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Presentation</a:t>
            </a:r>
            <a:r>
              <a:rPr dirty="0" sz="2100" spc="-4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project:</a:t>
            </a:r>
            <a:endParaRPr sz="2100">
              <a:latin typeface="Calibri"/>
              <a:cs typeface="Calibri"/>
            </a:endParaRPr>
          </a:p>
          <a:p>
            <a:pPr lvl="1" marL="737870" indent="-295910">
              <a:lnSpc>
                <a:spcPct val="100000"/>
              </a:lnSpc>
              <a:spcBef>
                <a:spcPts val="675"/>
              </a:spcBef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either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online</a:t>
            </a:r>
            <a:endParaRPr sz="2100">
              <a:latin typeface="Calibri"/>
              <a:cs typeface="Calibri"/>
            </a:endParaRPr>
          </a:p>
          <a:p>
            <a:pPr lvl="1" marL="737870" marR="6858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appointment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starting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from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8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th</a:t>
            </a:r>
            <a:r>
              <a:rPr dirty="0" baseline="23809" sz="2100" spc="97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June,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2026.</a:t>
            </a:r>
            <a:endParaRPr sz="2100">
              <a:latin typeface="Calibri"/>
              <a:cs typeface="Calibri"/>
            </a:endParaRPr>
          </a:p>
          <a:p>
            <a:pPr lvl="1" marL="737870" marR="1280795" indent="-295910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Last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slot: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31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st</a:t>
            </a:r>
            <a:r>
              <a:rPr dirty="0" baseline="23809" sz="2100" spc="142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January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2027</a:t>
            </a:r>
            <a:endParaRPr sz="2100">
              <a:latin typeface="Calibri"/>
              <a:cs typeface="Calibri"/>
            </a:endParaRPr>
          </a:p>
          <a:p>
            <a:pPr lvl="1" marL="737870" marR="147955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•"/>
              <a:tabLst>
                <a:tab pos="7378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Reserve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slot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mail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before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31</a:t>
            </a:r>
            <a:r>
              <a:rPr dirty="0" baseline="23809" sz="2100">
                <a:solidFill>
                  <a:srgbClr val="151515"/>
                </a:solidFill>
                <a:latin typeface="Calibri"/>
                <a:cs typeface="Calibri"/>
              </a:rPr>
              <a:t>st</a:t>
            </a:r>
            <a:r>
              <a:rPr dirty="0" baseline="23809" sz="2100" spc="1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December,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2026.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34327" y="178604"/>
            <a:ext cx="4485005" cy="1098550"/>
          </a:xfrm>
          <a:prstGeom prst="rect"/>
        </p:spPr>
        <p:txBody>
          <a:bodyPr wrap="square" lIns="0" tIns="74930" rIns="0" bIns="0" rtlCol="0" vert="horz">
            <a:spAutoFit/>
          </a:bodyPr>
          <a:lstStyle/>
          <a:p>
            <a:pPr marL="295910" marR="5080" indent="-283845">
              <a:lnSpc>
                <a:spcPts val="4010"/>
              </a:lnSpc>
              <a:spcBef>
                <a:spcPts val="590"/>
              </a:spcBef>
            </a:pPr>
            <a:r>
              <a:rPr dirty="0" b="0">
                <a:latin typeface="Calibri"/>
                <a:cs typeface="Calibri"/>
              </a:rPr>
              <a:t>Bad</a:t>
            </a:r>
            <a:r>
              <a:rPr dirty="0" spc="-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and</a:t>
            </a:r>
            <a:r>
              <a:rPr dirty="0" spc="-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good</a:t>
            </a:r>
            <a:r>
              <a:rPr dirty="0" spc="-10" b="0">
                <a:latin typeface="Calibri"/>
                <a:cs typeface="Calibri"/>
              </a:rPr>
              <a:t> answers</a:t>
            </a:r>
            <a:r>
              <a:rPr dirty="0" spc="-10"/>
              <a:t>: </a:t>
            </a:r>
            <a:r>
              <a:rPr dirty="0"/>
              <a:t>“</a:t>
            </a:r>
            <a:r>
              <a:rPr dirty="0" i="1">
                <a:latin typeface="Calibri"/>
                <a:cs typeface="Calibri"/>
              </a:rPr>
              <a:t>how much</a:t>
            </a:r>
            <a:r>
              <a:rPr dirty="0" spc="-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is</a:t>
            </a:r>
            <a:r>
              <a:rPr dirty="0" spc="-15" i="1">
                <a:latin typeface="Calibri"/>
                <a:cs typeface="Calibri"/>
              </a:rPr>
              <a:t> </a:t>
            </a:r>
            <a:r>
              <a:rPr dirty="0" spc="-10" i="1">
                <a:latin typeface="Calibri"/>
                <a:cs typeface="Calibri"/>
              </a:rPr>
              <a:t>2+3?”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0265" y="2116831"/>
            <a:ext cx="1757045" cy="412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900" spc="-50" i="1">
                <a:solidFill>
                  <a:srgbClr val="151515"/>
                </a:solidFill>
                <a:latin typeface="Calibri"/>
                <a:cs typeface="Calibri"/>
              </a:rPr>
              <a:t>5</a:t>
            </a:r>
            <a:endParaRPr sz="26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8304" y="2313334"/>
            <a:ext cx="3893185" cy="419862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24130" marR="5080" indent="-12065">
              <a:lnSpc>
                <a:spcPct val="98100"/>
              </a:lnSpc>
              <a:spcBef>
                <a:spcPts val="140"/>
              </a:spcBef>
            </a:pP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Addition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(usually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signified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plus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symbol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“+”)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four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basic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operations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arithmetic,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three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being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subtraction,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multiplication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division.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addition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whole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numbers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total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amount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sum</a:t>
            </a:r>
            <a:r>
              <a:rPr dirty="0" sz="17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those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values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combined.</a:t>
            </a:r>
            <a:endParaRPr sz="1700">
              <a:latin typeface="Calibri"/>
              <a:cs typeface="Calibri"/>
            </a:endParaRPr>
          </a:p>
          <a:p>
            <a:pPr marL="24130" marR="118110" indent="-12065">
              <a:lnSpc>
                <a:spcPct val="98000"/>
              </a:lnSpc>
              <a:spcBef>
                <a:spcPts val="400"/>
              </a:spcBef>
            </a:pP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Besides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counting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items,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addition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be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defined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executed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without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referring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to concrete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objects,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abstractions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called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numbers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instead,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such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integers,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real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numbers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complex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numbers.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Addition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belongs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arithmetic,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branch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mathematics.</a:t>
            </a:r>
            <a:endParaRPr sz="1700">
              <a:latin typeface="Calibri"/>
              <a:cs typeface="Calibri"/>
            </a:endParaRPr>
          </a:p>
          <a:p>
            <a:pPr marL="24130" marR="335915" indent="-12065">
              <a:lnSpc>
                <a:spcPct val="98200"/>
              </a:lnSpc>
              <a:spcBef>
                <a:spcPts val="395"/>
              </a:spcBef>
            </a:pP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answers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therefore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is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higher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2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3,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lies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somewhere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0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1000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1520" y="1521037"/>
            <a:ext cx="4178935" cy="414655"/>
          </a:xfrm>
          <a:prstGeom prst="rect">
            <a:avLst/>
          </a:prstGeom>
          <a:solidFill>
            <a:srgbClr val="DCDCE8"/>
          </a:solidFill>
        </p:spPr>
        <p:txBody>
          <a:bodyPr wrap="square" lIns="0" tIns="476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1400">
                <a:solidFill>
                  <a:srgbClr val="151515"/>
                </a:solidFill>
                <a:latin typeface="Calibri"/>
                <a:cs typeface="Calibri"/>
              </a:rPr>
              <a:t>Expected</a:t>
            </a:r>
            <a:r>
              <a:rPr dirty="0" sz="1400" spc="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51515"/>
                </a:solidFill>
                <a:latin typeface="Calibri"/>
                <a:cs typeface="Calibri"/>
              </a:rPr>
              <a:t>answer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6887" y="1521037"/>
            <a:ext cx="4178935" cy="414655"/>
          </a:xfrm>
          <a:prstGeom prst="rect">
            <a:avLst/>
          </a:prstGeom>
          <a:solidFill>
            <a:srgbClr val="DCDCE8"/>
          </a:solidFill>
        </p:spPr>
        <p:txBody>
          <a:bodyPr wrap="square" lIns="0" tIns="476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1400">
                <a:solidFill>
                  <a:srgbClr val="151515"/>
                </a:solidFill>
                <a:latin typeface="Calibri"/>
                <a:cs typeface="Calibri"/>
              </a:rPr>
              <a:t>Rejected</a:t>
            </a:r>
            <a:r>
              <a:rPr dirty="0" sz="1400" spc="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51515"/>
                </a:solidFill>
                <a:latin typeface="Calibri"/>
                <a:cs typeface="Calibri"/>
              </a:rPr>
              <a:t>answer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3816" y="152234"/>
            <a:ext cx="8285480" cy="126936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290"/>
              </a:lnSpc>
              <a:spcBef>
                <a:spcPts val="100"/>
              </a:spcBef>
            </a:pPr>
            <a:r>
              <a:rPr dirty="0" sz="2900" b="0">
                <a:latin typeface="Calibri"/>
                <a:cs typeface="Calibri"/>
              </a:rPr>
              <a:t>Bad</a:t>
            </a:r>
            <a:r>
              <a:rPr dirty="0" sz="2900" spc="-30" b="0">
                <a:latin typeface="Calibri"/>
                <a:cs typeface="Calibri"/>
              </a:rPr>
              <a:t> </a:t>
            </a:r>
            <a:r>
              <a:rPr dirty="0" sz="2900" b="0">
                <a:latin typeface="Calibri"/>
                <a:cs typeface="Calibri"/>
              </a:rPr>
              <a:t>and</a:t>
            </a:r>
            <a:r>
              <a:rPr dirty="0" sz="2900" spc="-30" b="0">
                <a:latin typeface="Calibri"/>
                <a:cs typeface="Calibri"/>
              </a:rPr>
              <a:t> </a:t>
            </a:r>
            <a:r>
              <a:rPr dirty="0" sz="2900" b="0">
                <a:latin typeface="Calibri"/>
                <a:cs typeface="Calibri"/>
              </a:rPr>
              <a:t>good</a:t>
            </a:r>
            <a:r>
              <a:rPr dirty="0" sz="2900" spc="-30" b="0">
                <a:latin typeface="Calibri"/>
                <a:cs typeface="Calibri"/>
              </a:rPr>
              <a:t> </a:t>
            </a:r>
            <a:r>
              <a:rPr dirty="0" sz="2900" spc="-10" b="0">
                <a:latin typeface="Calibri"/>
                <a:cs typeface="Calibri"/>
              </a:rPr>
              <a:t>answers</a:t>
            </a:r>
            <a:r>
              <a:rPr dirty="0" sz="2900" spc="-10"/>
              <a:t>:</a:t>
            </a:r>
            <a:endParaRPr sz="2900">
              <a:latin typeface="Calibri"/>
              <a:cs typeface="Calibri"/>
            </a:endParaRPr>
          </a:p>
          <a:p>
            <a:pPr algn="ctr" marL="12700" marR="5080">
              <a:lnSpc>
                <a:spcPts val="3220"/>
              </a:lnSpc>
              <a:spcBef>
                <a:spcPts val="130"/>
              </a:spcBef>
            </a:pPr>
            <a:r>
              <a:rPr dirty="0" sz="2900"/>
              <a:t>“</a:t>
            </a:r>
            <a:r>
              <a:rPr dirty="0" sz="2900" i="1">
                <a:latin typeface="Calibri"/>
                <a:cs typeface="Calibri"/>
              </a:rPr>
              <a:t>What</a:t>
            </a:r>
            <a:r>
              <a:rPr dirty="0" sz="2900" spc="-35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is</a:t>
            </a:r>
            <a:r>
              <a:rPr dirty="0" sz="2900" spc="-4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Maslow's</a:t>
            </a:r>
            <a:r>
              <a:rPr dirty="0" sz="2900" spc="-45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hierarchy</a:t>
            </a:r>
            <a:r>
              <a:rPr dirty="0" sz="2900" spc="-4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of</a:t>
            </a:r>
            <a:r>
              <a:rPr dirty="0" sz="2900" spc="-4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needs</a:t>
            </a:r>
            <a:r>
              <a:rPr dirty="0" sz="2900" spc="-4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and</a:t>
            </a:r>
            <a:r>
              <a:rPr dirty="0" sz="2900" spc="-4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how</a:t>
            </a:r>
            <a:r>
              <a:rPr dirty="0" sz="2900" spc="-4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does</a:t>
            </a:r>
            <a:r>
              <a:rPr dirty="0" sz="2900" spc="-40" i="1">
                <a:latin typeface="Calibri"/>
                <a:cs typeface="Calibri"/>
              </a:rPr>
              <a:t> </a:t>
            </a:r>
            <a:r>
              <a:rPr dirty="0" sz="2900" spc="-25" i="1">
                <a:latin typeface="Calibri"/>
                <a:cs typeface="Calibri"/>
              </a:rPr>
              <a:t>it </a:t>
            </a:r>
            <a:r>
              <a:rPr dirty="0" sz="2900" i="1">
                <a:latin typeface="Calibri"/>
                <a:cs typeface="Calibri"/>
              </a:rPr>
              <a:t>affect</a:t>
            </a:r>
            <a:r>
              <a:rPr dirty="0" sz="2900" spc="-2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the</a:t>
            </a:r>
            <a:r>
              <a:rPr dirty="0" sz="2900" spc="-2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design</a:t>
            </a:r>
            <a:r>
              <a:rPr dirty="0" sz="2900" spc="-2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of</a:t>
            </a:r>
            <a:r>
              <a:rPr dirty="0" sz="2900" spc="-20" i="1">
                <a:latin typeface="Calibri"/>
                <a:cs typeface="Calibri"/>
              </a:rPr>
              <a:t> </a:t>
            </a:r>
            <a:r>
              <a:rPr dirty="0" sz="2900" i="1">
                <a:latin typeface="Calibri"/>
                <a:cs typeface="Calibri"/>
              </a:rPr>
              <a:t>a</a:t>
            </a:r>
            <a:r>
              <a:rPr dirty="0" sz="2900" spc="-25" i="1">
                <a:latin typeface="Calibri"/>
                <a:cs typeface="Calibri"/>
              </a:rPr>
              <a:t> </a:t>
            </a:r>
            <a:r>
              <a:rPr dirty="0" sz="2900" spc="-10" i="1">
                <a:latin typeface="Calibri"/>
                <a:cs typeface="Calibri"/>
              </a:rPr>
              <a:t>product??”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092" y="2084734"/>
            <a:ext cx="4122420" cy="3183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2225" marR="210820" indent="-10160">
              <a:lnSpc>
                <a:spcPct val="98200"/>
              </a:lnSpc>
              <a:spcBef>
                <a:spcPts val="135"/>
              </a:spcBef>
            </a:pP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Maslow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was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American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psychologist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that studied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sane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humans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placed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layered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structure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(a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pyramid).</a:t>
            </a:r>
            <a:endParaRPr sz="1700">
              <a:latin typeface="Calibri"/>
              <a:cs typeface="Calibri"/>
            </a:endParaRPr>
          </a:p>
          <a:p>
            <a:pPr marL="22225" marR="5080" indent="-10160">
              <a:lnSpc>
                <a:spcPct val="98000"/>
              </a:lnSpc>
              <a:spcBef>
                <a:spcPts val="400"/>
              </a:spcBef>
            </a:pP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asserted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humans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satisfy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lower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layers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consider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higher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ones.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Thus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for instance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physical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well-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being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comes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self-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esteem</a:t>
            </a:r>
            <a:r>
              <a:rPr dirty="0" sz="17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creativity.</a:t>
            </a:r>
            <a:endParaRPr sz="1700">
              <a:latin typeface="Calibri"/>
              <a:cs typeface="Calibri"/>
            </a:endParaRPr>
          </a:p>
          <a:p>
            <a:pPr marL="22225" marR="20320" indent="-10160">
              <a:lnSpc>
                <a:spcPct val="98200"/>
              </a:lnSpc>
              <a:spcBef>
                <a:spcPts val="400"/>
              </a:spcBef>
            </a:pP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teams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explicitly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consider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at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level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pyramid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artefact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placed,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organize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accordingly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tone,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message,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aesthetics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perceivable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aspects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design.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8304" y="2084734"/>
            <a:ext cx="4006215" cy="414972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24130" marR="5080" indent="-12065">
              <a:lnSpc>
                <a:spcPct val="98100"/>
              </a:lnSpc>
              <a:spcBef>
                <a:spcPts val="140"/>
              </a:spcBef>
            </a:pP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psychological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study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healthy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minds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rather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sick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ones.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basis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everything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there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physical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survival,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then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economic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social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security,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feeling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belonging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group, the</a:t>
            </a:r>
            <a:r>
              <a:rPr dirty="0" sz="17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esteem</a:t>
            </a:r>
            <a:r>
              <a:rPr dirty="0" sz="17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group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others,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5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finally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one's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own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actualization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endParaRPr sz="1700">
              <a:latin typeface="Calibri"/>
              <a:cs typeface="Calibri"/>
            </a:endParaRPr>
          </a:p>
          <a:p>
            <a:pPr marL="24130" marR="32384" indent="-12065">
              <a:lnSpc>
                <a:spcPct val="98200"/>
              </a:lnSpc>
              <a:spcBef>
                <a:spcPts val="395"/>
              </a:spcBef>
            </a:pP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Every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interesting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positive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object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1700" spc="5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choose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addresses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least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Maslow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needs.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Therefore,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our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respond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fundamental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survival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and security?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Protect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17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threats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or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issues?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17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7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an individual,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larger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social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unit,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such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17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family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group?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Promote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sense</a:t>
            </a:r>
            <a:r>
              <a:rPr dirty="0" sz="17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belonging?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Promote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self-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esteem</a:t>
            </a:r>
            <a:r>
              <a:rPr dirty="0" sz="17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1700" spc="-3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7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0" i="1">
                <a:solidFill>
                  <a:srgbClr val="151515"/>
                </a:solidFill>
                <a:latin typeface="Calibri"/>
                <a:cs typeface="Calibri"/>
              </a:rPr>
              <a:t>sense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25" i="1">
                <a:solidFill>
                  <a:srgbClr val="151515"/>
                </a:solidFill>
                <a:latin typeface="Calibri"/>
                <a:cs typeface="Calibri"/>
              </a:rPr>
              <a:t>of personal</a:t>
            </a:r>
            <a:r>
              <a:rPr dirty="0" sz="17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151515"/>
                </a:solidFill>
                <a:latin typeface="Calibri"/>
                <a:cs typeface="Calibri"/>
              </a:rPr>
              <a:t>accomplishment?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1520" y="1521037"/>
            <a:ext cx="4178935" cy="414655"/>
          </a:xfrm>
          <a:prstGeom prst="rect">
            <a:avLst/>
          </a:prstGeom>
          <a:solidFill>
            <a:srgbClr val="DCDCE8"/>
          </a:solidFill>
        </p:spPr>
        <p:txBody>
          <a:bodyPr wrap="square" lIns="0" tIns="476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1400">
                <a:solidFill>
                  <a:srgbClr val="151515"/>
                </a:solidFill>
                <a:latin typeface="Calibri"/>
                <a:cs typeface="Calibri"/>
              </a:rPr>
              <a:t>Expected</a:t>
            </a:r>
            <a:r>
              <a:rPr dirty="0" sz="1400" spc="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51515"/>
                </a:solidFill>
                <a:latin typeface="Calibri"/>
                <a:cs typeface="Calibri"/>
              </a:rPr>
              <a:t>answer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6887" y="1521037"/>
            <a:ext cx="4178935" cy="414655"/>
          </a:xfrm>
          <a:prstGeom prst="rect">
            <a:avLst/>
          </a:prstGeom>
          <a:solidFill>
            <a:srgbClr val="DCDCE8"/>
          </a:solidFill>
        </p:spPr>
        <p:txBody>
          <a:bodyPr wrap="square" lIns="0" tIns="476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1400">
                <a:solidFill>
                  <a:srgbClr val="151515"/>
                </a:solidFill>
                <a:latin typeface="Calibri"/>
                <a:cs typeface="Calibri"/>
              </a:rPr>
              <a:t>Rejected</a:t>
            </a:r>
            <a:r>
              <a:rPr dirty="0" sz="1400" spc="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51515"/>
                </a:solidFill>
                <a:latin typeface="Calibri"/>
                <a:cs typeface="Calibri"/>
              </a:rPr>
              <a:t>answer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0006" y="4572755"/>
            <a:ext cx="4116704" cy="2599690"/>
            <a:chOff x="1610006" y="4572755"/>
            <a:chExt cx="4116704" cy="2599690"/>
          </a:xfrm>
        </p:grpSpPr>
        <p:sp>
          <p:nvSpPr>
            <p:cNvPr id="8" name="object 8"/>
            <p:cNvSpPr/>
            <p:nvPr/>
          </p:nvSpPr>
          <p:spPr>
            <a:xfrm>
              <a:off x="1614935" y="4577684"/>
              <a:ext cx="4106545" cy="2589530"/>
            </a:xfrm>
            <a:custGeom>
              <a:avLst/>
              <a:gdLst/>
              <a:ahLst/>
              <a:cxnLst/>
              <a:rect l="l" t="t" r="r" b="b"/>
              <a:pathLst>
                <a:path w="4106545" h="2589529">
                  <a:moveTo>
                    <a:pt x="3657367" y="1733550"/>
                  </a:moveTo>
                  <a:lnTo>
                    <a:pt x="142554" y="1733550"/>
                  </a:lnTo>
                  <a:lnTo>
                    <a:pt x="97496" y="1740821"/>
                  </a:lnTo>
                  <a:lnTo>
                    <a:pt x="58363" y="1761067"/>
                  </a:lnTo>
                  <a:lnTo>
                    <a:pt x="27504" y="1791940"/>
                  </a:lnTo>
                  <a:lnTo>
                    <a:pt x="7267" y="1831091"/>
                  </a:lnTo>
                  <a:lnTo>
                    <a:pt x="0" y="1876170"/>
                  </a:lnTo>
                  <a:lnTo>
                    <a:pt x="0" y="2446636"/>
                  </a:lnTo>
                  <a:lnTo>
                    <a:pt x="7267" y="2491715"/>
                  </a:lnTo>
                  <a:lnTo>
                    <a:pt x="27504" y="2530865"/>
                  </a:lnTo>
                  <a:lnTo>
                    <a:pt x="58363" y="2561738"/>
                  </a:lnTo>
                  <a:lnTo>
                    <a:pt x="97496" y="2581985"/>
                  </a:lnTo>
                  <a:lnTo>
                    <a:pt x="142554" y="2589256"/>
                  </a:lnTo>
                  <a:lnTo>
                    <a:pt x="3657367" y="2589256"/>
                  </a:lnTo>
                  <a:lnTo>
                    <a:pt x="3702426" y="2581985"/>
                  </a:lnTo>
                  <a:lnTo>
                    <a:pt x="3741558" y="2561738"/>
                  </a:lnTo>
                  <a:lnTo>
                    <a:pt x="3772417" y="2530865"/>
                  </a:lnTo>
                  <a:lnTo>
                    <a:pt x="3792655" y="2491715"/>
                  </a:lnTo>
                  <a:lnTo>
                    <a:pt x="3799922" y="2446636"/>
                  </a:lnTo>
                  <a:lnTo>
                    <a:pt x="3799922" y="1876170"/>
                  </a:lnTo>
                  <a:lnTo>
                    <a:pt x="3792655" y="1831091"/>
                  </a:lnTo>
                  <a:lnTo>
                    <a:pt x="3772417" y="1791940"/>
                  </a:lnTo>
                  <a:lnTo>
                    <a:pt x="3741558" y="1761067"/>
                  </a:lnTo>
                  <a:lnTo>
                    <a:pt x="3702426" y="1740821"/>
                  </a:lnTo>
                  <a:lnTo>
                    <a:pt x="3657367" y="1733550"/>
                  </a:lnTo>
                  <a:close/>
                </a:path>
                <a:path w="4106545" h="2589529">
                  <a:moveTo>
                    <a:pt x="4106271" y="0"/>
                  </a:moveTo>
                  <a:lnTo>
                    <a:pt x="2216621" y="1733550"/>
                  </a:lnTo>
                  <a:lnTo>
                    <a:pt x="3166601" y="1733550"/>
                  </a:lnTo>
                  <a:lnTo>
                    <a:pt x="410627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14935" y="4577685"/>
              <a:ext cx="4106545" cy="2589530"/>
            </a:xfrm>
            <a:custGeom>
              <a:avLst/>
              <a:gdLst/>
              <a:ahLst/>
              <a:cxnLst/>
              <a:rect l="l" t="t" r="r" b="b"/>
              <a:pathLst>
                <a:path w="4106545" h="2589529">
                  <a:moveTo>
                    <a:pt x="0" y="1876169"/>
                  </a:moveTo>
                  <a:lnTo>
                    <a:pt x="7267" y="1831090"/>
                  </a:lnTo>
                  <a:lnTo>
                    <a:pt x="27504" y="1791940"/>
                  </a:lnTo>
                  <a:lnTo>
                    <a:pt x="58363" y="1761067"/>
                  </a:lnTo>
                  <a:lnTo>
                    <a:pt x="97496" y="1740820"/>
                  </a:lnTo>
                  <a:lnTo>
                    <a:pt x="142555" y="1733549"/>
                  </a:lnTo>
                  <a:lnTo>
                    <a:pt x="2216621" y="1733549"/>
                  </a:lnTo>
                  <a:lnTo>
                    <a:pt x="4106272" y="0"/>
                  </a:lnTo>
                  <a:lnTo>
                    <a:pt x="3166601" y="1733549"/>
                  </a:lnTo>
                  <a:lnTo>
                    <a:pt x="3657367" y="1733549"/>
                  </a:lnTo>
                  <a:lnTo>
                    <a:pt x="3702425" y="1740820"/>
                  </a:lnTo>
                  <a:lnTo>
                    <a:pt x="3741558" y="1761067"/>
                  </a:lnTo>
                  <a:lnTo>
                    <a:pt x="3772417" y="1791940"/>
                  </a:lnTo>
                  <a:lnTo>
                    <a:pt x="3792654" y="1831090"/>
                  </a:lnTo>
                  <a:lnTo>
                    <a:pt x="3799921" y="1876169"/>
                  </a:lnTo>
                  <a:lnTo>
                    <a:pt x="3799921" y="2090095"/>
                  </a:lnTo>
                  <a:lnTo>
                    <a:pt x="3799921" y="2446636"/>
                  </a:lnTo>
                  <a:lnTo>
                    <a:pt x="3792654" y="2491714"/>
                  </a:lnTo>
                  <a:lnTo>
                    <a:pt x="3772417" y="2530865"/>
                  </a:lnTo>
                  <a:lnTo>
                    <a:pt x="3741558" y="2561738"/>
                  </a:lnTo>
                  <a:lnTo>
                    <a:pt x="3702425" y="2581984"/>
                  </a:lnTo>
                  <a:lnTo>
                    <a:pt x="3657367" y="2589255"/>
                  </a:lnTo>
                  <a:lnTo>
                    <a:pt x="3166601" y="2589255"/>
                  </a:lnTo>
                  <a:lnTo>
                    <a:pt x="2216621" y="2589255"/>
                  </a:lnTo>
                  <a:lnTo>
                    <a:pt x="142555" y="2589255"/>
                  </a:lnTo>
                  <a:lnTo>
                    <a:pt x="97496" y="2581984"/>
                  </a:lnTo>
                  <a:lnTo>
                    <a:pt x="58363" y="2561738"/>
                  </a:lnTo>
                  <a:lnTo>
                    <a:pt x="27504" y="2530865"/>
                  </a:lnTo>
                  <a:lnTo>
                    <a:pt x="7267" y="2491714"/>
                  </a:lnTo>
                  <a:lnTo>
                    <a:pt x="0" y="2446636"/>
                  </a:lnTo>
                  <a:lnTo>
                    <a:pt x="0" y="2090095"/>
                  </a:lnTo>
                  <a:lnTo>
                    <a:pt x="0" y="1876169"/>
                  </a:lnTo>
                  <a:close/>
                </a:path>
              </a:pathLst>
            </a:custGeom>
            <a:ln w="9858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67166" y="6335633"/>
            <a:ext cx="3095625" cy="78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8875" marR="5080" indent="-114681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Tahoma"/>
                <a:cs typeface="Tahoma"/>
              </a:rPr>
              <a:t>Copy-pasted</a:t>
            </a:r>
            <a:r>
              <a:rPr dirty="0" sz="2500" spc="4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from</a:t>
            </a:r>
            <a:r>
              <a:rPr dirty="0" sz="2500" spc="50">
                <a:latin typeface="Tahoma"/>
                <a:cs typeface="Tahoma"/>
              </a:rPr>
              <a:t> </a:t>
            </a:r>
            <a:r>
              <a:rPr dirty="0" sz="2500" spc="-25">
                <a:latin typeface="Tahoma"/>
                <a:cs typeface="Tahoma"/>
              </a:rPr>
              <a:t>the </a:t>
            </a:r>
            <a:r>
              <a:rPr dirty="0" sz="2500" spc="-10">
                <a:latin typeface="Tahoma"/>
                <a:cs typeface="Tahoma"/>
              </a:rPr>
              <a:t>slides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85480" cy="5058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" marR="57150" indent="-12065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implement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group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(2-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people).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Individuals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case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emergency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provable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logistical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difficulties.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500">
              <a:latin typeface="Calibri"/>
              <a:cs typeface="Calibri"/>
            </a:endParaRPr>
          </a:p>
          <a:p>
            <a:pPr marL="24130" marR="290830" indent="-12065">
              <a:lnSpc>
                <a:spcPct val="100000"/>
              </a:lnSpc>
              <a:spcBef>
                <a:spcPts val="5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Today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am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presenting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requirements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end-of-course project.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500">
              <a:latin typeface="Calibri"/>
              <a:cs typeface="Calibri"/>
            </a:endParaRPr>
          </a:p>
          <a:p>
            <a:pPr marL="24130" marR="234950" indent="-12065">
              <a:lnSpc>
                <a:spcPct val="100800"/>
              </a:lnSpc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implementation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model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follow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presented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same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day.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500">
              <a:latin typeface="Calibri"/>
              <a:cs typeface="Calibri"/>
            </a:endParaRPr>
          </a:p>
          <a:p>
            <a:pPr marL="24130" marR="5080" indent="-12065">
              <a:lnSpc>
                <a:spcPct val="100000"/>
              </a:lnSpc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programming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required,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expected.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course,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technological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one.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Nonetheless,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show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up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working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prototype,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complain.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Two modes</a:t>
            </a:r>
            <a:r>
              <a:rPr dirty="0" spc="-5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the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During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course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100" b="0">
                <a:latin typeface="Calibri"/>
                <a:cs typeface="Calibri"/>
              </a:rPr>
              <a:t>The</a:t>
            </a:r>
            <a:r>
              <a:rPr dirty="0" sz="2100" spc="-75" b="0">
                <a:latin typeface="Calibri"/>
                <a:cs typeface="Calibri"/>
              </a:rPr>
              <a:t> </a:t>
            </a:r>
            <a:r>
              <a:rPr dirty="0" sz="2100" spc="-10" b="0">
                <a:latin typeface="Calibri"/>
                <a:cs typeface="Calibri"/>
              </a:rPr>
              <a:t>project</a:t>
            </a:r>
            <a:r>
              <a:rPr dirty="0" sz="2100" spc="-7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is</a:t>
            </a:r>
            <a:r>
              <a:rPr dirty="0" sz="2100" spc="-65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split</a:t>
            </a:r>
            <a:r>
              <a:rPr dirty="0" sz="2100" spc="-7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in</a:t>
            </a:r>
            <a:r>
              <a:rPr dirty="0" sz="2100" spc="-8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three</a:t>
            </a:r>
            <a:r>
              <a:rPr dirty="0" sz="2100" spc="-70" b="0">
                <a:latin typeface="Calibri"/>
                <a:cs typeface="Calibri"/>
              </a:rPr>
              <a:t> </a:t>
            </a:r>
            <a:r>
              <a:rPr dirty="0" sz="2100" spc="-10" b="0">
                <a:latin typeface="Calibri"/>
                <a:cs typeface="Calibri"/>
              </a:rPr>
              <a:t>phases</a:t>
            </a:r>
            <a:endParaRPr sz="2100">
              <a:latin typeface="Calibri"/>
              <a:cs typeface="Calibri"/>
            </a:endParaRPr>
          </a:p>
          <a:p>
            <a:pPr marL="566420" indent="-259715">
              <a:lnSpc>
                <a:spcPct val="100000"/>
              </a:lnSpc>
              <a:spcBef>
                <a:spcPts val="185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20" b="0">
                <a:latin typeface="Calibri"/>
                <a:cs typeface="Calibri"/>
              </a:rPr>
              <a:t>Phase</a:t>
            </a:r>
            <a:r>
              <a:rPr dirty="0" sz="1700" spc="-3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I:</a:t>
            </a:r>
            <a:r>
              <a:rPr dirty="0" sz="1700" spc="-30" b="0">
                <a:latin typeface="Calibri"/>
                <a:cs typeface="Calibri"/>
              </a:rPr>
              <a:t> </a:t>
            </a:r>
            <a:r>
              <a:rPr dirty="0" sz="1700" spc="-30" i="1">
                <a:latin typeface="Calibri"/>
                <a:cs typeface="Calibri"/>
              </a:rPr>
              <a:t>Ethnographic</a:t>
            </a:r>
            <a:r>
              <a:rPr dirty="0" sz="1700" spc="-25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assessment</a:t>
            </a:r>
            <a:endParaRPr sz="1700">
              <a:latin typeface="Calibri"/>
              <a:cs typeface="Calibri"/>
            </a:endParaRPr>
          </a:p>
          <a:p>
            <a:pPr marL="566420" indent="-259715">
              <a:lnSpc>
                <a:spcPct val="100000"/>
              </a:lnSpc>
              <a:spcBef>
                <a:spcPts val="165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20" b="0">
                <a:latin typeface="Calibri"/>
                <a:cs typeface="Calibri"/>
              </a:rPr>
              <a:t>Phase</a:t>
            </a:r>
            <a:r>
              <a:rPr dirty="0" sz="1700" spc="-5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II:</a:t>
            </a:r>
            <a:r>
              <a:rPr dirty="0" sz="1700" spc="-45" b="0">
                <a:latin typeface="Calibri"/>
                <a:cs typeface="Calibri"/>
              </a:rPr>
              <a:t> </a:t>
            </a:r>
            <a:r>
              <a:rPr dirty="0" sz="1700" spc="-30" i="1">
                <a:latin typeface="Calibri"/>
                <a:cs typeface="Calibri"/>
              </a:rPr>
              <a:t>Personas</a:t>
            </a:r>
            <a:r>
              <a:rPr dirty="0" sz="1700" spc="-55" i="1">
                <a:latin typeface="Calibri"/>
                <a:cs typeface="Calibri"/>
              </a:rPr>
              <a:t> </a:t>
            </a:r>
            <a:r>
              <a:rPr dirty="0" sz="1700" i="1">
                <a:latin typeface="Calibri"/>
                <a:cs typeface="Calibri"/>
              </a:rPr>
              <a:t>+</a:t>
            </a:r>
            <a:r>
              <a:rPr dirty="0" sz="1700" spc="-45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Use</a:t>
            </a:r>
            <a:r>
              <a:rPr dirty="0" sz="1700" spc="-45" i="1">
                <a:latin typeface="Calibri"/>
                <a:cs typeface="Calibri"/>
              </a:rPr>
              <a:t> </a:t>
            </a:r>
            <a:r>
              <a:rPr dirty="0" sz="1700" spc="-20" i="1">
                <a:latin typeface="Calibri"/>
                <a:cs typeface="Calibri"/>
              </a:rPr>
              <a:t>cases</a:t>
            </a:r>
            <a:endParaRPr sz="1700">
              <a:latin typeface="Calibri"/>
              <a:cs typeface="Calibri"/>
            </a:endParaRPr>
          </a:p>
          <a:p>
            <a:pPr marL="566420" indent="-259715">
              <a:lnSpc>
                <a:spcPct val="100000"/>
              </a:lnSpc>
              <a:spcBef>
                <a:spcPts val="145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20" b="0">
                <a:latin typeface="Calibri"/>
                <a:cs typeface="Calibri"/>
              </a:rPr>
              <a:t>Phase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III: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25" i="1">
                <a:latin typeface="Calibri"/>
                <a:cs typeface="Calibri"/>
              </a:rPr>
              <a:t>Design</a:t>
            </a:r>
            <a:r>
              <a:rPr dirty="0" sz="1700" spc="-60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and</a:t>
            </a:r>
            <a:r>
              <a:rPr dirty="0" sz="1700" spc="-55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evaluation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2100" b="0">
                <a:latin typeface="Calibri"/>
                <a:cs typeface="Calibri"/>
              </a:rPr>
              <a:t>Pros</a:t>
            </a:r>
            <a:r>
              <a:rPr dirty="0" sz="2100" spc="-8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and</a:t>
            </a:r>
            <a:r>
              <a:rPr dirty="0" sz="2100" spc="-90" b="0">
                <a:latin typeface="Calibri"/>
                <a:cs typeface="Calibri"/>
              </a:rPr>
              <a:t> </a:t>
            </a:r>
            <a:r>
              <a:rPr dirty="0" sz="2100" spc="-20" b="0">
                <a:latin typeface="Calibri"/>
                <a:cs typeface="Calibri"/>
              </a:rPr>
              <a:t>cons</a:t>
            </a:r>
            <a:endParaRPr sz="2100">
              <a:latin typeface="Calibri"/>
              <a:cs typeface="Calibri"/>
            </a:endParaRPr>
          </a:p>
          <a:p>
            <a:pPr marL="566420" indent="-259715">
              <a:lnSpc>
                <a:spcPct val="100000"/>
              </a:lnSpc>
              <a:spcBef>
                <a:spcPts val="280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10" b="0">
                <a:latin typeface="Calibri"/>
                <a:cs typeface="Calibri"/>
              </a:rPr>
              <a:t>Pros:</a:t>
            </a:r>
            <a:r>
              <a:rPr dirty="0" sz="1700" spc="-8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you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finish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the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25" b="0">
                <a:latin typeface="Calibri"/>
                <a:cs typeface="Calibri"/>
              </a:rPr>
              <a:t>exam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early</a:t>
            </a:r>
            <a:endParaRPr sz="1700">
              <a:latin typeface="Calibri"/>
              <a:cs typeface="Calibri"/>
            </a:endParaRPr>
          </a:p>
          <a:p>
            <a:pPr marL="566420" marR="611505" indent="-259715">
              <a:lnSpc>
                <a:spcPts val="1989"/>
              </a:lnSpc>
              <a:spcBef>
                <a:spcPts val="280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20" b="0">
                <a:latin typeface="Calibri"/>
                <a:cs typeface="Calibri"/>
              </a:rPr>
              <a:t>Cons: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you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have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to</a:t>
            </a:r>
            <a:r>
              <a:rPr dirty="0" sz="1700" spc="-8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start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working </a:t>
            </a:r>
            <a:r>
              <a:rPr dirty="0" sz="1700" spc="-30" b="0">
                <a:latin typeface="Calibri"/>
                <a:cs typeface="Calibri"/>
              </a:rPr>
              <a:t>immediately</a:t>
            </a:r>
            <a:r>
              <a:rPr dirty="0" sz="1700" spc="-4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and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keep</a:t>
            </a:r>
            <a:r>
              <a:rPr dirty="0" sz="1700" spc="-5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on</a:t>
            </a:r>
            <a:r>
              <a:rPr dirty="0" sz="1700" spc="-5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working.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00" b="0">
                <a:latin typeface="Calibri"/>
                <a:cs typeface="Calibri"/>
              </a:rPr>
              <a:t>ONE</a:t>
            </a:r>
            <a:r>
              <a:rPr dirty="0" sz="2100" spc="-7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exam</a:t>
            </a:r>
            <a:r>
              <a:rPr dirty="0" sz="2100" spc="-7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date</a:t>
            </a:r>
            <a:r>
              <a:rPr dirty="0" sz="2100" spc="-6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in</a:t>
            </a:r>
            <a:r>
              <a:rPr dirty="0" sz="2100" spc="-6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late</a:t>
            </a:r>
            <a:r>
              <a:rPr dirty="0" sz="2100" spc="-60" b="0">
                <a:latin typeface="Calibri"/>
                <a:cs typeface="Calibri"/>
              </a:rPr>
              <a:t> </a:t>
            </a:r>
            <a:r>
              <a:rPr dirty="0" sz="2100" spc="-20" b="0">
                <a:latin typeface="Calibri"/>
                <a:cs typeface="Calibri"/>
              </a:rPr>
              <a:t>May/early</a:t>
            </a:r>
            <a:r>
              <a:rPr dirty="0" sz="2100" spc="-65" b="0">
                <a:latin typeface="Calibri"/>
                <a:cs typeface="Calibri"/>
              </a:rPr>
              <a:t> </a:t>
            </a:r>
            <a:r>
              <a:rPr dirty="0" sz="2100" spc="-20" b="0">
                <a:latin typeface="Calibri"/>
                <a:cs typeface="Calibri"/>
              </a:rPr>
              <a:t>June</a:t>
            </a:r>
            <a:endParaRPr sz="2100">
              <a:latin typeface="Calibri"/>
              <a:cs typeface="Calibri"/>
            </a:endParaRPr>
          </a:p>
          <a:p>
            <a:pPr marL="566420" indent="-259715">
              <a:lnSpc>
                <a:spcPct val="100000"/>
              </a:lnSpc>
              <a:spcBef>
                <a:spcPts val="185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20" b="0">
                <a:latin typeface="Calibri"/>
                <a:cs typeface="Calibri"/>
              </a:rPr>
              <a:t>Project</a:t>
            </a:r>
            <a:r>
              <a:rPr dirty="0" sz="1700" spc="-50" b="0">
                <a:latin typeface="Calibri"/>
                <a:cs typeface="Calibri"/>
              </a:rPr>
              <a:t> </a:t>
            </a:r>
            <a:r>
              <a:rPr dirty="0" sz="1700" spc="-25" b="0">
                <a:latin typeface="Calibri"/>
                <a:cs typeface="Calibri"/>
              </a:rPr>
              <a:t>presentations</a:t>
            </a:r>
            <a:r>
              <a:rPr dirty="0" sz="1700" spc="-5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and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spc="-30" b="0">
                <a:latin typeface="Calibri"/>
                <a:cs typeface="Calibri"/>
              </a:rPr>
              <a:t>written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exams.</a:t>
            </a:r>
            <a:endParaRPr sz="1700">
              <a:latin typeface="Calibri"/>
              <a:cs typeface="Calibri"/>
            </a:endParaRPr>
          </a:p>
          <a:p>
            <a:pPr marL="566420" marR="19050" indent="-259715">
              <a:lnSpc>
                <a:spcPts val="1989"/>
              </a:lnSpc>
              <a:spcBef>
                <a:spcPts val="275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10" b="0">
                <a:latin typeface="Calibri"/>
                <a:cs typeface="Calibri"/>
              </a:rPr>
              <a:t>This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is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the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only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mode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for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students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leaving </a:t>
            </a:r>
            <a:r>
              <a:rPr dirty="0" sz="1700" spc="-30" b="0">
                <a:latin typeface="Calibri"/>
                <a:cs typeface="Calibri"/>
              </a:rPr>
              <a:t>Bologna</a:t>
            </a:r>
            <a:r>
              <a:rPr dirty="0" sz="1700" spc="-5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in</a:t>
            </a:r>
            <a:r>
              <a:rPr dirty="0" sz="1700" spc="-4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June</a:t>
            </a:r>
            <a:endParaRPr sz="1700">
              <a:latin typeface="Calibri"/>
              <a:cs typeface="Calibri"/>
            </a:endParaRPr>
          </a:p>
          <a:p>
            <a:pPr marL="566420" marR="5080" indent="-259715">
              <a:lnSpc>
                <a:spcPts val="1989"/>
              </a:lnSpc>
              <a:spcBef>
                <a:spcPts val="220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b="0">
                <a:latin typeface="Calibri"/>
                <a:cs typeface="Calibri"/>
              </a:rPr>
              <a:t>All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other</a:t>
            </a:r>
            <a:r>
              <a:rPr dirty="0" sz="1700" spc="-45" b="0">
                <a:latin typeface="Calibri"/>
                <a:cs typeface="Calibri"/>
              </a:rPr>
              <a:t> </a:t>
            </a:r>
            <a:r>
              <a:rPr dirty="0" sz="1700" spc="-25" b="0">
                <a:latin typeface="Calibri"/>
                <a:cs typeface="Calibri"/>
              </a:rPr>
              <a:t>students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are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spc="-30" b="0">
                <a:latin typeface="Calibri"/>
                <a:cs typeface="Calibri"/>
              </a:rPr>
              <a:t>welcome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to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choose </a:t>
            </a:r>
            <a:r>
              <a:rPr dirty="0" sz="1700" b="0">
                <a:latin typeface="Calibri"/>
                <a:cs typeface="Calibri"/>
              </a:rPr>
              <a:t>it,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of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course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After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 spc="-10"/>
              <a:t>course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100" b="0">
                <a:latin typeface="Calibri"/>
                <a:cs typeface="Calibri"/>
              </a:rPr>
              <a:t>The</a:t>
            </a:r>
            <a:r>
              <a:rPr dirty="0" sz="2100" spc="-60" b="0">
                <a:latin typeface="Calibri"/>
                <a:cs typeface="Calibri"/>
              </a:rPr>
              <a:t> </a:t>
            </a:r>
            <a:r>
              <a:rPr dirty="0" sz="2100" spc="-10" b="0">
                <a:latin typeface="Calibri"/>
                <a:cs typeface="Calibri"/>
              </a:rPr>
              <a:t>project</a:t>
            </a:r>
            <a:r>
              <a:rPr dirty="0" sz="2100" spc="-5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is</a:t>
            </a:r>
            <a:r>
              <a:rPr dirty="0" sz="2100" spc="-55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a</a:t>
            </a:r>
            <a:r>
              <a:rPr dirty="0" sz="2100" spc="-50" b="0">
                <a:latin typeface="Calibri"/>
                <a:cs typeface="Calibri"/>
              </a:rPr>
              <a:t> </a:t>
            </a:r>
            <a:r>
              <a:rPr dirty="0" sz="2100" spc="-10" b="0">
                <a:latin typeface="Calibri"/>
                <a:cs typeface="Calibri"/>
              </a:rPr>
              <a:t>single</a:t>
            </a:r>
            <a:r>
              <a:rPr dirty="0" sz="2100" spc="-60" b="0">
                <a:latin typeface="Calibri"/>
                <a:cs typeface="Calibri"/>
              </a:rPr>
              <a:t> </a:t>
            </a:r>
            <a:r>
              <a:rPr dirty="0" sz="2100" spc="-10" b="0">
                <a:latin typeface="Calibri"/>
                <a:cs typeface="Calibri"/>
              </a:rPr>
              <a:t>activity</a:t>
            </a:r>
            <a:endParaRPr sz="2100">
              <a:latin typeface="Calibri"/>
              <a:cs typeface="Calibri"/>
            </a:endParaRPr>
          </a:p>
          <a:p>
            <a:pPr marL="566420" marR="31750" indent="-259715">
              <a:lnSpc>
                <a:spcPts val="1989"/>
              </a:lnSpc>
              <a:spcBef>
                <a:spcPts val="290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b="0">
                <a:latin typeface="Calibri"/>
                <a:cs typeface="Calibri"/>
              </a:rPr>
              <a:t>It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has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the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same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35" b="0">
                <a:latin typeface="Calibri"/>
                <a:cs typeface="Calibri"/>
              </a:rPr>
              <a:t>components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as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the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other one,</a:t>
            </a:r>
            <a:r>
              <a:rPr dirty="0" sz="1700" spc="-15" b="0">
                <a:latin typeface="Calibri"/>
                <a:cs typeface="Calibri"/>
              </a:rPr>
              <a:t> </a:t>
            </a:r>
            <a:r>
              <a:rPr dirty="0" sz="1700" spc="-30" i="1">
                <a:latin typeface="Calibri"/>
                <a:cs typeface="Calibri"/>
              </a:rPr>
              <a:t>Ethnographic</a:t>
            </a:r>
            <a:r>
              <a:rPr dirty="0" sz="1700" spc="-20" i="1">
                <a:latin typeface="Calibri"/>
                <a:cs typeface="Calibri"/>
              </a:rPr>
              <a:t> </a:t>
            </a:r>
            <a:r>
              <a:rPr dirty="0" sz="1700" spc="-30" i="1">
                <a:latin typeface="Calibri"/>
                <a:cs typeface="Calibri"/>
              </a:rPr>
              <a:t>assessment,</a:t>
            </a:r>
            <a:r>
              <a:rPr dirty="0" sz="1700" spc="-25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Personas</a:t>
            </a:r>
            <a:endParaRPr sz="1700">
              <a:latin typeface="Calibri"/>
              <a:cs typeface="Calibri"/>
            </a:endParaRPr>
          </a:p>
          <a:p>
            <a:pPr marL="566420">
              <a:lnSpc>
                <a:spcPts val="1960"/>
              </a:lnSpc>
            </a:pPr>
            <a:r>
              <a:rPr dirty="0" sz="1700" i="1">
                <a:latin typeface="Calibri"/>
                <a:cs typeface="Calibri"/>
              </a:rPr>
              <a:t>+</a:t>
            </a:r>
            <a:r>
              <a:rPr dirty="0" sz="1700" spc="-60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Use</a:t>
            </a:r>
            <a:r>
              <a:rPr dirty="0" sz="1700" spc="-60" i="1">
                <a:latin typeface="Calibri"/>
                <a:cs typeface="Calibri"/>
              </a:rPr>
              <a:t> </a:t>
            </a:r>
            <a:r>
              <a:rPr dirty="0" sz="1700" spc="-25" i="1">
                <a:latin typeface="Calibri"/>
                <a:cs typeface="Calibri"/>
              </a:rPr>
              <a:t>Cases</a:t>
            </a:r>
            <a:r>
              <a:rPr dirty="0" sz="1700" spc="-65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and</a:t>
            </a:r>
            <a:r>
              <a:rPr dirty="0" sz="1700" spc="-60" i="1">
                <a:latin typeface="Calibri"/>
                <a:cs typeface="Calibri"/>
              </a:rPr>
              <a:t> </a:t>
            </a:r>
            <a:r>
              <a:rPr dirty="0" sz="1700" spc="-20" i="1">
                <a:latin typeface="Calibri"/>
                <a:cs typeface="Calibri"/>
              </a:rPr>
              <a:t>Design</a:t>
            </a:r>
            <a:r>
              <a:rPr dirty="0" sz="1700" spc="-60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and</a:t>
            </a:r>
            <a:r>
              <a:rPr dirty="0" sz="1700" spc="-60" i="1">
                <a:latin typeface="Calibri"/>
                <a:cs typeface="Calibri"/>
              </a:rPr>
              <a:t> </a:t>
            </a:r>
            <a:r>
              <a:rPr dirty="0" sz="1700" spc="-10" i="1">
                <a:latin typeface="Calibri"/>
                <a:cs typeface="Calibri"/>
              </a:rPr>
              <a:t>evaluation</a:t>
            </a:r>
            <a:endParaRPr sz="1700">
              <a:latin typeface="Calibri"/>
              <a:cs typeface="Calibri"/>
            </a:endParaRPr>
          </a:p>
          <a:p>
            <a:pPr marL="566420" marR="122555" indent="-259715">
              <a:lnSpc>
                <a:spcPts val="2020"/>
              </a:lnSpc>
              <a:spcBef>
                <a:spcPts val="229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10" b="0">
                <a:latin typeface="Calibri"/>
                <a:cs typeface="Calibri"/>
              </a:rPr>
              <a:t>Can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be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prepared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any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time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between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25" b="0">
                <a:latin typeface="Calibri"/>
                <a:cs typeface="Calibri"/>
              </a:rPr>
              <a:t>now </a:t>
            </a:r>
            <a:r>
              <a:rPr dirty="0" sz="1700" b="0">
                <a:latin typeface="Calibri"/>
                <a:cs typeface="Calibri"/>
              </a:rPr>
              <a:t>and</a:t>
            </a:r>
            <a:r>
              <a:rPr dirty="0" sz="1700" spc="-8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end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of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January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2027.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2100" b="0">
                <a:latin typeface="Calibri"/>
                <a:cs typeface="Calibri"/>
              </a:rPr>
              <a:t>Pros</a:t>
            </a:r>
            <a:r>
              <a:rPr dirty="0" sz="2100" spc="-8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and</a:t>
            </a:r>
            <a:r>
              <a:rPr dirty="0" sz="2100" spc="-90" b="0">
                <a:latin typeface="Calibri"/>
                <a:cs typeface="Calibri"/>
              </a:rPr>
              <a:t> </a:t>
            </a:r>
            <a:r>
              <a:rPr dirty="0" sz="2100" spc="-20" b="0">
                <a:latin typeface="Calibri"/>
                <a:cs typeface="Calibri"/>
              </a:rPr>
              <a:t>cons</a:t>
            </a:r>
            <a:endParaRPr sz="2100">
              <a:latin typeface="Calibri"/>
              <a:cs typeface="Calibri"/>
            </a:endParaRPr>
          </a:p>
          <a:p>
            <a:pPr marL="566420" marR="197485" indent="-259715">
              <a:lnSpc>
                <a:spcPts val="2020"/>
              </a:lnSpc>
              <a:spcBef>
                <a:spcPts val="365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10" b="0">
                <a:latin typeface="Calibri"/>
                <a:cs typeface="Calibri"/>
              </a:rPr>
              <a:t>Pros: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you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can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breathe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and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work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at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your </a:t>
            </a:r>
            <a:r>
              <a:rPr dirty="0" sz="1700" spc="-10" b="0">
                <a:latin typeface="Calibri"/>
                <a:cs typeface="Calibri"/>
              </a:rPr>
              <a:t>pace.</a:t>
            </a:r>
            <a:endParaRPr sz="1700">
              <a:latin typeface="Calibri"/>
              <a:cs typeface="Calibri"/>
            </a:endParaRPr>
          </a:p>
          <a:p>
            <a:pPr marL="566420" marR="68580" indent="-259715">
              <a:lnSpc>
                <a:spcPts val="2020"/>
              </a:lnSpc>
              <a:spcBef>
                <a:spcPts val="160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20" b="0">
                <a:latin typeface="Calibri"/>
                <a:cs typeface="Calibri"/>
              </a:rPr>
              <a:t>Cons:</a:t>
            </a:r>
            <a:r>
              <a:rPr dirty="0" sz="1700" spc="-8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you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have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to</a:t>
            </a:r>
            <a:r>
              <a:rPr dirty="0" sz="1700" spc="-8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wait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for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25" b="0">
                <a:latin typeface="Calibri"/>
                <a:cs typeface="Calibri"/>
              </a:rPr>
              <a:t>exam</a:t>
            </a:r>
            <a:r>
              <a:rPr dirty="0" sz="1700" spc="-7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sessions </a:t>
            </a:r>
            <a:r>
              <a:rPr dirty="0" sz="1700" spc="-20" b="0">
                <a:latin typeface="Calibri"/>
                <a:cs typeface="Calibri"/>
              </a:rPr>
              <a:t>(more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or</a:t>
            </a:r>
            <a:r>
              <a:rPr dirty="0" sz="1700" spc="-4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less).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2100" b="0">
                <a:latin typeface="Calibri"/>
                <a:cs typeface="Calibri"/>
              </a:rPr>
              <a:t>No</a:t>
            </a:r>
            <a:r>
              <a:rPr dirty="0" sz="2100" spc="-8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access</a:t>
            </a:r>
            <a:r>
              <a:rPr dirty="0" sz="2100" spc="-7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to</a:t>
            </a:r>
            <a:r>
              <a:rPr dirty="0" sz="2100" spc="-80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end</a:t>
            </a:r>
            <a:r>
              <a:rPr dirty="0" sz="2100" spc="-75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of</a:t>
            </a:r>
            <a:r>
              <a:rPr dirty="0" sz="2100" spc="-65" b="0">
                <a:latin typeface="Calibri"/>
                <a:cs typeface="Calibri"/>
              </a:rPr>
              <a:t> </a:t>
            </a:r>
            <a:r>
              <a:rPr dirty="0" sz="2100" b="0">
                <a:latin typeface="Calibri"/>
                <a:cs typeface="Calibri"/>
              </a:rPr>
              <a:t>May</a:t>
            </a:r>
            <a:r>
              <a:rPr dirty="0" sz="2100" spc="-75" b="0">
                <a:latin typeface="Calibri"/>
                <a:cs typeface="Calibri"/>
              </a:rPr>
              <a:t> </a:t>
            </a:r>
            <a:r>
              <a:rPr dirty="0" sz="2100" spc="-20" b="0">
                <a:latin typeface="Calibri"/>
                <a:cs typeface="Calibri"/>
              </a:rPr>
              <a:t>date</a:t>
            </a:r>
            <a:endParaRPr sz="2100">
              <a:latin typeface="Calibri"/>
              <a:cs typeface="Calibri"/>
            </a:endParaRPr>
          </a:p>
          <a:p>
            <a:pPr marL="566420" indent="-259715">
              <a:lnSpc>
                <a:spcPct val="100000"/>
              </a:lnSpc>
              <a:spcBef>
                <a:spcPts val="185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10" b="0">
                <a:latin typeface="Calibri"/>
                <a:cs typeface="Calibri"/>
              </a:rPr>
              <a:t>You</a:t>
            </a:r>
            <a:r>
              <a:rPr dirty="0" sz="1700" spc="-8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have</a:t>
            </a:r>
            <a:r>
              <a:rPr dirty="0" sz="1700" spc="-7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to</a:t>
            </a:r>
            <a:r>
              <a:rPr dirty="0" sz="1700" spc="-85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wait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for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other</a:t>
            </a:r>
            <a:r>
              <a:rPr dirty="0" sz="1700" spc="-6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regular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dates</a:t>
            </a:r>
            <a:endParaRPr sz="1700">
              <a:latin typeface="Calibri"/>
              <a:cs typeface="Calibri"/>
            </a:endParaRPr>
          </a:p>
          <a:p>
            <a:pPr marL="566420" marR="5080" indent="-259715">
              <a:lnSpc>
                <a:spcPts val="1989"/>
              </a:lnSpc>
              <a:spcBef>
                <a:spcPts val="275"/>
              </a:spcBef>
              <a:buClr>
                <a:srgbClr val="333399"/>
              </a:buClr>
              <a:buSzPct val="70588"/>
              <a:buFont typeface="Arial MT"/>
              <a:buChar char="◆"/>
              <a:tabLst>
                <a:tab pos="566420" algn="l"/>
              </a:tabLst>
            </a:pPr>
            <a:r>
              <a:rPr dirty="0" sz="1700" spc="-20" b="0">
                <a:latin typeface="Calibri"/>
                <a:cs typeface="Calibri"/>
              </a:rPr>
              <a:t>Applies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b="0">
                <a:latin typeface="Calibri"/>
                <a:cs typeface="Calibri"/>
              </a:rPr>
              <a:t>to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both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spc="-20" b="0">
                <a:latin typeface="Calibri"/>
                <a:cs typeface="Calibri"/>
              </a:rPr>
              <a:t>project</a:t>
            </a:r>
            <a:r>
              <a:rPr dirty="0" sz="1700" spc="-45" b="0">
                <a:latin typeface="Calibri"/>
                <a:cs typeface="Calibri"/>
              </a:rPr>
              <a:t> </a:t>
            </a:r>
            <a:r>
              <a:rPr dirty="0" sz="1700" spc="-25" b="0">
                <a:latin typeface="Calibri"/>
                <a:cs typeface="Calibri"/>
              </a:rPr>
              <a:t>presentations</a:t>
            </a:r>
            <a:r>
              <a:rPr dirty="0" sz="1700" spc="-55" b="0">
                <a:latin typeface="Calibri"/>
                <a:cs typeface="Calibri"/>
              </a:rPr>
              <a:t> </a:t>
            </a:r>
            <a:r>
              <a:rPr dirty="0" sz="1700" spc="-25" b="0">
                <a:latin typeface="Calibri"/>
                <a:cs typeface="Calibri"/>
              </a:rPr>
              <a:t>and written</a:t>
            </a:r>
            <a:r>
              <a:rPr dirty="0" sz="1700" spc="-60" b="0">
                <a:latin typeface="Calibri"/>
                <a:cs typeface="Calibri"/>
              </a:rPr>
              <a:t> </a:t>
            </a:r>
            <a:r>
              <a:rPr dirty="0" sz="1700" spc="-10" b="0">
                <a:latin typeface="Calibri"/>
                <a:cs typeface="Calibri"/>
              </a:rPr>
              <a:t>exams.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15"/>
              <a:t> </a:t>
            </a:r>
            <a:r>
              <a:rPr dirty="0"/>
              <a:t>project</a:t>
            </a:r>
            <a:r>
              <a:rPr dirty="0" spc="20"/>
              <a:t> </a:t>
            </a:r>
            <a:r>
              <a:rPr dirty="0" spc="-10"/>
              <a:t>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5573" y="1922129"/>
            <a:ext cx="8174990" cy="426847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8575" marR="871855" indent="-16510">
              <a:lnSpc>
                <a:spcPts val="2810"/>
              </a:lnSpc>
              <a:spcBef>
                <a:spcPts val="35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submit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day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presentation.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advance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submissions.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software.</a:t>
            </a:r>
            <a:endParaRPr sz="2500">
              <a:latin typeface="Calibri"/>
              <a:cs typeface="Calibri"/>
            </a:endParaRPr>
          </a:p>
          <a:p>
            <a:pPr marL="481965" indent="-374015">
              <a:lnSpc>
                <a:spcPct val="100000"/>
              </a:lnSpc>
              <a:spcBef>
                <a:spcPts val="434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48196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names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documents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predefined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strict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meet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discuss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content.</a:t>
            </a:r>
            <a:endParaRPr sz="2500">
              <a:latin typeface="Calibri"/>
              <a:cs typeface="Calibri"/>
            </a:endParaRPr>
          </a:p>
          <a:p>
            <a:pPr marL="481965" marR="5080" indent="-374650">
              <a:lnSpc>
                <a:spcPct val="107600"/>
              </a:lnSpc>
              <a:spcBef>
                <a:spcPts val="40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481965" algn="l"/>
              </a:tabLst>
            </a:pP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part: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process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–</a:t>
            </a:r>
            <a:r>
              <a:rPr dirty="0" sz="21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steps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perform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obtain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result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obtained</a:t>
            </a:r>
            <a:endParaRPr sz="2100">
              <a:latin typeface="Calibri"/>
              <a:cs typeface="Calibri"/>
            </a:endParaRPr>
          </a:p>
          <a:p>
            <a:pPr marL="481965" marR="378460" indent="-374650">
              <a:lnSpc>
                <a:spcPct val="107600"/>
              </a:lnSpc>
              <a:spcBef>
                <a:spcPts val="484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481965" algn="l"/>
              </a:tabLst>
            </a:pP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Second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part:</a:t>
            </a:r>
            <a:r>
              <a:rPr dirty="0" sz="21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–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convince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finance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design/redesign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tool?</a:t>
            </a:r>
            <a:endParaRPr sz="2100">
              <a:latin typeface="Calibri"/>
              <a:cs typeface="Calibri"/>
            </a:endParaRPr>
          </a:p>
          <a:p>
            <a:pPr marL="28575" marR="465455" indent="-16510">
              <a:lnSpc>
                <a:spcPts val="2710"/>
              </a:lnSpc>
              <a:spcBef>
                <a:spcPts val="7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members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expected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contribute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equally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work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parts.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Divide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horizontally,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vertically.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784" y="434636"/>
            <a:ext cx="594550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20"/>
              <a:t> </a:t>
            </a:r>
            <a:r>
              <a:rPr dirty="0"/>
              <a:t>2026</a:t>
            </a:r>
            <a:r>
              <a:rPr dirty="0" spc="20"/>
              <a:t> </a:t>
            </a:r>
            <a:r>
              <a:rPr dirty="0"/>
              <a:t>UUXD</a:t>
            </a:r>
            <a:r>
              <a:rPr dirty="0" spc="30"/>
              <a:t> </a:t>
            </a:r>
            <a:r>
              <a:rPr dirty="0"/>
              <a:t>project:</a:t>
            </a:r>
            <a:r>
              <a:rPr dirty="0" spc="10"/>
              <a:t> </a:t>
            </a:r>
            <a:r>
              <a:rPr dirty="0" spc="-20"/>
              <a:t>HPHP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7769" y="918500"/>
            <a:ext cx="415734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065" marR="5080" indent="-508000">
              <a:lnSpc>
                <a:spcPct val="121200"/>
              </a:lnSpc>
              <a:spcBef>
                <a:spcPts val="100"/>
              </a:spcBef>
            </a:pPr>
            <a:r>
              <a:rPr dirty="0" sz="3300" i="1">
                <a:solidFill>
                  <a:srgbClr val="151515"/>
                </a:solidFill>
                <a:latin typeface="Calibri"/>
                <a:cs typeface="Calibri"/>
              </a:rPr>
              <a:t>Help People</a:t>
            </a:r>
            <a:r>
              <a:rPr dirty="0" sz="3300" spc="-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i="1">
                <a:solidFill>
                  <a:srgbClr val="151515"/>
                </a:solidFill>
                <a:latin typeface="Calibri"/>
                <a:cs typeface="Calibri"/>
              </a:rPr>
              <a:t>Help </a:t>
            </a:r>
            <a:r>
              <a:rPr dirty="0" sz="3300" spc="-10" i="1">
                <a:solidFill>
                  <a:srgbClr val="151515"/>
                </a:solidFill>
                <a:latin typeface="Calibri"/>
                <a:cs typeface="Calibri"/>
              </a:rPr>
              <a:t>People </a:t>
            </a:r>
            <a:r>
              <a:rPr dirty="0" sz="3300" i="1">
                <a:solidFill>
                  <a:srgbClr val="00B050"/>
                </a:solidFill>
                <a:latin typeface="Calibri"/>
                <a:cs typeface="Calibri"/>
              </a:rPr>
              <a:t>Aiutare</a:t>
            </a:r>
            <a:r>
              <a:rPr dirty="0" sz="3300" spc="-30" i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300" i="1">
                <a:solidFill>
                  <a:srgbClr val="00B050"/>
                </a:solidFill>
                <a:latin typeface="Calibri"/>
                <a:cs typeface="Calibri"/>
              </a:rPr>
              <a:t>ad</a:t>
            </a:r>
            <a:r>
              <a:rPr dirty="0" sz="3300" spc="-20" i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300" spc="-10" i="1">
                <a:solidFill>
                  <a:srgbClr val="00B050"/>
                </a:solidFill>
                <a:latin typeface="Calibri"/>
                <a:cs typeface="Calibri"/>
              </a:rPr>
              <a:t>aiutare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5949" y="5654936"/>
            <a:ext cx="8426450" cy="129667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4130" marR="5080" indent="-12065">
              <a:lnSpc>
                <a:spcPts val="2500"/>
              </a:lnSpc>
              <a:spcBef>
                <a:spcPts val="200"/>
              </a:spcBef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HPHP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design/redesign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site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application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mobile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app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/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desktop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application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aimed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help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others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obtain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digital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suspicious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afraid,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build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trust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confidence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themselves.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7728" y="2293846"/>
            <a:ext cx="5175665" cy="34519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48310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Help</a:t>
            </a:r>
            <a:r>
              <a:rPr dirty="0" spc="-10"/>
              <a:t> </a:t>
            </a:r>
            <a:r>
              <a:rPr dirty="0"/>
              <a:t>people</a:t>
            </a:r>
            <a:r>
              <a:rPr dirty="0" spc="-10"/>
              <a:t> </a:t>
            </a:r>
            <a:r>
              <a:rPr dirty="0"/>
              <a:t>help</a:t>
            </a:r>
            <a:r>
              <a:rPr dirty="0" spc="-10"/>
              <a:t> people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512704"/>
            <a:ext cx="8275955" cy="57715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67030" marR="283845" indent="-354965">
              <a:lnSpc>
                <a:spcPts val="2500"/>
              </a:lnSpc>
              <a:spcBef>
                <a:spcPts val="20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large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public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administration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provides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online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portal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citizens.</a:t>
            </a:r>
            <a:endParaRPr sz="2100">
              <a:latin typeface="Calibri"/>
              <a:cs typeface="Calibri"/>
            </a:endParaRPr>
          </a:p>
          <a:p>
            <a:pPr lvl="1" marL="661670" indent="-295910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661670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e.g.: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senior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citizens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manage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healthcare,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pensions,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services.</a:t>
            </a:r>
            <a:endParaRPr sz="1900">
              <a:latin typeface="Calibri"/>
              <a:cs typeface="Calibri"/>
            </a:endParaRPr>
          </a:p>
          <a:p>
            <a:pPr marL="367030" marR="661035" indent="-35496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Despite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platform’s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usefulness,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many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avoid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due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digital anxiety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unfamiliarity.</a:t>
            </a:r>
            <a:endParaRPr sz="2100">
              <a:latin typeface="Calibri"/>
              <a:cs typeface="Calibri"/>
            </a:endParaRPr>
          </a:p>
          <a:p>
            <a:pPr marL="367030" marR="62230" indent="-354965">
              <a:lnSpc>
                <a:spcPts val="2500"/>
              </a:lnSpc>
              <a:spcBef>
                <a:spcPts val="58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Since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required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access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rely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on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external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access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services.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leads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increased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costs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in-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assistance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delays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access.</a:t>
            </a:r>
            <a:endParaRPr sz="2100">
              <a:latin typeface="Calibri"/>
              <a:cs typeface="Calibri"/>
            </a:endParaRPr>
          </a:p>
          <a:p>
            <a:pPr marL="367030" marR="241300" indent="-354965">
              <a:lnSpc>
                <a:spcPct val="99400"/>
              </a:lnSpc>
              <a:spcBef>
                <a:spcPts val="405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seeks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solution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helps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intermediaries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become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trainers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rather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executors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transforming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intuitive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empowering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experience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helping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develop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long-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term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digital confidence.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improve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experience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such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existing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service.</a:t>
            </a:r>
            <a:endParaRPr sz="2100">
              <a:latin typeface="Calibri"/>
              <a:cs typeface="Calibri"/>
            </a:endParaRPr>
          </a:p>
          <a:p>
            <a:pPr algn="just" marL="367030" marR="237490" indent="-354965">
              <a:lnSpc>
                <a:spcPct val="99500"/>
              </a:lnSpc>
              <a:spcBef>
                <a:spcPts val="495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identify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situation,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domain,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 b="1" i="1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site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application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mobile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app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desktop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application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supports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endParaRPr sz="2100">
              <a:latin typeface="Calibri"/>
              <a:cs typeface="Calibri"/>
            </a:endParaRPr>
          </a:p>
          <a:p>
            <a:pPr algn="just" marL="367030">
              <a:lnSpc>
                <a:spcPts val="2495"/>
              </a:lnSpc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goals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48310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Help</a:t>
            </a:r>
            <a:r>
              <a:rPr dirty="0" spc="-10"/>
              <a:t> </a:t>
            </a:r>
            <a:r>
              <a:rPr dirty="0"/>
              <a:t>people</a:t>
            </a:r>
            <a:r>
              <a:rPr dirty="0" spc="-10"/>
              <a:t> </a:t>
            </a:r>
            <a:r>
              <a:rPr dirty="0"/>
              <a:t>help</a:t>
            </a:r>
            <a:r>
              <a:rPr dirty="0" spc="-10"/>
              <a:t> people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498457"/>
            <a:ext cx="8264525" cy="4829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67030" marR="313690" indent="-354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7030" algn="l"/>
                <a:tab pos="3683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	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integrate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support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intermediaries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allow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action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become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clear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repeatable,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guide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initial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hesitation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regular,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confident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use.</a:t>
            </a:r>
            <a:endParaRPr sz="2500">
              <a:latin typeface="Calibri"/>
              <a:cs typeface="Calibri"/>
            </a:endParaRPr>
          </a:p>
          <a:p>
            <a:pPr marL="367030" marR="5080" indent="-354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redesign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should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reduce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friction,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instil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trust,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foster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sense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progress,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encouraging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sustained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interaction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tool.</a:t>
            </a:r>
            <a:endParaRPr sz="2500">
              <a:latin typeface="Calibri"/>
              <a:cs typeface="Calibri"/>
            </a:endParaRPr>
          </a:p>
          <a:p>
            <a:pPr marL="367030" marR="64769" indent="-354965">
              <a:lnSpc>
                <a:spcPct val="100299"/>
              </a:lnSpc>
              <a:spcBef>
                <a:spcPts val="59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Careful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empathic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understanding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specific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characteristics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important.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mid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March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suggest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domains,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types.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propose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some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functions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models.</a:t>
            </a:r>
            <a:endParaRPr sz="2500">
              <a:latin typeface="Calibri"/>
              <a:cs typeface="Calibri"/>
            </a:endParaRPr>
          </a:p>
          <a:p>
            <a:pPr marL="367030" marR="350520" indent="-354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choose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them,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suggest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own.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can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proposals</a:t>
            </a:r>
            <a:r>
              <a:rPr dirty="0" sz="2500" spc="-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(under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rules).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48310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Help</a:t>
            </a:r>
            <a:r>
              <a:rPr dirty="0" spc="-10"/>
              <a:t> </a:t>
            </a:r>
            <a:r>
              <a:rPr dirty="0"/>
              <a:t>people</a:t>
            </a:r>
            <a:r>
              <a:rPr dirty="0" spc="-10"/>
              <a:t> </a:t>
            </a:r>
            <a:r>
              <a:rPr dirty="0"/>
              <a:t>help</a:t>
            </a:r>
            <a:r>
              <a:rPr dirty="0" spc="-10"/>
              <a:t> people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498457"/>
            <a:ext cx="8110220" cy="5124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3505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suggest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domain+task+audience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application,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long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follow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steps:</a:t>
            </a:r>
            <a:endParaRPr sz="2500">
              <a:latin typeface="Calibri"/>
              <a:cs typeface="Calibri"/>
            </a:endParaRPr>
          </a:p>
          <a:p>
            <a:pPr marL="661035" indent="-354965">
              <a:lnSpc>
                <a:spcPct val="100000"/>
              </a:lnSpc>
              <a:spcBef>
                <a:spcPts val="615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addresses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specified)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domain</a:t>
            </a:r>
            <a:endParaRPr sz="2100">
              <a:latin typeface="Calibri"/>
              <a:cs typeface="Calibri"/>
            </a:endParaRPr>
          </a:p>
          <a:p>
            <a:pPr marL="661035" indent="-354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addresses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few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specified)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endParaRPr sz="2100">
              <a:latin typeface="Calibri"/>
              <a:cs typeface="Calibri"/>
            </a:endParaRPr>
          </a:p>
          <a:p>
            <a:pPr marL="661035" indent="-354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addresses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identified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described.</a:t>
            </a:r>
            <a:endParaRPr sz="2100">
              <a:latin typeface="Calibri"/>
              <a:cs typeface="Calibri"/>
            </a:endParaRPr>
          </a:p>
          <a:p>
            <a:pPr marL="661035" indent="-354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shows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intermediator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access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services.</a:t>
            </a:r>
            <a:endParaRPr sz="2100">
              <a:latin typeface="Calibri"/>
              <a:cs typeface="Calibri"/>
            </a:endParaRPr>
          </a:p>
          <a:p>
            <a:pPr marL="661035" marR="168275" indent="-354965">
              <a:lnSpc>
                <a:spcPts val="2500"/>
              </a:lnSpc>
              <a:spcBef>
                <a:spcPts val="5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shows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best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study,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understand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empathize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with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evaluate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did.</a:t>
            </a:r>
            <a:endParaRPr sz="2100">
              <a:latin typeface="Calibri"/>
              <a:cs typeface="Calibri"/>
            </a:endParaRPr>
          </a:p>
          <a:p>
            <a:pPr marL="661035" marR="436880" indent="-354965">
              <a:lnSpc>
                <a:spcPts val="2500"/>
              </a:lnSpc>
              <a:spcBef>
                <a:spcPts val="495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clearly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message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help/convince/assist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that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type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carrying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tasks.</a:t>
            </a:r>
            <a:endParaRPr sz="2100">
              <a:latin typeface="Calibri"/>
              <a:cs typeface="Calibri"/>
            </a:endParaRPr>
          </a:p>
          <a:p>
            <a:pPr marL="661035" marR="434340" indent="-354965">
              <a:lnSpc>
                <a:spcPct val="100000"/>
              </a:lnSpc>
              <a:spcBef>
                <a:spcPts val="40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yet,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skeptical.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must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inform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existence,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usefulness,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appropriateness.</a:t>
            </a:r>
            <a:endParaRPr sz="2100">
              <a:latin typeface="Calibri"/>
              <a:cs typeface="Calibri"/>
            </a:endParaRPr>
          </a:p>
          <a:p>
            <a:pPr marL="661035" marR="2324100" indent="-354965">
              <a:lnSpc>
                <a:spcPts val="2500"/>
              </a:lnSpc>
              <a:spcBef>
                <a:spcPts val="5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Please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try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beyond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sites,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social networks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e-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commerce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tools.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48310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Help</a:t>
            </a:r>
            <a:r>
              <a:rPr dirty="0" spc="-10"/>
              <a:t> </a:t>
            </a:r>
            <a:r>
              <a:rPr dirty="0"/>
              <a:t>people</a:t>
            </a:r>
            <a:r>
              <a:rPr dirty="0" spc="-10"/>
              <a:t> </a:t>
            </a:r>
            <a:r>
              <a:rPr dirty="0"/>
              <a:t>help</a:t>
            </a:r>
            <a:r>
              <a:rPr dirty="0" spc="-10"/>
              <a:t> people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498457"/>
            <a:ext cx="8285480" cy="4677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8600">
              <a:lnSpc>
                <a:spcPct val="100000"/>
              </a:lnSpc>
              <a:spcBef>
                <a:spcPts val="10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Understanding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providing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need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goal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key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successful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product.</a:t>
            </a:r>
            <a:endParaRPr sz="2500">
              <a:latin typeface="Calibri"/>
              <a:cs typeface="Calibri"/>
            </a:endParaRPr>
          </a:p>
          <a:p>
            <a:pPr marL="661670" marR="529590" indent="-295910">
              <a:lnSpc>
                <a:spcPts val="2500"/>
              </a:lnSpc>
              <a:spcBef>
                <a:spcPts val="715"/>
              </a:spcBef>
              <a:buFont typeface="Arial MT"/>
              <a:buChar char="•"/>
              <a:tabLst>
                <a:tab pos="661670" algn="l"/>
              </a:tabLst>
            </a:pP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Products</a:t>
            </a:r>
            <a:r>
              <a:rPr dirty="0" sz="2100" spc="-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(including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applications,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mobile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apps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sites)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are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succesful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designed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clearly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understood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 audience.</a:t>
            </a:r>
            <a:endParaRPr sz="2100">
              <a:latin typeface="Calibri"/>
              <a:cs typeface="Calibri"/>
            </a:endParaRPr>
          </a:p>
          <a:p>
            <a:pPr marL="661670" marR="5080" indent="-295910">
              <a:lnSpc>
                <a:spcPct val="99300"/>
              </a:lnSpc>
              <a:spcBef>
                <a:spcPts val="409"/>
              </a:spcBef>
              <a:buFont typeface="Arial MT"/>
              <a:buChar char="•"/>
              <a:tabLst>
                <a:tab pos="661670" algn="l"/>
              </a:tabLst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Forced</a:t>
            </a:r>
            <a:r>
              <a:rPr dirty="0" sz="2100" spc="-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products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(including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applications,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mobile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apps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sites)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are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those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choice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digital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form.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succesful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able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perceived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as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worthy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preferable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carrying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same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hand.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This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means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making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clearly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understood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audience.</a:t>
            </a:r>
            <a:endParaRPr sz="2100">
              <a:latin typeface="Calibri"/>
              <a:cs typeface="Calibri"/>
            </a:endParaRPr>
          </a:p>
          <a:p>
            <a:pPr marL="12700" marR="247650">
              <a:lnSpc>
                <a:spcPct val="100000"/>
              </a:lnSpc>
              <a:spcBef>
                <a:spcPts val="489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impact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(given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words,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images,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layout)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main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means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delivering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reasons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ways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proficuely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your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product.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48310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Help</a:t>
            </a:r>
            <a:r>
              <a:rPr dirty="0" spc="-10"/>
              <a:t> </a:t>
            </a:r>
            <a:r>
              <a:rPr dirty="0"/>
              <a:t>people</a:t>
            </a:r>
            <a:r>
              <a:rPr dirty="0" spc="-10"/>
              <a:t> </a:t>
            </a:r>
            <a:r>
              <a:rPr dirty="0"/>
              <a:t>help</a:t>
            </a:r>
            <a:r>
              <a:rPr dirty="0" spc="-10"/>
              <a:t> people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5950" y="1338967"/>
            <a:ext cx="8571230" cy="56432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67030" marR="1151890" indent="-354965">
              <a:lnSpc>
                <a:spcPts val="2500"/>
              </a:lnSpc>
              <a:spcBef>
                <a:spcPts val="20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large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organization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provides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online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portal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for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citizens/users/customers.</a:t>
            </a:r>
            <a:endParaRPr sz="2100">
              <a:latin typeface="Calibri"/>
              <a:cs typeface="Calibri"/>
            </a:endParaRPr>
          </a:p>
          <a:p>
            <a:pPr lvl="1" marL="661670" indent="-29591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61670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e.g.: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senior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citizens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manage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healthcare,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pensions,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services.</a:t>
            </a:r>
            <a:endParaRPr sz="1900">
              <a:latin typeface="Calibri"/>
              <a:cs typeface="Calibri"/>
            </a:endParaRPr>
          </a:p>
          <a:p>
            <a:pPr marL="367030" marR="48895" indent="-354965">
              <a:lnSpc>
                <a:spcPct val="99400"/>
              </a:lnSpc>
              <a:spcBef>
                <a:spcPts val="54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Despite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platform’s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usefulness,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many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avoid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due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digital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anxiety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unfamiliarity.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frequently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employ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intermediary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their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own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instead.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leads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increased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costs,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lack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privacy,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delays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access.</a:t>
            </a:r>
            <a:endParaRPr sz="2100">
              <a:latin typeface="Calibri"/>
              <a:cs typeface="Calibri"/>
            </a:endParaRPr>
          </a:p>
          <a:p>
            <a:pPr marL="367030" marR="5080" indent="-354965">
              <a:lnSpc>
                <a:spcPct val="99200"/>
              </a:lnSpc>
              <a:spcBef>
                <a:spcPts val="50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knows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individuals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different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purposes,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seeks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solution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transforms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intuitive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empowering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experience,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helping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develop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long-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term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digital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confidence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intermediaries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teach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same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time.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improve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experience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such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existing</a:t>
            </a:r>
            <a:r>
              <a:rPr dirty="0" sz="21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service.</a:t>
            </a:r>
            <a:endParaRPr sz="2100">
              <a:latin typeface="Calibri"/>
              <a:cs typeface="Calibri"/>
            </a:endParaRPr>
          </a:p>
          <a:p>
            <a:pPr marL="367030" marR="280035" indent="-354965">
              <a:lnSpc>
                <a:spcPts val="2500"/>
              </a:lnSpc>
              <a:spcBef>
                <a:spcPts val="58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identify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situation,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domain,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two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5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audiences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site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application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mobile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app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desktop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application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supports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goals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48310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Help</a:t>
            </a:r>
            <a:r>
              <a:rPr dirty="0" spc="-10"/>
              <a:t> </a:t>
            </a:r>
            <a:r>
              <a:rPr dirty="0"/>
              <a:t>people</a:t>
            </a:r>
            <a:r>
              <a:rPr dirty="0" spc="-10"/>
              <a:t> </a:t>
            </a:r>
            <a:r>
              <a:rPr dirty="0"/>
              <a:t>help</a:t>
            </a:r>
            <a:r>
              <a:rPr dirty="0" spc="-10"/>
              <a:t> people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498457"/>
            <a:ext cx="8284845" cy="4753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integrate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clear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accessible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services,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designed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guide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initial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hesitation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regular,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confident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through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help,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example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teaching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intermediaries.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redesign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should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reduce friction,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instil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trust,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foster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sense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progress, encouraging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frequent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sustained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interaction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tool.</a:t>
            </a:r>
            <a:endParaRPr sz="2500">
              <a:latin typeface="Calibri"/>
              <a:cs typeface="Calibri"/>
            </a:endParaRPr>
          </a:p>
          <a:p>
            <a:pPr marL="367030" marR="85725" indent="-354965">
              <a:lnSpc>
                <a:spcPct val="100299"/>
              </a:lnSpc>
              <a:spcBef>
                <a:spcPts val="59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Careful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empathic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understanding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users'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characteristics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important.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Today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suggest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domains,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types.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propose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some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functions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models.</a:t>
            </a:r>
            <a:endParaRPr sz="2500">
              <a:latin typeface="Calibri"/>
              <a:cs typeface="Calibri"/>
            </a:endParaRPr>
          </a:p>
          <a:p>
            <a:pPr marL="367030" marR="370840" indent="-354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choose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them,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suggest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own.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can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proposals</a:t>
            </a:r>
            <a:r>
              <a:rPr dirty="0" sz="2500" spc="-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(under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rules).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48310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Help</a:t>
            </a:r>
            <a:r>
              <a:rPr dirty="0" spc="-10"/>
              <a:t> </a:t>
            </a:r>
            <a:r>
              <a:rPr dirty="0"/>
              <a:t>people</a:t>
            </a:r>
            <a:r>
              <a:rPr dirty="0" spc="-10"/>
              <a:t> </a:t>
            </a:r>
            <a:r>
              <a:rPr dirty="0"/>
              <a:t>help</a:t>
            </a:r>
            <a:r>
              <a:rPr dirty="0" spc="-10"/>
              <a:t> people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498457"/>
            <a:ext cx="8068309" cy="5758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096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suggest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domain+task+audience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application,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long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follow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steps:</a:t>
            </a:r>
            <a:endParaRPr sz="2500">
              <a:latin typeface="Calibri"/>
              <a:cs typeface="Calibri"/>
            </a:endParaRPr>
          </a:p>
          <a:p>
            <a:pPr marL="661035" indent="-354965">
              <a:lnSpc>
                <a:spcPct val="100000"/>
              </a:lnSpc>
              <a:spcBef>
                <a:spcPts val="615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addresses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specified)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domain</a:t>
            </a:r>
            <a:endParaRPr sz="2100">
              <a:latin typeface="Calibri"/>
              <a:cs typeface="Calibri"/>
            </a:endParaRPr>
          </a:p>
          <a:p>
            <a:pPr marL="661035" indent="-354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addresses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few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specified)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endParaRPr sz="2100">
              <a:latin typeface="Calibri"/>
              <a:cs typeface="Calibri"/>
            </a:endParaRPr>
          </a:p>
          <a:p>
            <a:pPr marL="661035" marR="5080" indent="-354965">
              <a:lnSpc>
                <a:spcPts val="2500"/>
              </a:lnSpc>
              <a:spcBef>
                <a:spcPts val="5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addresses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identified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described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another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intermediaries.</a:t>
            </a:r>
            <a:endParaRPr sz="2100">
              <a:latin typeface="Calibri"/>
              <a:cs typeface="Calibri"/>
            </a:endParaRPr>
          </a:p>
          <a:p>
            <a:pPr marL="661035" indent="-354965">
              <a:lnSpc>
                <a:spcPct val="100000"/>
              </a:lnSpc>
              <a:spcBef>
                <a:spcPts val="395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shows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free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6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tool.</a:t>
            </a:r>
            <a:endParaRPr sz="2100">
              <a:latin typeface="Calibri"/>
              <a:cs typeface="Calibri"/>
            </a:endParaRPr>
          </a:p>
          <a:p>
            <a:pPr marL="661035" marR="127000" indent="-354965">
              <a:lnSpc>
                <a:spcPts val="2500"/>
              </a:lnSpc>
              <a:spcBef>
                <a:spcPts val="5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shows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best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study,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understand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empathize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with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evaluate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did.</a:t>
            </a:r>
            <a:endParaRPr sz="2100">
              <a:latin typeface="Calibri"/>
              <a:cs typeface="Calibri"/>
            </a:endParaRPr>
          </a:p>
          <a:p>
            <a:pPr marL="661035" marR="395605" indent="-354965">
              <a:lnSpc>
                <a:spcPct val="100000"/>
              </a:lnSpc>
              <a:spcBef>
                <a:spcPts val="40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clearly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message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help/convince/assist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that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type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carrying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tasks.</a:t>
            </a:r>
            <a:endParaRPr sz="2100">
              <a:latin typeface="Calibri"/>
              <a:cs typeface="Calibri"/>
            </a:endParaRPr>
          </a:p>
          <a:p>
            <a:pPr marL="661035" marR="104775" indent="-354965">
              <a:lnSpc>
                <a:spcPts val="2500"/>
              </a:lnSpc>
              <a:spcBef>
                <a:spcPts val="58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yet,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is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skeptical/scared/confused.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convince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intermediaries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not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just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involve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delegate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users.</a:t>
            </a:r>
            <a:endParaRPr sz="2100">
              <a:latin typeface="Calibri"/>
              <a:cs typeface="Calibri"/>
            </a:endParaRPr>
          </a:p>
          <a:p>
            <a:pPr marL="661035" marR="2282190" indent="-354965">
              <a:lnSpc>
                <a:spcPts val="2500"/>
              </a:lnSpc>
              <a:spcBef>
                <a:spcPts val="490"/>
              </a:spcBef>
              <a:buFont typeface="Wingdings"/>
              <a:buChar char=""/>
              <a:tabLst>
                <a:tab pos="66103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Please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try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beyond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sites,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social networks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e-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commerce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tools.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189674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451887"/>
            <a:ext cx="8156575" cy="50012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include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content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active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services.</a:t>
            </a:r>
            <a:endParaRPr sz="2100">
              <a:latin typeface="Calibri"/>
              <a:cs typeface="Calibri"/>
            </a:endParaRPr>
          </a:p>
          <a:p>
            <a:pPr marL="12700" marR="83820">
              <a:lnSpc>
                <a:spcPts val="2500"/>
              </a:lnSpc>
              <a:spcBef>
                <a:spcPts val="58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redesign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allow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company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address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convince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specific </a:t>
            </a: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audiences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increase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therefore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increase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profit/reduce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costs/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improve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provides.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  <a:spcBef>
                <a:spcPts val="390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Assume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that: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ts val="2235"/>
              </a:lnSpc>
              <a:buFont typeface="Arial MT"/>
              <a:buChar char="•"/>
              <a:tabLst>
                <a:tab pos="367030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organization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large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complex.</a:t>
            </a:r>
            <a:endParaRPr sz="1900">
              <a:latin typeface="Calibri"/>
              <a:cs typeface="Calibri"/>
            </a:endParaRPr>
          </a:p>
          <a:p>
            <a:pPr marL="367030" indent="-354330">
              <a:lnSpc>
                <a:spcPts val="2245"/>
              </a:lnSpc>
              <a:buFont typeface="Arial MT"/>
              <a:buChar char="•"/>
              <a:tabLst>
                <a:tab pos="367030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money,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uses</a:t>
            </a:r>
            <a:r>
              <a:rPr dirty="0" sz="19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19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wisely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(it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19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overspend).</a:t>
            </a:r>
            <a:endParaRPr sz="1900">
              <a:latin typeface="Calibri"/>
              <a:cs typeface="Calibri"/>
            </a:endParaRPr>
          </a:p>
          <a:p>
            <a:pPr marL="367030" marR="5080" indent="-354965">
              <a:lnSpc>
                <a:spcPts val="2210"/>
              </a:lnSpc>
              <a:spcBef>
                <a:spcPts val="155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mature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online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presence,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handles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much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standard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chores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app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already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(brand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recognition,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management,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FAQ,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legal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texts,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etc.)</a:t>
            </a:r>
            <a:endParaRPr sz="1900">
              <a:latin typeface="Calibri"/>
              <a:cs typeface="Calibri"/>
            </a:endParaRPr>
          </a:p>
          <a:p>
            <a:pPr marL="367030" marR="123825" indent="-354965">
              <a:lnSpc>
                <a:spcPts val="2210"/>
              </a:lnSpc>
              <a:spcBef>
                <a:spcPts val="7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new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redesign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improve/replace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(some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parts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of)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existing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be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presented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stable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immediately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recognizable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35">
                <a:solidFill>
                  <a:srgbClr val="151515"/>
                </a:solidFill>
                <a:latin typeface="Calibri"/>
                <a:cs typeface="Calibri"/>
              </a:rPr>
              <a:t>re-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organization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old</a:t>
            </a:r>
            <a:endParaRPr sz="1900">
              <a:latin typeface="Calibri"/>
              <a:cs typeface="Calibri"/>
            </a:endParaRPr>
          </a:p>
          <a:p>
            <a:pPr marL="367030">
              <a:lnSpc>
                <a:spcPts val="2205"/>
              </a:lnSpc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tool.</a:t>
            </a:r>
            <a:endParaRPr sz="1900">
              <a:latin typeface="Calibri"/>
              <a:cs typeface="Calibri"/>
            </a:endParaRPr>
          </a:p>
          <a:p>
            <a:pPr marL="367030" marR="146050" indent="-354965">
              <a:lnSpc>
                <a:spcPts val="2300"/>
              </a:lnSpc>
              <a:spcBef>
                <a:spcPts val="25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neither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wide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neither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narrow,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defined with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just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few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words.</a:t>
            </a:r>
            <a:endParaRPr sz="1900">
              <a:latin typeface="Calibri"/>
              <a:cs typeface="Calibri"/>
            </a:endParaRPr>
          </a:p>
          <a:p>
            <a:pPr marL="12700" marR="110489">
              <a:lnSpc>
                <a:spcPts val="2210"/>
              </a:lnSpc>
              <a:spcBef>
                <a:spcPts val="459"/>
              </a:spcBef>
            </a:pP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Careful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empathic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understanding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characteristics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1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key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evaluation factor.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254254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Objective</a:t>
            </a:r>
            <a:r>
              <a:rPr dirty="0" spc="55"/>
              <a:t> </a:t>
            </a:r>
            <a:r>
              <a:rPr dirty="0" spc="-25"/>
              <a:t>(2)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422428"/>
            <a:ext cx="8127365" cy="482409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700"/>
              </a:spcBef>
              <a:buSzPct val="80000"/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work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above-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mentioned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client.</a:t>
            </a:r>
            <a:endParaRPr sz="2500">
              <a:latin typeface="Calibri"/>
              <a:cs typeface="Calibri"/>
            </a:endParaRPr>
          </a:p>
          <a:p>
            <a:pPr marL="367030" marR="23495" indent="-354965">
              <a:lnSpc>
                <a:spcPct val="100000"/>
              </a:lnSpc>
              <a:spcBef>
                <a:spcPts val="600"/>
              </a:spcBef>
              <a:buSzPct val="80000"/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work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software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company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provides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clients.</a:t>
            </a:r>
            <a:endParaRPr sz="2500">
              <a:latin typeface="Calibri"/>
              <a:cs typeface="Calibri"/>
            </a:endParaRPr>
          </a:p>
          <a:p>
            <a:pPr marL="367030" marR="5080" indent="-354965">
              <a:lnSpc>
                <a:spcPct val="100000"/>
              </a:lnSpc>
              <a:spcBef>
                <a:spcPts val="600"/>
              </a:spcBef>
              <a:buSzPct val="80000"/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company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convince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invest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tool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convincing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case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budget.</a:t>
            </a:r>
            <a:endParaRPr sz="2500">
              <a:latin typeface="Calibri"/>
              <a:cs typeface="Calibri"/>
            </a:endParaRPr>
          </a:p>
          <a:p>
            <a:pPr marL="367030" marR="363220" indent="-354965">
              <a:lnSpc>
                <a:spcPct val="100800"/>
              </a:lnSpc>
              <a:spcBef>
                <a:spcPts val="575"/>
              </a:spcBef>
              <a:buSzPct val="80000"/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convince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manager,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itself.</a:t>
            </a:r>
            <a:endParaRPr sz="2500">
              <a:latin typeface="Calibri"/>
              <a:cs typeface="Calibri"/>
            </a:endParaRPr>
          </a:p>
          <a:p>
            <a:pPr marL="367030" marR="368935" indent="-354965">
              <a:lnSpc>
                <a:spcPct val="100800"/>
              </a:lnSpc>
              <a:spcBef>
                <a:spcPts val="550"/>
              </a:spcBef>
              <a:buSzPct val="80000"/>
              <a:buFont typeface="Arial MT"/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product.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site.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not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app.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500">
              <a:latin typeface="Calibri"/>
              <a:cs typeface="Calibri"/>
            </a:endParaRPr>
          </a:p>
          <a:p>
            <a:pPr marL="529590">
              <a:lnSpc>
                <a:spcPct val="100000"/>
              </a:lnSpc>
            </a:pPr>
            <a:r>
              <a:rPr dirty="0" sz="2900" b="1" i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900" spc="-3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b="1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3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b="1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900" spc="-3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b="1" i="1">
                <a:solidFill>
                  <a:srgbClr val="151515"/>
                </a:solidFill>
                <a:latin typeface="Calibri"/>
                <a:cs typeface="Calibri"/>
              </a:rPr>
              <a:t>experience</a:t>
            </a:r>
            <a:r>
              <a:rPr dirty="0" sz="2900" spc="-3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b="1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3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b="1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3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b="1" i="1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900" spc="-3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b="1" i="1">
                <a:solidFill>
                  <a:srgbClr val="151515"/>
                </a:solidFill>
                <a:latin typeface="Calibri"/>
                <a:cs typeface="Calibri"/>
              </a:rPr>
              <a:t>site/app!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235839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Background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1784" y="1498457"/>
            <a:ext cx="7879715" cy="480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384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lack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confidence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lies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nature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interfaces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6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in: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ts val="2510"/>
              </a:lnSpc>
              <a:spcBef>
                <a:spcPts val="11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inferior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product/service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ts val="2495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unknown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brand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ts val="2450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unawareness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existence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3000"/>
              </a:lnSpc>
              <a:spcBef>
                <a:spcPts val="45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solution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revolve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around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awareness,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acceptance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attractiveness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redesigned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tool,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5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around: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ts val="2510"/>
              </a:lnSpc>
              <a:spcBef>
                <a:spcPts val="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traditional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advertisement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campaigns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ts val="2495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Walls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text</a:t>
            </a:r>
            <a:endParaRPr sz="2100">
              <a:latin typeface="Calibri"/>
              <a:cs typeface="Calibri"/>
            </a:endParaRPr>
          </a:p>
          <a:p>
            <a:pPr marL="661670" marR="890905" indent="-295910">
              <a:lnSpc>
                <a:spcPts val="2500"/>
              </a:lnSpc>
              <a:spcBef>
                <a:spcPts val="8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Mere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simplification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vocabulary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interface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(i.e.: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labels,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explanations,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etc.)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805"/>
              </a:lnSpc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however: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ts val="2510"/>
              </a:lnSpc>
              <a:spcBef>
                <a:spcPts val="1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language(s)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site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ts val="2510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structure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site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pages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7098" y="6628229"/>
            <a:ext cx="2077993" cy="5499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494702" y="5782053"/>
            <a:ext cx="3576954" cy="1514475"/>
          </a:xfrm>
          <a:custGeom>
            <a:avLst/>
            <a:gdLst/>
            <a:ahLst/>
            <a:cxnLst/>
            <a:rect l="l" t="t" r="r" b="b"/>
            <a:pathLst>
              <a:path w="3576954" h="1514475">
                <a:moveTo>
                  <a:pt x="3576397" y="0"/>
                </a:moveTo>
                <a:lnTo>
                  <a:pt x="0" y="0"/>
                </a:lnTo>
                <a:lnTo>
                  <a:pt x="0" y="1514070"/>
                </a:lnTo>
                <a:lnTo>
                  <a:pt x="3576397" y="1514070"/>
                </a:lnTo>
                <a:lnTo>
                  <a:pt x="35763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95498" y="388917"/>
            <a:ext cx="640905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5"/>
              <a:t> </a:t>
            </a:r>
            <a:r>
              <a:rPr dirty="0"/>
              <a:t>target</a:t>
            </a:r>
            <a:r>
              <a:rPr dirty="0" spc="10"/>
              <a:t> </a:t>
            </a:r>
            <a:r>
              <a:rPr dirty="0"/>
              <a:t>audiences </a:t>
            </a:r>
            <a:r>
              <a:rPr dirty="0" spc="-10"/>
              <a:t>(examples)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01784" y="1510683"/>
            <a:ext cx="4293870" cy="5691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6545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aimed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parents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kids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(5-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12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y.o.)</a:t>
            </a:r>
            <a:endParaRPr sz="19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45"/>
              </a:spcBef>
            </a:pP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Although</a:t>
            </a:r>
            <a:r>
              <a:rPr dirty="0" sz="1400" spc="12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400" spc="11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information/services/</a:t>
            </a:r>
            <a:r>
              <a:rPr dirty="0" sz="1400" spc="10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1400" spc="1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provides</a:t>
            </a:r>
            <a:r>
              <a:rPr dirty="0" sz="1400" spc="12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1400" spc="12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endParaRPr sz="1400">
              <a:latin typeface="Calibri"/>
              <a:cs typeface="Calibri"/>
            </a:endParaRPr>
          </a:p>
          <a:p>
            <a:pPr marL="298450" marR="41910">
              <a:lnSpc>
                <a:spcPct val="104299"/>
              </a:lnSpc>
              <a:spcBef>
                <a:spcPts val="45"/>
              </a:spcBef>
            </a:pP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good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quality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correct,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parents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still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prefer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151515"/>
                </a:solidFill>
                <a:latin typeface="Calibri"/>
                <a:cs typeface="Calibri"/>
              </a:rPr>
              <a:t>call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400" spc="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school</a:t>
            </a:r>
            <a:r>
              <a:rPr dirty="0" sz="1400" spc="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1400" spc="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teacher,</a:t>
            </a:r>
            <a:r>
              <a:rPr dirty="0" sz="1400" spc="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1400" spc="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1400" spc="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1400" spc="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little</a:t>
            </a:r>
            <a:r>
              <a:rPr dirty="0" sz="1400" spc="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1400" spc="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51515"/>
                </a:solidFill>
                <a:latin typeface="Calibri"/>
                <a:cs typeface="Calibri"/>
              </a:rPr>
              <a:t>possible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helped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51515"/>
                </a:solidFill>
                <a:latin typeface="Calibri"/>
                <a:cs typeface="Calibri"/>
              </a:rPr>
              <a:t>operators.</a:t>
            </a:r>
            <a:endParaRPr sz="14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414"/>
              </a:spcBef>
              <a:buAutoNum type="arabicPeriod" startAt="2"/>
              <a:tabLst>
                <a:tab pos="296545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aimed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foreign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immigrants</a:t>
            </a:r>
            <a:endParaRPr sz="19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20"/>
              </a:spcBef>
            </a:pP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products/services</a:t>
            </a:r>
            <a:r>
              <a:rPr dirty="0" sz="1400" spc="11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fine,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400" spc="114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1400" spc="10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endParaRPr sz="1400">
              <a:latin typeface="Calibri"/>
              <a:cs typeface="Calibri"/>
            </a:endParaRPr>
          </a:p>
          <a:p>
            <a:pPr marL="298450" marR="119380">
              <a:lnSpc>
                <a:spcPct val="103299"/>
              </a:lnSpc>
              <a:spcBef>
                <a:spcPts val="65"/>
              </a:spcBef>
            </a:pP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needed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tasks,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sure,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151515"/>
                </a:solidFill>
                <a:latin typeface="Calibri"/>
                <a:cs typeface="Calibri"/>
              </a:rPr>
              <a:t>not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understand,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prefer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51515"/>
                </a:solidFill>
                <a:latin typeface="Calibri"/>
                <a:cs typeface="Calibri"/>
              </a:rPr>
              <a:t>agencies,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intermediareies,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400" spc="1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long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queue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1400" spc="1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physical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51515"/>
                </a:solidFill>
                <a:latin typeface="Calibri"/>
                <a:cs typeface="Calibri"/>
              </a:rPr>
              <a:t>office.</a:t>
            </a:r>
            <a:endParaRPr sz="1400">
              <a:latin typeface="Calibri"/>
              <a:cs typeface="Calibri"/>
            </a:endParaRPr>
          </a:p>
          <a:p>
            <a:pPr marL="193040" indent="-190500">
              <a:lnSpc>
                <a:spcPct val="100000"/>
              </a:lnSpc>
              <a:spcBef>
                <a:spcPts val="409"/>
              </a:spcBef>
              <a:buSzPct val="97368"/>
              <a:buAutoNum type="arabicPeriod" startAt="3"/>
              <a:tabLst>
                <a:tab pos="193040" algn="l"/>
              </a:tabLst>
            </a:pPr>
            <a:r>
              <a:rPr dirty="0" sz="1900" spc="330" strike="sngStrike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trike="sngStrike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1900" spc="-55" strike="sngStrike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trike="sngStrike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1900" spc="-45" strike="sngStrike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strike="sngStrike">
                <a:solidFill>
                  <a:srgbClr val="151515"/>
                </a:solidFill>
                <a:latin typeface="Calibri"/>
                <a:cs typeface="Calibri"/>
              </a:rPr>
              <a:t>smart</a:t>
            </a:r>
            <a:r>
              <a:rPr dirty="0" sz="1900" spc="-50" strike="sngStrike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strike="sngStrike">
                <a:solidFill>
                  <a:srgbClr val="151515"/>
                </a:solidFill>
                <a:latin typeface="Calibri"/>
                <a:cs typeface="Calibri"/>
              </a:rPr>
              <a:t>university</a:t>
            </a:r>
            <a:r>
              <a:rPr dirty="0" sz="1900" spc="-55" strike="sngStrike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strike="sngStrike">
                <a:solidFill>
                  <a:srgbClr val="151515"/>
                </a:solidFill>
                <a:latin typeface="Calibri"/>
                <a:cs typeface="Calibri"/>
              </a:rPr>
              <a:t>students</a:t>
            </a:r>
            <a:r>
              <a:rPr dirty="0" sz="1900" spc="-50" strike="sngStrike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30" strike="sngStrike">
                <a:solidFill>
                  <a:srgbClr val="151515"/>
                </a:solidFill>
                <a:latin typeface="Calibri"/>
                <a:cs typeface="Calibri"/>
              </a:rPr>
              <a:t>19-</a:t>
            </a:r>
            <a:r>
              <a:rPr dirty="0" sz="1900" spc="-25" strike="sngStrike">
                <a:solidFill>
                  <a:srgbClr val="151515"/>
                </a:solidFill>
                <a:latin typeface="Calibri"/>
                <a:cs typeface="Calibri"/>
              </a:rPr>
              <a:t>25</a:t>
            </a:r>
            <a:endParaRPr sz="19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409"/>
              </a:spcBef>
              <a:buAutoNum type="arabicPeriod" startAt="3"/>
              <a:tabLst>
                <a:tab pos="296545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aimed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retired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elderlies</a:t>
            </a:r>
            <a:endParaRPr sz="1900">
              <a:latin typeface="Calibri"/>
              <a:cs typeface="Calibri"/>
            </a:endParaRPr>
          </a:p>
          <a:p>
            <a:pPr marL="298450" marR="234315">
              <a:lnSpc>
                <a:spcPct val="103299"/>
              </a:lnSpc>
              <a:spcBef>
                <a:spcPts val="80"/>
              </a:spcBef>
            </a:pP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51515"/>
                </a:solidFill>
                <a:latin typeface="Calibri"/>
                <a:cs typeface="Calibri"/>
              </a:rPr>
              <a:t>services,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rarely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online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interactive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151515"/>
                </a:solidFill>
                <a:latin typeface="Calibri"/>
                <a:cs typeface="Calibri"/>
              </a:rPr>
              <a:t>get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them,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get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1400" spc="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younger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members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family</a:t>
            </a:r>
            <a:r>
              <a:rPr dirty="0" sz="1400" spc="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400" spc="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1400" spc="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0" i="1">
                <a:solidFill>
                  <a:srgbClr val="151515"/>
                </a:solidFill>
                <a:latin typeface="Calibri"/>
                <a:cs typeface="Calibri"/>
              </a:rPr>
              <a:t>them.</a:t>
            </a:r>
            <a:endParaRPr sz="14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415"/>
              </a:spcBef>
              <a:buAutoNum type="arabicPeriod" startAt="5"/>
              <a:tabLst>
                <a:tab pos="296545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19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aimed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travellers</a:t>
            </a:r>
            <a:endParaRPr sz="1900">
              <a:latin typeface="Calibri"/>
              <a:cs typeface="Calibri"/>
            </a:endParaRPr>
          </a:p>
          <a:p>
            <a:pPr marL="298450" marR="5080">
              <a:lnSpc>
                <a:spcPct val="104299"/>
              </a:lnSpc>
              <a:spcBef>
                <a:spcPts val="45"/>
              </a:spcBef>
            </a:pP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1400" spc="12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business</a:t>
            </a:r>
            <a:r>
              <a:rPr dirty="0" sz="1400" spc="12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travellers,</a:t>
            </a:r>
            <a:r>
              <a:rPr dirty="0" sz="1400" spc="10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tourists</a:t>
            </a:r>
            <a:r>
              <a:rPr dirty="0" sz="1400" spc="12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400" spc="13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commuters.</a:t>
            </a:r>
            <a:r>
              <a:rPr dirty="0" sz="1400" spc="10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151515"/>
                </a:solidFill>
                <a:latin typeface="Calibri"/>
                <a:cs typeface="Calibri"/>
              </a:rPr>
              <a:t>Not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just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tickets,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any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service/product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1400" spc="1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interest.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1400" spc="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want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1400" spc="11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400" spc="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overwhelm</a:t>
            </a:r>
            <a:r>
              <a:rPr dirty="0" sz="1400" spc="11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25" i="1">
                <a:solidFill>
                  <a:srgbClr val="151515"/>
                </a:solidFill>
                <a:latin typeface="Calibri"/>
                <a:cs typeface="Calibri"/>
              </a:rPr>
              <a:t>in-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1400" spc="1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ticket</a:t>
            </a:r>
            <a:r>
              <a:rPr dirty="0" sz="1400" spc="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offices,</a:t>
            </a:r>
            <a:r>
              <a:rPr dirty="0" sz="1400" spc="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tourist</a:t>
            </a:r>
            <a:r>
              <a:rPr dirty="0" sz="1400" spc="1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151515"/>
                </a:solidFill>
                <a:latin typeface="Calibri"/>
                <a:cs typeface="Calibri"/>
              </a:rPr>
              <a:t>centers,</a:t>
            </a:r>
            <a:r>
              <a:rPr dirty="0" sz="1400" spc="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1400" spc="50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151515"/>
                </a:solidFill>
                <a:latin typeface="Calibri"/>
                <a:cs typeface="Calibri"/>
              </a:rPr>
              <a:t>point.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3110" y="1510683"/>
            <a:ext cx="380174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5140" algn="l"/>
              </a:tabLst>
            </a:pPr>
            <a:r>
              <a:rPr dirty="0" sz="1900" spc="-25">
                <a:solidFill>
                  <a:srgbClr val="00B050"/>
                </a:solidFill>
                <a:latin typeface="Calibri"/>
                <a:cs typeface="Calibri"/>
              </a:rPr>
              <a:t>1.</a:t>
            </a: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	Tool</a:t>
            </a:r>
            <a:r>
              <a:rPr dirty="0" sz="1900" spc="-5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per</a:t>
            </a:r>
            <a:r>
              <a:rPr dirty="0" sz="1900" spc="-5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00B050"/>
                </a:solidFill>
                <a:latin typeface="Calibri"/>
                <a:cs typeface="Calibri"/>
              </a:rPr>
              <a:t>genitori</a:t>
            </a:r>
            <a:r>
              <a:rPr dirty="0" sz="1900" spc="-4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di</a:t>
            </a:r>
            <a:r>
              <a:rPr dirty="0" sz="1900" spc="-5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00B050"/>
                </a:solidFill>
                <a:latin typeface="Calibri"/>
                <a:cs typeface="Calibri"/>
              </a:rPr>
              <a:t>bambini</a:t>
            </a:r>
            <a:r>
              <a:rPr dirty="0" sz="1900" spc="-4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00B050"/>
                </a:solidFill>
                <a:latin typeface="Calibri"/>
                <a:cs typeface="Calibri"/>
              </a:rPr>
              <a:t>(5-12)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3110" y="2769507"/>
            <a:ext cx="313118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5140" algn="l"/>
              </a:tabLst>
            </a:pPr>
            <a:r>
              <a:rPr dirty="0" sz="1900" spc="-25">
                <a:solidFill>
                  <a:srgbClr val="00B050"/>
                </a:solidFill>
                <a:latin typeface="Calibri"/>
                <a:cs typeface="Calibri"/>
              </a:rPr>
              <a:t>2.</a:t>
            </a: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	Tool</a:t>
            </a:r>
            <a:r>
              <a:rPr dirty="0" sz="1900" spc="-7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per</a:t>
            </a:r>
            <a:r>
              <a:rPr dirty="0" sz="1900" spc="-7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00B050"/>
                </a:solidFill>
                <a:latin typeface="Calibri"/>
                <a:cs typeface="Calibri"/>
              </a:rPr>
              <a:t>immigrati</a:t>
            </a:r>
            <a:r>
              <a:rPr dirty="0" sz="1900" spc="-8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B050"/>
                </a:solidFill>
                <a:latin typeface="Calibri"/>
                <a:cs typeface="Calibri"/>
              </a:rPr>
              <a:t>stranieri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3110" y="4205245"/>
            <a:ext cx="3825875" cy="70866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485140" indent="-472440">
              <a:lnSpc>
                <a:spcPct val="100000"/>
              </a:lnSpc>
              <a:spcBef>
                <a:spcPts val="505"/>
              </a:spcBef>
              <a:buAutoNum type="arabicPeriod" startAt="3"/>
              <a:tabLst>
                <a:tab pos="485140" algn="l"/>
              </a:tabLst>
            </a:pPr>
            <a:r>
              <a:rPr dirty="0" sz="1900" strike="sngStrike">
                <a:solidFill>
                  <a:srgbClr val="00B050"/>
                </a:solidFill>
                <a:latin typeface="Calibri"/>
                <a:cs typeface="Calibri"/>
              </a:rPr>
              <a:t>Strumenti</a:t>
            </a:r>
            <a:r>
              <a:rPr dirty="0" sz="1900" spc="85" strike="sngStrike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trike="sngStrike">
                <a:solidFill>
                  <a:srgbClr val="00B050"/>
                </a:solidFill>
                <a:latin typeface="Calibri"/>
                <a:cs typeface="Calibri"/>
              </a:rPr>
              <a:t>per</a:t>
            </a:r>
            <a:r>
              <a:rPr dirty="0" sz="1900" spc="95" strike="sngStrike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trike="sngStrike">
                <a:solidFill>
                  <a:srgbClr val="00B050"/>
                </a:solidFill>
                <a:latin typeface="Calibri"/>
                <a:cs typeface="Calibri"/>
              </a:rPr>
              <a:t>studenti</a:t>
            </a:r>
            <a:r>
              <a:rPr dirty="0" sz="1900" spc="90" strike="sngStrike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70" strike="sngStrike">
                <a:solidFill>
                  <a:srgbClr val="00B050"/>
                </a:solidFill>
                <a:latin typeface="Calibri"/>
                <a:cs typeface="Calibri"/>
              </a:rPr>
              <a:t>universitari</a:t>
            </a:r>
            <a:endParaRPr sz="19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409"/>
              </a:spcBef>
              <a:buAutoNum type="arabicPeriod" startAt="3"/>
              <a:tabLst>
                <a:tab pos="485140" algn="l"/>
              </a:tabLst>
            </a:pP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Tool</a:t>
            </a:r>
            <a:r>
              <a:rPr dirty="0" sz="1900" spc="-6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per</a:t>
            </a:r>
            <a:r>
              <a:rPr dirty="0" sz="1900" spc="-6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00B050"/>
                </a:solidFill>
                <a:latin typeface="Calibri"/>
                <a:cs typeface="Calibri"/>
              </a:rPr>
              <a:t>pensionati</a:t>
            </a:r>
            <a:r>
              <a:rPr dirty="0" sz="1900" spc="-7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B050"/>
                </a:solidFill>
                <a:latin typeface="Calibri"/>
                <a:cs typeface="Calibri"/>
              </a:rPr>
              <a:t>anziani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3110" y="5857131"/>
            <a:ext cx="235775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5140" algn="l"/>
              </a:tabLst>
            </a:pPr>
            <a:r>
              <a:rPr dirty="0" sz="1900" spc="-25">
                <a:solidFill>
                  <a:srgbClr val="00B050"/>
                </a:solidFill>
                <a:latin typeface="Calibri"/>
                <a:cs typeface="Calibri"/>
              </a:rPr>
              <a:t>5.</a:t>
            </a: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	Tool</a:t>
            </a:r>
            <a:r>
              <a:rPr dirty="0" sz="1900" spc="-8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0B050"/>
                </a:solidFill>
                <a:latin typeface="Calibri"/>
                <a:cs typeface="Calibri"/>
              </a:rPr>
              <a:t>per</a:t>
            </a:r>
            <a:r>
              <a:rPr dirty="0" sz="1900" spc="-8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0B050"/>
                </a:solidFill>
                <a:latin typeface="Calibri"/>
                <a:cs typeface="Calibri"/>
              </a:rPr>
              <a:t>viaggiatori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43417"/>
            <a:ext cx="1284269" cy="10592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97965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Common</a:t>
            </a:r>
            <a:r>
              <a:rPr dirty="0" sz="2900" spc="-70"/>
              <a:t> </a:t>
            </a:r>
            <a:r>
              <a:rPr dirty="0" sz="2900"/>
              <a:t>aspects</a:t>
            </a:r>
            <a:r>
              <a:rPr dirty="0" sz="2900" spc="-70"/>
              <a:t> </a:t>
            </a:r>
            <a:r>
              <a:rPr dirty="0" sz="2900"/>
              <a:t>of</a:t>
            </a:r>
            <a:r>
              <a:rPr dirty="0" sz="2900" spc="-60"/>
              <a:t> </a:t>
            </a:r>
            <a:r>
              <a:rPr dirty="0" sz="2900"/>
              <a:t>all</a:t>
            </a:r>
            <a:r>
              <a:rPr dirty="0" sz="2900" spc="-65"/>
              <a:t> </a:t>
            </a:r>
            <a:r>
              <a:rPr dirty="0" sz="2900" spc="-10"/>
              <a:t>projects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1401784" y="1498457"/>
            <a:ext cx="8281034" cy="523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 marR="45085" indent="-1016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site/subsite/mobile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app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motivating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version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existing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one.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25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content</a:t>
            </a:r>
            <a:r>
              <a:rPr dirty="0" sz="25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22225" marR="11430" indent="-10160">
              <a:lnSpc>
                <a:spcPct val="100299"/>
              </a:lnSpc>
              <a:spcBef>
                <a:spcPts val="119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selected</a:t>
            </a:r>
            <a:r>
              <a:rPr dirty="0" sz="25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type</a:t>
            </a:r>
            <a:r>
              <a:rPr dirty="0" sz="25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5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precisely.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cater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generic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Mario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Rossi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user: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they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address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special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identify,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define, describe.</a:t>
            </a:r>
            <a:endParaRPr sz="2500">
              <a:latin typeface="Calibri"/>
              <a:cs typeface="Calibri"/>
            </a:endParaRPr>
          </a:p>
          <a:p>
            <a:pPr marL="22225" marR="5080" indent="-10160">
              <a:lnSpc>
                <a:spcPct val="100000"/>
              </a:lnSpc>
              <a:spcBef>
                <a:spcPts val="13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identify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reason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lack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trust/confidence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products/services/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address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adequately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precisely.</a:t>
            </a:r>
            <a:endParaRPr sz="2500">
              <a:latin typeface="Calibri"/>
              <a:cs typeface="Calibri"/>
            </a:endParaRPr>
          </a:p>
          <a:p>
            <a:pPr marL="22225" marR="2490470" indent="-10160">
              <a:lnSpc>
                <a:spcPct val="100000"/>
              </a:lnSpc>
              <a:spcBef>
                <a:spcPts val="12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large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freedom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decisions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within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framework.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it!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creative!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Design</a:t>
            </a:r>
            <a:r>
              <a:rPr dirty="0" spc="5"/>
              <a:t> </a:t>
            </a:r>
            <a:r>
              <a:rPr dirty="0" spc="-10"/>
              <a:t>fiction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441" y="1400921"/>
            <a:ext cx="8672195" cy="5224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133985" indent="-3549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whenever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possible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narrative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dramaturgical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approaches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analysis,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evaluation,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documentation.</a:t>
            </a:r>
            <a:endParaRPr sz="2500">
              <a:latin typeface="Calibri"/>
              <a:cs typeface="Calibri"/>
            </a:endParaRPr>
          </a:p>
          <a:p>
            <a:pPr marL="367030" marR="316865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Narrative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approaches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explainable connection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aspects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analysis,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design, evaluation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took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place,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show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exactly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this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connection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trivial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actually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meaningful.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Please document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correctly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interaction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narrative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actual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design.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Clr>
                <a:srgbClr val="151515"/>
              </a:buClr>
              <a:buFont typeface="Wingdings"/>
              <a:buChar char=""/>
            </a:pP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year’s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regards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specifically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intermediation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must: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Consider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trusting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site;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Consider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confident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own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ability;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Consider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relying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external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complete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Evaluation</a:t>
            </a:r>
            <a:r>
              <a:rPr dirty="0" spc="10"/>
              <a:t> </a:t>
            </a:r>
            <a:r>
              <a:rPr dirty="0"/>
              <a:t>of the</a:t>
            </a:r>
            <a:r>
              <a:rPr dirty="0" spc="1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05499"/>
            <a:ext cx="8315959" cy="454342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Functional</a:t>
            </a:r>
            <a:r>
              <a:rPr dirty="0" sz="2500" spc="-114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aspects</a:t>
            </a:r>
            <a:endParaRPr sz="2500">
              <a:latin typeface="Calibri"/>
              <a:cs typeface="Calibri"/>
            </a:endParaRPr>
          </a:p>
          <a:p>
            <a:pPr lvl="1" marL="661670" marR="191770" indent="-295910">
              <a:lnSpc>
                <a:spcPts val="2500"/>
              </a:lnSpc>
              <a:spcBef>
                <a:spcPts val="7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Credible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content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2100">
              <a:latin typeface="Calibri"/>
              <a:cs typeface="Calibri"/>
            </a:endParaRPr>
          </a:p>
          <a:p>
            <a:pPr lvl="1" marL="661670" marR="5080" indent="-295910">
              <a:lnSpc>
                <a:spcPct val="99400"/>
              </a:lnSpc>
              <a:spcBef>
                <a:spcPts val="409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assume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already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completed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most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1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of common</a:t>
            </a:r>
            <a:r>
              <a:rPr dirty="0" sz="2100" spc="-9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features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(e.g.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registration,</a:t>
            </a:r>
            <a:r>
              <a:rPr dirty="0" sz="21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login,</a:t>
            </a:r>
            <a:r>
              <a:rPr dirty="0" sz="21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forum,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FAQ,</a:t>
            </a:r>
            <a:r>
              <a:rPr dirty="0" sz="21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etc.).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Therefore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just</a:t>
            </a:r>
            <a:r>
              <a:rPr dirty="0" sz="2100" spc="-10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focus</a:t>
            </a:r>
            <a:r>
              <a:rPr dirty="0" sz="2100" spc="-9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10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features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9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10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goals</a:t>
            </a:r>
            <a:r>
              <a:rPr dirty="0" sz="2100" spc="-9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main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audience.</a:t>
            </a:r>
            <a:endParaRPr sz="2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00"/>
              </a:spcBef>
              <a:buClr>
                <a:srgbClr val="333399"/>
              </a:buClr>
              <a:buFont typeface="Arial MT"/>
              <a:buChar char="◆"/>
            </a:pP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buFont typeface="Wingdings"/>
              <a:buChar char=""/>
              <a:tabLst>
                <a:tab pos="36703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Non-functional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aspects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features</a:t>
            </a:r>
            <a:endParaRPr sz="2500">
              <a:latin typeface="Calibri"/>
              <a:cs typeface="Calibri"/>
            </a:endParaRPr>
          </a:p>
          <a:p>
            <a:pPr lvl="1" marL="661670" marR="662305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Credible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experience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details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creative.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bold.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daring.</a:t>
            </a:r>
            <a:r>
              <a:rPr dirty="0" sz="2100" spc="-6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Surprise</a:t>
            </a:r>
            <a:r>
              <a:rPr dirty="0" sz="21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b="1" i="1">
                <a:solidFill>
                  <a:srgbClr val="151515"/>
                </a:solidFill>
                <a:latin typeface="Calibri"/>
                <a:cs typeface="Calibri"/>
              </a:rPr>
              <a:t>me.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Assessment</a:t>
            </a:r>
            <a:r>
              <a:rPr dirty="0" spc="65"/>
              <a:t> </a:t>
            </a:r>
            <a:r>
              <a:rPr dirty="0" spc="-10"/>
              <a:t>Criteria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60080" cy="4996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evaluated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taking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into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account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seven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criteria.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obtain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5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points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each,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grand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total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35.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5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8514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Relevance</a:t>
            </a:r>
            <a:endParaRPr sz="25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  <a:spcBef>
                <a:spcPts val="615"/>
              </a:spcBef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addressing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right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problems?</a:t>
            </a:r>
            <a:endParaRPr sz="21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464"/>
              </a:spcBef>
              <a:buAutoNum type="arabicPeriod" startAt="2"/>
              <a:tabLst>
                <a:tab pos="48514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Coherence</a:t>
            </a:r>
            <a:endParaRPr sz="2500">
              <a:latin typeface="Calibri"/>
              <a:cs typeface="Calibri"/>
            </a:endParaRPr>
          </a:p>
          <a:p>
            <a:pPr marL="306705" marR="924560">
              <a:lnSpc>
                <a:spcPct val="119000"/>
              </a:lnSpc>
              <a:spcBef>
                <a:spcPts val="135"/>
              </a:spcBef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toolfit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respect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similar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external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services?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internally</a:t>
            </a:r>
            <a:r>
              <a:rPr dirty="0" sz="21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coherent?</a:t>
            </a:r>
            <a:endParaRPr sz="21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489"/>
              </a:spcBef>
              <a:buAutoNum type="arabicPeriod" startAt="3"/>
              <a:tabLst>
                <a:tab pos="48514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Effectiveness</a:t>
            </a:r>
            <a:endParaRPr sz="25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  <a:spcBef>
                <a:spcPts val="590"/>
              </a:spcBef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redesign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actually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achieving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its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objectives?</a:t>
            </a:r>
            <a:endParaRPr sz="21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489"/>
              </a:spcBef>
              <a:buAutoNum type="arabicPeriod" startAt="4"/>
              <a:tabLst>
                <a:tab pos="48514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Feasibility</a:t>
            </a:r>
            <a:endParaRPr sz="25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  <a:spcBef>
                <a:spcPts val="590"/>
              </a:spcBef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10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resources</a:t>
            </a:r>
            <a:r>
              <a:rPr dirty="0" sz="2100" spc="-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being</a:t>
            </a:r>
            <a:r>
              <a:rPr dirty="0" sz="2100" spc="-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used?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Assessment</a:t>
            </a:r>
            <a:r>
              <a:rPr dirty="0" spc="65"/>
              <a:t> </a:t>
            </a:r>
            <a:r>
              <a:rPr dirty="0" spc="-10"/>
              <a:t>Criteria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60080" cy="41579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evaluated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taking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into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account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seven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criteria.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obtain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5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points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each,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grand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total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35.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5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8514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Impact</a:t>
            </a:r>
            <a:endParaRPr sz="25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  <a:spcBef>
                <a:spcPts val="615"/>
              </a:spcBef>
            </a:pP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differences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intended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audience?</a:t>
            </a:r>
            <a:endParaRPr sz="21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464"/>
              </a:spcBef>
              <a:buAutoNum type="arabicPeriod" startAt="6"/>
              <a:tabLst>
                <a:tab pos="48514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Sustainability</a:t>
            </a:r>
            <a:endParaRPr sz="25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  <a:spcBef>
                <a:spcPts val="615"/>
              </a:spcBef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benefits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last?</a:t>
            </a:r>
            <a:endParaRPr sz="21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  <a:spcBef>
                <a:spcPts val="480"/>
              </a:spcBef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easy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maintain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expand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new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features?</a:t>
            </a:r>
            <a:endParaRPr sz="21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484"/>
              </a:spcBef>
              <a:buAutoNum type="arabicPeriod" startAt="7"/>
              <a:tabLst>
                <a:tab pos="48514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Persuasiveness</a:t>
            </a:r>
            <a:endParaRPr sz="25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  <a:spcBef>
                <a:spcPts val="595"/>
              </a:spcBef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ultimately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convincing?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Relevance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359" y="3674362"/>
            <a:ext cx="283765" cy="264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374" y="5205982"/>
            <a:ext cx="291703" cy="2819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1784" y="1422428"/>
            <a:ext cx="8303895" cy="493204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addressing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right</a:t>
            </a:r>
            <a:r>
              <a:rPr dirty="0" sz="25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problems?</a:t>
            </a:r>
            <a:endParaRPr sz="2500">
              <a:latin typeface="Calibri"/>
              <a:cs typeface="Calibri"/>
            </a:endParaRPr>
          </a:p>
          <a:p>
            <a:pPr marL="306705" marR="5080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extent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objectives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respond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stakeholders/clients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needs,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policies,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priorities,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continue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circumstances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change.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5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Do’s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6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clear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about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objectives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plan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design.</a:t>
            </a:r>
            <a:endParaRPr sz="2100">
              <a:latin typeface="Calibri"/>
              <a:cs typeface="Calibri"/>
            </a:endParaRPr>
          </a:p>
          <a:p>
            <a:pPr marL="661670" marR="29464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clear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about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goals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whom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are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designing.</a:t>
            </a:r>
            <a:endParaRPr sz="21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  <a:spcBef>
                <a:spcPts val="400"/>
              </a:spcBef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Don’t’s: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5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Designing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generically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loosely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trying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please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everyone.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Avoid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choosing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Coherence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359" y="3217162"/>
            <a:ext cx="283765" cy="264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374" y="5065774"/>
            <a:ext cx="291703" cy="2819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1784" y="1498457"/>
            <a:ext cx="8293734" cy="573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 marR="598805" indent="-10160">
              <a:lnSpc>
                <a:spcPct val="100000"/>
              </a:lnSpc>
              <a:spcBef>
                <a:spcPts val="100"/>
              </a:spcBef>
            </a:pP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500" spc="-9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25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25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fit</a:t>
            </a:r>
            <a:r>
              <a:rPr dirty="0" sz="2500" spc="-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respect</a:t>
            </a:r>
            <a:r>
              <a:rPr dirty="0" sz="2500" spc="-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similar</a:t>
            </a:r>
            <a:r>
              <a:rPr dirty="0" sz="25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external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services?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25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internally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coherent?</a:t>
            </a:r>
            <a:endParaRPr sz="2500">
              <a:latin typeface="Calibri"/>
              <a:cs typeface="Calibri"/>
            </a:endParaRPr>
          </a:p>
          <a:p>
            <a:pPr marL="365760" marR="168910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compatibility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competitors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that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answer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similar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questions.</a:t>
            </a:r>
            <a:endParaRPr sz="25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  <a:spcBef>
                <a:spcPts val="600"/>
              </a:spcBef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Do’s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endParaRPr sz="2500">
              <a:latin typeface="Calibri"/>
              <a:cs typeface="Calibri"/>
            </a:endParaRPr>
          </a:p>
          <a:p>
            <a:pPr marL="661670" marR="39878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Consider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context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being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designed.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Match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between system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world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(Nielsen’s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Second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Heuristic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).</a:t>
            </a:r>
            <a:endParaRPr sz="2100">
              <a:latin typeface="Calibri"/>
              <a:cs typeface="Calibri"/>
            </a:endParaRPr>
          </a:p>
          <a:p>
            <a:pPr marL="661670" marR="269875" indent="-295910">
              <a:lnSpc>
                <a:spcPts val="2500"/>
              </a:lnSpc>
              <a:spcBef>
                <a:spcPts val="4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consistent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keep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same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language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throughout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avoid</a:t>
            </a:r>
            <a:r>
              <a:rPr dirty="0" sz="2100" spc="-114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confusion.</a:t>
            </a:r>
            <a:endParaRPr sz="21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  <a:spcBef>
                <a:spcPts val="405"/>
              </a:spcBef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Don’t’s: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5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Reinvent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wheel.</a:t>
            </a:r>
            <a:endParaRPr sz="2100">
              <a:latin typeface="Calibri"/>
              <a:cs typeface="Calibri"/>
            </a:endParaRPr>
          </a:p>
          <a:p>
            <a:pPr marL="661670" marR="5080" indent="-295910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Confuse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extremely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sophisticated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clunky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clever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solutions.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haven’t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seen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before,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there’s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probably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good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reason.</a:t>
            </a:r>
            <a:endParaRPr sz="2100">
              <a:latin typeface="Calibri"/>
              <a:cs typeface="Calibri"/>
            </a:endParaRPr>
          </a:p>
          <a:p>
            <a:pPr marL="661670" marR="265684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Designing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(atomic)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elements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 without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regard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connect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others.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Effectiveness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359" y="3674362"/>
            <a:ext cx="283765" cy="264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374" y="5205982"/>
            <a:ext cx="291703" cy="2819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1784" y="1422428"/>
            <a:ext cx="8183245" cy="518795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redesign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actually</a:t>
            </a:r>
            <a:r>
              <a:rPr dirty="0" sz="25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achieving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its</a:t>
            </a:r>
            <a:r>
              <a:rPr dirty="0" sz="25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objectives?</a:t>
            </a:r>
            <a:endParaRPr sz="2500">
              <a:latin typeface="Calibri"/>
              <a:cs typeface="Calibri"/>
            </a:endParaRPr>
          </a:p>
          <a:p>
            <a:pPr marL="306705" marR="5080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extent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intervention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achieved,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expected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achieve,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objectives,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results,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including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any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differential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across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groups.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5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Do’s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endParaRPr sz="2500">
              <a:latin typeface="Calibri"/>
              <a:cs typeface="Calibri"/>
            </a:endParaRPr>
          </a:p>
          <a:p>
            <a:pPr marL="661670" marR="219075" indent="-295910">
              <a:lnSpc>
                <a:spcPts val="2500"/>
              </a:lnSpc>
              <a:spcBef>
                <a:spcPts val="7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comprehensively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extensively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order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obtain enough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claiming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tangible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improvements.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I’s: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Iterate,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iterate,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iterate.</a:t>
            </a:r>
            <a:endParaRPr sz="21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  <a:spcBef>
                <a:spcPts val="484"/>
              </a:spcBef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Don’t’s:</a:t>
            </a:r>
            <a:endParaRPr sz="2500">
              <a:latin typeface="Calibri"/>
              <a:cs typeface="Calibri"/>
            </a:endParaRPr>
          </a:p>
          <a:p>
            <a:pPr marL="661670" marR="109220" indent="-295910">
              <a:lnSpc>
                <a:spcPct val="99500"/>
              </a:lnSpc>
              <a:spcBef>
                <a:spcPts val="60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(one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following):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few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(e.g.,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&lt;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3),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biased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(e.g.,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loved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ones),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imaginary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(i.e.,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real),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target users.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Feasibility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359" y="3293362"/>
            <a:ext cx="283765" cy="264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374" y="5141974"/>
            <a:ext cx="291703" cy="281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b="0">
                <a:latin typeface="Calibri"/>
                <a:cs typeface="Calibri"/>
              </a:rPr>
              <a:t>How</a:t>
            </a:r>
            <a:r>
              <a:rPr dirty="0" spc="-9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well</a:t>
            </a:r>
            <a:r>
              <a:rPr dirty="0" spc="-8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are</a:t>
            </a:r>
            <a:r>
              <a:rPr dirty="0" spc="-8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resources</a:t>
            </a:r>
            <a:r>
              <a:rPr dirty="0" spc="-8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being</a:t>
            </a:r>
            <a:r>
              <a:rPr dirty="0" spc="-8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used?</a:t>
            </a:r>
          </a:p>
          <a:p>
            <a:pPr marL="306705" marR="471805">
              <a:lnSpc>
                <a:spcPct val="100000"/>
              </a:lnSpc>
              <a:spcBef>
                <a:spcPts val="600"/>
              </a:spcBef>
            </a:pP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extent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to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which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intervention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delivers,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or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is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likely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spc="-25" b="0" i="0">
                <a:latin typeface="Calibri"/>
                <a:cs typeface="Calibri"/>
              </a:rPr>
              <a:t>to </a:t>
            </a:r>
            <a:r>
              <a:rPr dirty="0" b="0" i="0">
                <a:latin typeface="Calibri"/>
                <a:cs typeface="Calibri"/>
              </a:rPr>
              <a:t>deliver,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results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in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economic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and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timely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spc="-20" b="0" i="0">
                <a:latin typeface="Calibri"/>
                <a:cs typeface="Calibri"/>
              </a:rPr>
              <a:t>way.</a:t>
            </a:r>
          </a:p>
          <a:p>
            <a:pPr>
              <a:lnSpc>
                <a:spcPct val="100000"/>
              </a:lnSpc>
              <a:spcBef>
                <a:spcPts val="1145"/>
              </a:spcBef>
            </a:pPr>
          </a:p>
          <a:p>
            <a:pPr marL="398145">
              <a:lnSpc>
                <a:spcPct val="100000"/>
              </a:lnSpc>
            </a:pPr>
            <a:r>
              <a:rPr dirty="0" spc="-10" i="0">
                <a:latin typeface="Calibri"/>
                <a:cs typeface="Calibri"/>
              </a:rPr>
              <a:t>Do’s</a:t>
            </a:r>
            <a:r>
              <a:rPr dirty="0" spc="-10" b="0" i="0">
                <a:latin typeface="Calibri"/>
                <a:cs typeface="Calibri"/>
              </a:rPr>
              <a:t>:</a:t>
            </a:r>
          </a:p>
          <a:p>
            <a:pPr marL="662305" indent="-296545">
              <a:lnSpc>
                <a:spcPct val="100000"/>
              </a:lnSpc>
              <a:spcBef>
                <a:spcPts val="6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b="0" i="0">
                <a:latin typeface="Calibri"/>
                <a:cs typeface="Calibri"/>
              </a:rPr>
              <a:t>As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name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suggests,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feasibility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study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is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crucial!</a:t>
            </a:r>
            <a:endParaRPr sz="2100">
              <a:latin typeface="Calibri"/>
              <a:cs typeface="Calibri"/>
            </a:endParaRPr>
          </a:p>
          <a:p>
            <a:pPr marL="661670" marR="508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 b="0" i="0">
                <a:latin typeface="Calibri"/>
                <a:cs typeface="Calibri"/>
              </a:rPr>
              <a:t>Prefer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simple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tools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(e.g.,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pen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and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paper)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to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sketch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simple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but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efficient mockups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rather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than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using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complex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solutions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that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cost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time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and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energy </a:t>
            </a:r>
            <a:r>
              <a:rPr dirty="0" sz="2100" b="0" i="0">
                <a:latin typeface="Calibri"/>
                <a:cs typeface="Calibri"/>
              </a:rPr>
              <a:t>(and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will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probably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be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discarded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by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client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nonetheless).</a:t>
            </a:r>
            <a:endParaRPr sz="21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  <a:spcBef>
                <a:spcPts val="400"/>
              </a:spcBef>
            </a:pPr>
            <a:r>
              <a:rPr dirty="0" spc="-10" i="0">
                <a:latin typeface="Calibri"/>
                <a:cs typeface="Calibri"/>
              </a:rPr>
              <a:t>Don’t’s:</a:t>
            </a:r>
          </a:p>
          <a:p>
            <a:pPr marL="661670" marR="326390" indent="-295910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 b="0" i="0">
                <a:latin typeface="Calibri"/>
                <a:cs typeface="Calibri"/>
              </a:rPr>
              <a:t>Propose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fascinating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but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hardly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believable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or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shockingly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expensive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25" b="0" i="0">
                <a:latin typeface="Calibri"/>
                <a:cs typeface="Calibri"/>
              </a:rPr>
              <a:t>(in </a:t>
            </a:r>
            <a:r>
              <a:rPr dirty="0" sz="2100" b="0" i="0">
                <a:latin typeface="Calibri"/>
                <a:cs typeface="Calibri"/>
              </a:rPr>
              <a:t>terms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time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or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resources)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features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for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your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system.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b="0" i="0">
                <a:latin typeface="Calibri"/>
                <a:cs typeface="Calibri"/>
              </a:rPr>
              <a:t>Put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aesthetics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above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functionalities.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Impact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359" y="3979162"/>
            <a:ext cx="283765" cy="264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374" y="5129782"/>
            <a:ext cx="291703" cy="281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b="0">
                <a:latin typeface="Calibri"/>
                <a:cs typeface="Calibri"/>
              </a:rPr>
              <a:t>What</a:t>
            </a:r>
            <a:r>
              <a:rPr dirty="0" spc="-11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differences</a:t>
            </a:r>
            <a:r>
              <a:rPr dirty="0" spc="-9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does</a:t>
            </a:r>
            <a:r>
              <a:rPr dirty="0" spc="-10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the</a:t>
            </a:r>
            <a:r>
              <a:rPr dirty="0" spc="-9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project</a:t>
            </a:r>
            <a:r>
              <a:rPr dirty="0" spc="-9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make?</a:t>
            </a:r>
          </a:p>
          <a:p>
            <a:pPr marL="306705" marR="10795">
              <a:lnSpc>
                <a:spcPct val="100000"/>
              </a:lnSpc>
              <a:spcBef>
                <a:spcPts val="600"/>
              </a:spcBef>
            </a:pP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extent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to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which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intervention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has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generated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or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spc="-25" b="0" i="0">
                <a:latin typeface="Calibri"/>
                <a:cs typeface="Calibri"/>
              </a:rPr>
              <a:t>is </a:t>
            </a:r>
            <a:r>
              <a:rPr dirty="0" spc="-10" b="0" i="0">
                <a:latin typeface="Calibri"/>
                <a:cs typeface="Calibri"/>
              </a:rPr>
              <a:t>expected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to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generate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significant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positive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or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negative,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intended </a:t>
            </a:r>
            <a:r>
              <a:rPr dirty="0" b="0" i="0">
                <a:latin typeface="Calibri"/>
                <a:cs typeface="Calibri"/>
              </a:rPr>
              <a:t>or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unintended,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spc="-20" b="0" i="0">
                <a:latin typeface="Calibri"/>
                <a:cs typeface="Calibri"/>
              </a:rPr>
              <a:t>higher-</a:t>
            </a:r>
            <a:r>
              <a:rPr dirty="0" b="0" i="0">
                <a:latin typeface="Calibri"/>
                <a:cs typeface="Calibri"/>
              </a:rPr>
              <a:t>level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effects.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Does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service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positively </a:t>
            </a:r>
            <a:r>
              <a:rPr dirty="0" b="0" i="0">
                <a:latin typeface="Calibri"/>
                <a:cs typeface="Calibri"/>
              </a:rPr>
              <a:t>change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way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users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relate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to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it?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Does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it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promise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and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achieve </a:t>
            </a:r>
            <a:r>
              <a:rPr dirty="0" b="0" i="0">
                <a:latin typeface="Calibri"/>
                <a:cs typeface="Calibri"/>
              </a:rPr>
              <a:t>a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change</a:t>
            </a:r>
            <a:r>
              <a:rPr dirty="0" spc="-5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in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perspective</a:t>
            </a:r>
            <a:r>
              <a:rPr dirty="0" spc="-5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from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community?</a:t>
            </a:r>
          </a:p>
          <a:p>
            <a:pPr marL="398145">
              <a:lnSpc>
                <a:spcPct val="100000"/>
              </a:lnSpc>
              <a:spcBef>
                <a:spcPts val="600"/>
              </a:spcBef>
            </a:pPr>
            <a:r>
              <a:rPr dirty="0" spc="-10" i="0">
                <a:latin typeface="Calibri"/>
                <a:cs typeface="Calibri"/>
              </a:rPr>
              <a:t>Do’s</a:t>
            </a:r>
            <a:r>
              <a:rPr dirty="0" spc="-10" b="0" i="0">
                <a:latin typeface="Calibri"/>
                <a:cs typeface="Calibri"/>
              </a:rPr>
              <a:t>:</a:t>
            </a:r>
          </a:p>
          <a:p>
            <a:pPr marL="661670" marR="508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b="0" i="0">
                <a:latin typeface="Calibri"/>
                <a:cs typeface="Calibri"/>
              </a:rPr>
              <a:t>Think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about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effect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your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redesign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in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long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run.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E.g.,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does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it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help </a:t>
            </a:r>
            <a:r>
              <a:rPr dirty="0" sz="2100" b="0" i="0">
                <a:latin typeface="Calibri"/>
                <a:cs typeface="Calibri"/>
              </a:rPr>
              <a:t>to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improve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traffic,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build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confidence,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promote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trust?</a:t>
            </a:r>
            <a:endParaRPr sz="21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  <a:spcBef>
                <a:spcPts val="405"/>
              </a:spcBef>
            </a:pPr>
            <a:r>
              <a:rPr dirty="0" spc="-10" i="0">
                <a:latin typeface="Calibri"/>
                <a:cs typeface="Calibri"/>
              </a:rPr>
              <a:t>Don’t’s:</a:t>
            </a:r>
          </a:p>
          <a:p>
            <a:pPr marL="661670" marR="325120" indent="-295910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 b="0" i="0">
                <a:latin typeface="Calibri"/>
                <a:cs typeface="Calibri"/>
              </a:rPr>
              <a:t>Redesigning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service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that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was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already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very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bad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or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pointless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to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begin with.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Sustainability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359" y="4131562"/>
            <a:ext cx="283765" cy="264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374" y="5663182"/>
            <a:ext cx="291703" cy="2819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1784" y="1422428"/>
            <a:ext cx="8145780" cy="532828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benefits</a:t>
            </a:r>
            <a:r>
              <a:rPr dirty="0" sz="25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i="1">
                <a:solidFill>
                  <a:srgbClr val="151515"/>
                </a:solidFill>
                <a:latin typeface="Calibri"/>
                <a:cs typeface="Calibri"/>
              </a:rPr>
              <a:t>last?</a:t>
            </a:r>
            <a:endParaRPr sz="2500">
              <a:latin typeface="Calibri"/>
              <a:cs typeface="Calibri"/>
            </a:endParaRPr>
          </a:p>
          <a:p>
            <a:pPr marL="306705" marR="497205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extent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benefits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redesign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will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continue,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likely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continue.</a:t>
            </a:r>
            <a:endParaRPr sz="2500">
              <a:latin typeface="Calibri"/>
              <a:cs typeface="Calibri"/>
            </a:endParaRPr>
          </a:p>
          <a:p>
            <a:pPr marL="306705" marR="746760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extend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new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advanced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content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5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Do’s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6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thinking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about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flexibility,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scalability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reusability.</a:t>
            </a:r>
            <a:endParaRPr sz="2100">
              <a:latin typeface="Calibri"/>
              <a:cs typeface="Calibri"/>
            </a:endParaRPr>
          </a:p>
          <a:p>
            <a:pPr marL="661670" marR="389255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21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recognize,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diagnose,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recover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errors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(Nielsen’s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Ninth</a:t>
            </a:r>
            <a:r>
              <a:rPr dirty="0" sz="2100" spc="-11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Heuristic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).</a:t>
            </a:r>
            <a:endParaRPr sz="2100">
              <a:latin typeface="Calibri"/>
              <a:cs typeface="Calibri"/>
            </a:endParaRPr>
          </a:p>
          <a:p>
            <a:pPr marL="398145">
              <a:lnSpc>
                <a:spcPct val="100000"/>
              </a:lnSpc>
              <a:spcBef>
                <a:spcPts val="400"/>
              </a:spcBef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Don’t’s:</a:t>
            </a:r>
            <a:endParaRPr sz="2500">
              <a:latin typeface="Calibri"/>
              <a:cs typeface="Calibri"/>
            </a:endParaRPr>
          </a:p>
          <a:p>
            <a:pPr marL="661670" marR="5080" indent="-295910">
              <a:lnSpc>
                <a:spcPct val="100000"/>
              </a:lnSpc>
              <a:spcBef>
                <a:spcPts val="5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Avoid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long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convoluted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journey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(Information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Architecture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is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friend!)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Persuasiveness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349615" cy="513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ultimately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convincing?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500">
              <a:latin typeface="Calibri"/>
              <a:cs typeface="Calibri"/>
            </a:endParaRPr>
          </a:p>
          <a:p>
            <a:pPr marL="661670" marR="221615" indent="-295910">
              <a:lnSpc>
                <a:spcPct val="99200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better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worse,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mostly)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critical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interpretive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effort,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ongoing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dialogue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humans,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machines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world.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always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best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choice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hand,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one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cannot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always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stick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plan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follow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guidelines.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Therefore,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properly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neither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nor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science.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call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rigorous discourse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knowledge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combine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certain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amount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creativity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analytical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elements.</a:t>
            </a:r>
            <a:endParaRPr sz="2100">
              <a:latin typeface="Calibri"/>
              <a:cs typeface="Calibri"/>
            </a:endParaRPr>
          </a:p>
          <a:p>
            <a:pPr marL="661670" marR="5080" indent="-295910">
              <a:lnSpc>
                <a:spcPct val="99200"/>
              </a:lnSpc>
              <a:spcBef>
                <a:spcPts val="50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reasons,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criterion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5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persuasiveness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ability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convince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5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quality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absolute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criterion,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nor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reduced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rhetorical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ability,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rather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insights,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creative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out-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of-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box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solutions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persuasive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74584" y="2563134"/>
            <a:ext cx="4607560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</a:rPr>
              <a:t>Project</a:t>
            </a:r>
            <a:r>
              <a:rPr dirty="0" sz="4100" spc="-15">
                <a:solidFill>
                  <a:srgbClr val="FFFFFF"/>
                </a:solidFill>
              </a:rPr>
              <a:t> </a:t>
            </a:r>
            <a:r>
              <a:rPr dirty="0" sz="4100" spc="-10">
                <a:solidFill>
                  <a:srgbClr val="FFFFFF"/>
                </a:solidFill>
              </a:rPr>
              <a:t>Management</a:t>
            </a:r>
            <a:endParaRPr sz="4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Documentation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512704"/>
            <a:ext cx="8319770" cy="34582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67030" marR="239395" indent="-354965">
              <a:lnSpc>
                <a:spcPts val="2500"/>
              </a:lnSpc>
              <a:spcBef>
                <a:spcPts val="2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half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work.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plan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evaluation,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document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appropriately</a:t>
            </a:r>
            <a:endParaRPr sz="2100">
              <a:latin typeface="Calibri"/>
              <a:cs typeface="Calibri"/>
            </a:endParaRPr>
          </a:p>
          <a:p>
            <a:pPr marL="367030" marR="551815" indent="-354965">
              <a:lnSpc>
                <a:spcPts val="2500"/>
              </a:lnSpc>
              <a:spcBef>
                <a:spcPts val="49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conduct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controllable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repeatable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way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following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precise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phases,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activities,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outcomes,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  <a:p>
            <a:pPr marL="367030" marR="118745" indent="-354965">
              <a:lnSpc>
                <a:spcPct val="100000"/>
              </a:lnSpc>
              <a:spcBef>
                <a:spcPts val="39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good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bad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documentation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evaluated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WORSE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than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bad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good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documentation.</a:t>
            </a:r>
            <a:endParaRPr sz="2100">
              <a:latin typeface="Calibri"/>
              <a:cs typeface="Calibri"/>
            </a:endParaRPr>
          </a:p>
          <a:p>
            <a:pPr marL="367030" marR="5080" indent="-354965">
              <a:lnSpc>
                <a:spcPct val="100000"/>
              </a:lnSpc>
              <a:spcBef>
                <a:spcPts val="45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Documentation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needs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extensive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(I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seen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hundreds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pages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in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documentation.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no-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read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them)</a:t>
            </a:r>
            <a:endParaRPr sz="2100">
              <a:latin typeface="Calibri"/>
              <a:cs typeface="Calibri"/>
            </a:endParaRPr>
          </a:p>
          <a:p>
            <a:pPr marL="367030" marR="13970" indent="-354965">
              <a:lnSpc>
                <a:spcPts val="2500"/>
              </a:lnSpc>
              <a:spcBef>
                <a:spcPts val="58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am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providing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documentation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based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fixed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form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templates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organized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in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separate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cards.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784" y="5387705"/>
            <a:ext cx="335724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Templates</a:t>
            </a:r>
            <a:r>
              <a:rPr dirty="0" sz="25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2500" spc="-10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 b="1" i="1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4919" y="5438528"/>
            <a:ext cx="320611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151515"/>
                </a:solidFill>
                <a:latin typeface="Consolas"/>
                <a:cs typeface="Consolas"/>
                <a:hlinkClick r:id="rId2"/>
              </a:rPr>
              <a:t>https://bit.ly/4bev8XC</a:t>
            </a:r>
            <a:endParaRPr sz="2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Project</a:t>
            </a:r>
            <a:r>
              <a:rPr dirty="0" sz="3300" spc="-80"/>
              <a:t> </a:t>
            </a:r>
            <a:r>
              <a:rPr dirty="0" sz="3300" spc="-10"/>
              <a:t>phases</a:t>
            </a:r>
            <a:endParaRPr sz="33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12237" y="1485768"/>
          <a:ext cx="4554855" cy="3405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68495"/>
              </a:tblGrid>
              <a:tr h="1840230">
                <a:tc>
                  <a:txBody>
                    <a:bodyPr/>
                    <a:lstStyle/>
                    <a:p>
                      <a:pPr marL="699770" indent="-532130">
                        <a:lnSpc>
                          <a:spcPts val="2875"/>
                        </a:lnSpc>
                        <a:buSzPct val="68000"/>
                        <a:buAutoNum type="arabicPeriod" startAt="4"/>
                        <a:tabLst>
                          <a:tab pos="699770" algn="l"/>
                        </a:tabLst>
                      </a:pPr>
                      <a:r>
                        <a:rPr dirty="0" sz="25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2500" spc="-10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Proposal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lvl="1" marL="915035" indent="-393700">
                        <a:lnSpc>
                          <a:spcPct val="100000"/>
                        </a:lnSpc>
                        <a:spcBef>
                          <a:spcPts val="305"/>
                        </a:spcBef>
                        <a:buSzPct val="66666"/>
                        <a:buAutoNum type="arabicPeriod"/>
                        <a:tabLst>
                          <a:tab pos="915035" algn="l"/>
                        </a:tabLst>
                      </a:pPr>
                      <a:r>
                        <a:rPr dirty="0" sz="2100" spc="-2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Information</a:t>
                      </a:r>
                      <a:r>
                        <a:rPr dirty="0" sz="2100" spc="-2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Architecture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915035" indent="-393700">
                        <a:lnSpc>
                          <a:spcPct val="100000"/>
                        </a:lnSpc>
                        <a:spcBef>
                          <a:spcPts val="260"/>
                        </a:spcBef>
                        <a:buSzPct val="66666"/>
                        <a:buAutoNum type="arabicPeriod"/>
                        <a:tabLst>
                          <a:tab pos="915035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Interaction</a:t>
                      </a:r>
                      <a:r>
                        <a:rPr dirty="0" sz="2100" spc="-1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2100" spc="-9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915035" indent="-393700">
                        <a:lnSpc>
                          <a:spcPct val="100000"/>
                        </a:lnSpc>
                        <a:spcBef>
                          <a:spcPts val="195"/>
                        </a:spcBef>
                        <a:buSzPct val="66666"/>
                        <a:buAutoNum type="arabicPeriod"/>
                        <a:tabLst>
                          <a:tab pos="915035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Structure</a:t>
                      </a:r>
                      <a:r>
                        <a:rPr dirty="0" sz="2100" spc="-5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Blueprint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915035" indent="-393700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66666"/>
                        <a:buAutoNum type="arabicPeriod"/>
                        <a:tabLst>
                          <a:tab pos="915035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Wireframes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  <a:solidFill>
                      <a:srgbClr val="92D050">
                        <a:alpha val="52159"/>
                      </a:srgbClr>
                    </a:solidFill>
                  </a:tcPr>
                </a:tc>
              </a:tr>
              <a:tr h="1565275">
                <a:tc>
                  <a:txBody>
                    <a:bodyPr/>
                    <a:lstStyle/>
                    <a:p>
                      <a:pPr marL="640715" indent="-473075">
                        <a:lnSpc>
                          <a:spcPts val="2690"/>
                        </a:lnSpc>
                        <a:buSzPct val="68000"/>
                        <a:buAutoNum type="arabicPeriod" startAt="5"/>
                        <a:tabLst>
                          <a:tab pos="640715" algn="l"/>
                        </a:tabLst>
                      </a:pP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Evaluation</a:t>
                      </a:r>
                      <a:r>
                        <a:rPr dirty="0" sz="2500" spc="-6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500" spc="-5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lvl="1" marL="915035" indent="-393700">
                        <a:lnSpc>
                          <a:spcPct val="100000"/>
                        </a:lnSpc>
                        <a:spcBef>
                          <a:spcPts val="300"/>
                        </a:spcBef>
                        <a:buSzPct val="66666"/>
                        <a:buAutoNum type="arabicPeriod"/>
                        <a:tabLst>
                          <a:tab pos="915035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Inspection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915035" indent="-393700">
                        <a:lnSpc>
                          <a:spcPct val="100000"/>
                        </a:lnSpc>
                        <a:spcBef>
                          <a:spcPts val="265"/>
                        </a:spcBef>
                        <a:buSzPct val="66666"/>
                        <a:buAutoNum type="arabicPeriod"/>
                        <a:tabLst>
                          <a:tab pos="915035" algn="l"/>
                        </a:tabLst>
                      </a:pPr>
                      <a:r>
                        <a:rPr dirty="0" sz="21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2100" spc="-10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marL="640715" indent="-473075">
                        <a:lnSpc>
                          <a:spcPct val="100000"/>
                        </a:lnSpc>
                        <a:spcBef>
                          <a:spcPts val="200"/>
                        </a:spcBef>
                        <a:buSzPct val="68000"/>
                        <a:buAutoNum type="arabicPeriod" startAt="5"/>
                        <a:tabLst>
                          <a:tab pos="640715" algn="l"/>
                        </a:tabLst>
                      </a:pPr>
                      <a:r>
                        <a:rPr dirty="0" sz="25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dirty="0" sz="2500" spc="-9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recommendations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  <a:solidFill>
                      <a:srgbClr val="00B0F0">
                        <a:alpha val="5215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14282" y="1485768"/>
          <a:ext cx="3958590" cy="452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2229"/>
              </a:tblGrid>
              <a:tr h="2660015">
                <a:tc>
                  <a:txBody>
                    <a:bodyPr/>
                    <a:lstStyle/>
                    <a:p>
                      <a:pPr marL="567690" indent="-472440">
                        <a:lnSpc>
                          <a:spcPts val="2660"/>
                        </a:lnSpc>
                        <a:buSzPct val="68000"/>
                        <a:buAutoNum type="arabicPeriod"/>
                        <a:tabLst>
                          <a:tab pos="567690" algn="l"/>
                        </a:tabLst>
                      </a:pP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Ethnographic</a:t>
                      </a:r>
                      <a:r>
                        <a:rPr dirty="0" sz="2500" spc="-7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research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lvl="1" marL="842644" indent="-394335">
                        <a:lnSpc>
                          <a:spcPts val="2510"/>
                        </a:lnSpc>
                        <a:spcBef>
                          <a:spcPts val="15"/>
                        </a:spcBef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Business</a:t>
                      </a:r>
                      <a:r>
                        <a:rPr dirty="0" sz="2100" spc="-8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purpose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842644" indent="-394335">
                        <a:lnSpc>
                          <a:spcPts val="2495"/>
                        </a:lnSpc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Segmentation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842644" indent="-394335">
                        <a:lnSpc>
                          <a:spcPts val="2500"/>
                        </a:lnSpc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2100" spc="-10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research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marL="507365" marR="398145" indent="-412750">
                        <a:lnSpc>
                          <a:spcPts val="2400"/>
                        </a:lnSpc>
                        <a:spcBef>
                          <a:spcPts val="570"/>
                        </a:spcBef>
                        <a:buAutoNum type="arabicPeriod"/>
                        <a:tabLst>
                          <a:tab pos="507365" algn="l"/>
                          <a:tab pos="567690" algn="l"/>
                        </a:tabLst>
                      </a:pPr>
                      <a:r>
                        <a:rPr dirty="0" sz="17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Assessment</a:t>
                      </a:r>
                      <a:r>
                        <a:rPr dirty="0" sz="2500" spc="-6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500" spc="-5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existing resources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lvl="1" marL="842644" indent="-394335">
                        <a:lnSpc>
                          <a:spcPts val="2510"/>
                        </a:lnSpc>
                        <a:spcBef>
                          <a:spcPts val="35"/>
                        </a:spcBef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Expert</a:t>
                      </a:r>
                      <a:r>
                        <a:rPr dirty="0" sz="2100" spc="-8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Usability</a:t>
                      </a:r>
                      <a:r>
                        <a:rPr dirty="0" sz="2100" spc="-9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Review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842644" indent="-394335">
                        <a:lnSpc>
                          <a:spcPts val="2510"/>
                        </a:lnSpc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2100" spc="-10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  <a:solidFill>
                      <a:srgbClr val="FFFF00">
                        <a:alpha val="52159"/>
                      </a:srgbClr>
                    </a:solidFill>
                  </a:tcPr>
                </a:tc>
              </a:tr>
              <a:tr h="1863089">
                <a:tc>
                  <a:txBody>
                    <a:bodyPr/>
                    <a:lstStyle/>
                    <a:p>
                      <a:pPr marL="567690" indent="-472440">
                        <a:lnSpc>
                          <a:spcPts val="2635"/>
                        </a:lnSpc>
                        <a:buSzPct val="68000"/>
                        <a:buAutoNum type="arabicPeriod" startAt="3"/>
                        <a:tabLst>
                          <a:tab pos="567690" algn="l"/>
                        </a:tabLst>
                      </a:pP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Feasibility</a:t>
                      </a:r>
                      <a:r>
                        <a:rPr dirty="0" sz="2500" spc="-8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Study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lvl="1" marL="842644" indent="-394335">
                        <a:lnSpc>
                          <a:spcPts val="2505"/>
                        </a:lnSpc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 spc="-2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Context</a:t>
                      </a:r>
                      <a:r>
                        <a:rPr dirty="0" sz="2100" spc="-5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100" spc="-5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2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842644" indent="-394335">
                        <a:lnSpc>
                          <a:spcPts val="2495"/>
                        </a:lnSpc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Scenarios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842644" indent="-394335">
                        <a:lnSpc>
                          <a:spcPts val="2510"/>
                        </a:lnSpc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Personas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lvl="1" marL="842644" marR="646430" indent="-394335">
                        <a:lnSpc>
                          <a:spcPct val="79000"/>
                        </a:lnSpc>
                        <a:spcBef>
                          <a:spcPts val="445"/>
                        </a:spcBef>
                        <a:buSzPct val="66666"/>
                        <a:buAutoNum type="arabicPeriod"/>
                        <a:tabLst>
                          <a:tab pos="842644" algn="l"/>
                        </a:tabLst>
                      </a:pPr>
                      <a:r>
                        <a:rPr dirty="0" sz="2100" spc="-2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Recommendations</a:t>
                      </a:r>
                      <a:r>
                        <a:rPr dirty="0" sz="2100" spc="2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25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2100" spc="-1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  <a:solidFill>
                      <a:srgbClr val="FFC000">
                        <a:alpha val="5215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822442" y="2502194"/>
            <a:ext cx="339090" cy="902969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900">
                <a:solidFill>
                  <a:srgbClr val="0070C0"/>
                </a:solidFill>
                <a:latin typeface="Tahoma"/>
                <a:cs typeface="Tahoma"/>
              </a:rPr>
              <a:t>Phase</a:t>
            </a:r>
            <a:r>
              <a:rPr dirty="0" sz="1900" spc="-8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1900" spc="210">
                <a:solidFill>
                  <a:srgbClr val="0070C0"/>
                </a:solidFill>
                <a:latin typeface="Tahoma"/>
                <a:cs typeface="Tahoma"/>
              </a:rPr>
              <a:t>A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9979" y="4696264"/>
            <a:ext cx="339090" cy="86741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900">
                <a:solidFill>
                  <a:srgbClr val="0070C0"/>
                </a:solidFill>
                <a:latin typeface="Tahoma"/>
                <a:cs typeface="Tahoma"/>
              </a:rPr>
              <a:t>Phase</a:t>
            </a:r>
            <a:r>
              <a:rPr dirty="0" sz="1900" spc="-8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0070C0"/>
                </a:solidFill>
                <a:latin typeface="Tahoma"/>
                <a:cs typeface="Tahoma"/>
              </a:rPr>
              <a:t>B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32338" y="2015040"/>
            <a:ext cx="339090" cy="893444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900">
                <a:solidFill>
                  <a:srgbClr val="0070C0"/>
                </a:solidFill>
                <a:latin typeface="Tahoma"/>
                <a:cs typeface="Tahoma"/>
              </a:rPr>
              <a:t>Phase</a:t>
            </a:r>
            <a:r>
              <a:rPr dirty="0" sz="1900" spc="-8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1900" spc="140">
                <a:solidFill>
                  <a:srgbClr val="0070C0"/>
                </a:solidFill>
                <a:latin typeface="Tahoma"/>
                <a:cs typeface="Tahoma"/>
              </a:rPr>
              <a:t>C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39881" y="3575580"/>
            <a:ext cx="339090" cy="899794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900">
                <a:solidFill>
                  <a:srgbClr val="0070C0"/>
                </a:solidFill>
                <a:latin typeface="Tahoma"/>
                <a:cs typeface="Tahoma"/>
              </a:rPr>
              <a:t>Phase</a:t>
            </a:r>
            <a:r>
              <a:rPr dirty="0" sz="1900" spc="-8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dirty="0" sz="1900" spc="40">
                <a:solidFill>
                  <a:srgbClr val="0070C0"/>
                </a:solidFill>
                <a:latin typeface="Tahoma"/>
                <a:cs typeface="Tahoma"/>
              </a:rPr>
              <a:t>D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0246" y="6110115"/>
            <a:ext cx="5481320" cy="888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 b="1">
                <a:solidFill>
                  <a:srgbClr val="151515"/>
                </a:solidFill>
                <a:latin typeface="Arial"/>
                <a:cs typeface="Arial"/>
              </a:rPr>
              <a:t>Note</a:t>
            </a:r>
            <a:endParaRPr sz="1900">
              <a:latin typeface="Arial"/>
              <a:cs typeface="Arial"/>
            </a:endParaRPr>
          </a:p>
          <a:p>
            <a:pPr marL="307975" indent="-295275">
              <a:lnSpc>
                <a:spcPts val="2245"/>
              </a:lnSpc>
              <a:spcBef>
                <a:spcPts val="25"/>
              </a:spcBef>
              <a:buChar char="•"/>
              <a:tabLst>
                <a:tab pos="307975" algn="l"/>
              </a:tabLst>
            </a:pPr>
            <a:r>
              <a:rPr dirty="0" sz="1900" spc="-20">
                <a:solidFill>
                  <a:srgbClr val="151515"/>
                </a:solidFill>
                <a:latin typeface="Arial MT"/>
                <a:cs typeface="Arial MT"/>
              </a:rPr>
              <a:t>Project</a:t>
            </a:r>
            <a:r>
              <a:rPr dirty="0" sz="1900" spc="-9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Arial MT"/>
                <a:cs typeface="Arial MT"/>
              </a:rPr>
              <a:t>must</a:t>
            </a:r>
            <a:r>
              <a:rPr dirty="0" sz="1900" spc="-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be</a:t>
            </a:r>
            <a:r>
              <a:rPr dirty="0" sz="1900" spc="-7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Arial MT"/>
                <a:cs typeface="Arial MT"/>
              </a:rPr>
              <a:t>carried</a:t>
            </a:r>
            <a:r>
              <a:rPr dirty="0" sz="1900" spc="-7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out</a:t>
            </a:r>
            <a:r>
              <a:rPr dirty="0" sz="1900" spc="-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in</a:t>
            </a:r>
            <a:r>
              <a:rPr dirty="0" sz="1900" spc="-7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 spc="-30">
                <a:solidFill>
                  <a:srgbClr val="151515"/>
                </a:solidFill>
                <a:latin typeface="Arial MT"/>
                <a:cs typeface="Arial MT"/>
              </a:rPr>
              <a:t>order:</a:t>
            </a:r>
            <a:r>
              <a:rPr dirty="0" sz="1900" spc="-12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A,</a:t>
            </a:r>
            <a:r>
              <a:rPr dirty="0" sz="1900" spc="-6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B,</a:t>
            </a:r>
            <a:r>
              <a:rPr dirty="0" sz="1900" spc="-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C,</a:t>
            </a:r>
            <a:r>
              <a:rPr dirty="0" sz="1900" spc="-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Arial MT"/>
                <a:cs typeface="Arial MT"/>
              </a:rPr>
              <a:t>D.</a:t>
            </a:r>
            <a:endParaRPr sz="1900">
              <a:latin typeface="Arial MT"/>
              <a:cs typeface="Arial MT"/>
            </a:endParaRPr>
          </a:p>
          <a:p>
            <a:pPr marL="307975" indent="-295275">
              <a:lnSpc>
                <a:spcPts val="2245"/>
              </a:lnSpc>
              <a:buChar char="•"/>
              <a:tabLst>
                <a:tab pos="307975" algn="l"/>
              </a:tabLst>
            </a:pPr>
            <a:r>
              <a:rPr dirty="0" sz="1900" spc="-25">
                <a:solidFill>
                  <a:srgbClr val="151515"/>
                </a:solidFill>
                <a:latin typeface="Arial MT"/>
                <a:cs typeface="Arial MT"/>
              </a:rPr>
              <a:t>Evaluations</a:t>
            </a:r>
            <a:r>
              <a:rPr dirty="0" sz="1900" spc="-8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will</a:t>
            </a:r>
            <a:r>
              <a:rPr dirty="0" sz="1900" spc="-4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be</a:t>
            </a:r>
            <a:r>
              <a:rPr dirty="0" sz="1900" spc="-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in</a:t>
            </a:r>
            <a:r>
              <a:rPr dirty="0" sz="1900" spc="-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a</a:t>
            </a:r>
            <a:r>
              <a:rPr dirty="0" sz="1900" spc="-6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Arial MT"/>
                <a:cs typeface="Arial MT"/>
              </a:rPr>
              <a:t>different</a:t>
            </a:r>
            <a:r>
              <a:rPr dirty="0" sz="1900" spc="-5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 spc="-30">
                <a:solidFill>
                  <a:srgbClr val="151515"/>
                </a:solidFill>
                <a:latin typeface="Arial MT"/>
                <a:cs typeface="Arial MT"/>
              </a:rPr>
              <a:t>order:</a:t>
            </a:r>
            <a:r>
              <a:rPr dirty="0" sz="1900" spc="-12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A,</a:t>
            </a:r>
            <a:r>
              <a:rPr dirty="0" sz="1900" spc="-5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B,</a:t>
            </a:r>
            <a:r>
              <a:rPr dirty="0" sz="1900" spc="-5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51515"/>
                </a:solidFill>
                <a:latin typeface="Arial MT"/>
                <a:cs typeface="Arial MT"/>
              </a:rPr>
              <a:t>D,</a:t>
            </a:r>
            <a:r>
              <a:rPr dirty="0" sz="1900" spc="-5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Arial MT"/>
                <a:cs typeface="Arial MT"/>
              </a:rPr>
              <a:t>C.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00117" y="2563134"/>
            <a:ext cx="1755775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</a:rPr>
              <a:t>Phase</a:t>
            </a:r>
            <a:r>
              <a:rPr dirty="0" sz="4100" spc="5">
                <a:solidFill>
                  <a:srgbClr val="FFFFFF"/>
                </a:solidFill>
              </a:rPr>
              <a:t> </a:t>
            </a:r>
            <a:r>
              <a:rPr dirty="0" sz="4100" spc="-50">
                <a:solidFill>
                  <a:srgbClr val="FFFFFF"/>
                </a:solidFill>
              </a:rPr>
              <a:t>A</a:t>
            </a:r>
            <a:endParaRPr sz="4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1.</a:t>
            </a:r>
            <a:r>
              <a:rPr dirty="0" sz="3300" spc="-70"/>
              <a:t> </a:t>
            </a:r>
            <a:r>
              <a:rPr dirty="0" sz="3300"/>
              <a:t>Ethnographic</a:t>
            </a:r>
            <a:r>
              <a:rPr dirty="0" sz="3300" spc="-65"/>
              <a:t> </a:t>
            </a:r>
            <a:r>
              <a:rPr dirty="0" sz="3300" spc="-10"/>
              <a:t>analysis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499450"/>
            <a:ext cx="7964805" cy="48774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222250">
              <a:lnSpc>
                <a:spcPct val="100699"/>
              </a:lnSpc>
              <a:spcBef>
                <a:spcPts val="75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Explore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associated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900">
              <a:latin typeface="Calibri"/>
              <a:cs typeface="Calibri"/>
            </a:endParaRPr>
          </a:p>
          <a:p>
            <a:pPr lvl="1" marL="562610" indent="-549910">
              <a:lnSpc>
                <a:spcPct val="100000"/>
              </a:lnSpc>
              <a:buAutoNum type="arabicPeriod"/>
              <a:tabLst>
                <a:tab pos="562610" algn="l"/>
              </a:tabLst>
            </a:pP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Business</a:t>
            </a:r>
            <a:r>
              <a:rPr dirty="0" sz="29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purpose</a:t>
            </a:r>
            <a:endParaRPr sz="2900">
              <a:latin typeface="Calibri"/>
              <a:cs typeface="Calibri"/>
            </a:endParaRPr>
          </a:p>
          <a:p>
            <a:pPr lvl="1" marL="562610" indent="-54991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62610" algn="l"/>
              </a:tabLst>
            </a:pP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Segmentation</a:t>
            </a:r>
            <a:r>
              <a:rPr dirty="0" sz="29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9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endParaRPr sz="2900">
              <a:latin typeface="Calibri"/>
              <a:cs typeface="Calibri"/>
            </a:endParaRPr>
          </a:p>
          <a:p>
            <a:pPr lvl="1" marL="562610" indent="-54991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62610" algn="l"/>
              </a:tabLst>
            </a:pP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research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Please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notice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NEVER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generic.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year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will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accept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sentences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like: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"Users</a:t>
            </a:r>
            <a:r>
              <a:rPr dirty="0" sz="25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25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18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65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years</a:t>
            </a:r>
            <a:r>
              <a:rPr dirty="0" sz="25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i="1">
                <a:solidFill>
                  <a:srgbClr val="151515"/>
                </a:solidFill>
                <a:latin typeface="Calibri"/>
                <a:cs typeface="Calibri"/>
              </a:rPr>
              <a:t>old"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368744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1.1</a:t>
            </a:r>
            <a:r>
              <a:rPr dirty="0" sz="3300" spc="-6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Business</a:t>
            </a:r>
            <a:r>
              <a:rPr dirty="0" sz="3300" spc="-6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purpose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05499"/>
            <a:ext cx="8100059" cy="520509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client:</a:t>
            </a:r>
            <a:endParaRPr sz="2500">
              <a:latin typeface="Calibri"/>
              <a:cs typeface="Calibri"/>
            </a:endParaRPr>
          </a:p>
          <a:p>
            <a:pPr marL="661670" marR="1125220" indent="-354965">
              <a:lnSpc>
                <a:spcPts val="2500"/>
              </a:lnSpc>
              <a:spcBef>
                <a:spcPts val="7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should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want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finance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new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development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project?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r>
              <a:rPr dirty="0" sz="2500" spc="-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Objectives:</a:t>
            </a:r>
            <a:endParaRPr sz="2500">
              <a:latin typeface="Calibri"/>
              <a:cs typeface="Calibri"/>
            </a:endParaRPr>
          </a:p>
          <a:p>
            <a:pPr marL="661670" indent="-35496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want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get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product?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Business</a:t>
            </a:r>
            <a:r>
              <a:rPr dirty="0" sz="2500" spc="-1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Goals:</a:t>
            </a:r>
            <a:endParaRPr sz="2500">
              <a:latin typeface="Calibri"/>
              <a:cs typeface="Calibri"/>
            </a:endParaRPr>
          </a:p>
          <a:p>
            <a:pPr marL="661670" indent="-35496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integrate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overall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business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goals?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Brand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identity:</a:t>
            </a:r>
            <a:endParaRPr sz="2500">
              <a:latin typeface="Calibri"/>
              <a:cs typeface="Calibri"/>
            </a:endParaRPr>
          </a:p>
          <a:p>
            <a:pPr marL="661670" marR="85725" indent="-354965">
              <a:lnSpc>
                <a:spcPts val="2500"/>
              </a:lnSpc>
              <a:spcBef>
                <a:spcPts val="6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promote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brand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identity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appreciated?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Success</a:t>
            </a:r>
            <a:r>
              <a:rPr dirty="0" sz="2500" spc="-1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metrics:</a:t>
            </a:r>
            <a:endParaRPr sz="2500">
              <a:latin typeface="Calibri"/>
              <a:cs typeface="Calibri"/>
            </a:endParaRPr>
          </a:p>
          <a:p>
            <a:pPr marL="661670" marR="5080" indent="-354965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When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know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completed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went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well?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425958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1.1</a:t>
            </a:r>
            <a:r>
              <a:rPr dirty="0" sz="3300" spc="-7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Business</a:t>
            </a:r>
            <a:r>
              <a:rPr dirty="0" sz="3300" spc="-7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purpose</a:t>
            </a:r>
            <a:r>
              <a:rPr dirty="0" sz="33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25" b="1">
                <a:solidFill>
                  <a:srgbClr val="151515"/>
                </a:solidFill>
                <a:latin typeface="Calibri"/>
                <a:cs typeface="Calibri"/>
              </a:rPr>
              <a:t>(2)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41030" cy="5172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ideal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audience,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adequate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budget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internal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resources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project.</a:t>
            </a:r>
            <a:endParaRPr sz="2500">
              <a:latin typeface="Calibri"/>
              <a:cs typeface="Calibri"/>
            </a:endParaRPr>
          </a:p>
          <a:p>
            <a:pPr marL="12700" marR="4442460">
              <a:lnSpc>
                <a:spcPct val="240000"/>
              </a:lnSpc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Choose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clients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carefully!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Bad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clients</a:t>
            </a:r>
            <a:endParaRPr sz="2500">
              <a:latin typeface="Calibri"/>
              <a:cs typeface="Calibri"/>
            </a:endParaRPr>
          </a:p>
          <a:p>
            <a:pPr marL="661670" indent="-35496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big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(Apple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Computer,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Coca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Cola,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United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Nations,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etc.).</a:t>
            </a:r>
            <a:endParaRPr sz="2100">
              <a:latin typeface="Calibri"/>
              <a:cs typeface="Calibri"/>
            </a:endParaRPr>
          </a:p>
          <a:p>
            <a:pPr marL="661670" marR="205104" indent="-354965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small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shop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town,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small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volunteer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association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employees,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free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app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created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individual,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anything existing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was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created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professional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team)</a:t>
            </a:r>
            <a:endParaRPr sz="2100">
              <a:latin typeface="Calibri"/>
              <a:cs typeface="Calibri"/>
            </a:endParaRPr>
          </a:p>
          <a:p>
            <a:pPr marL="661670" indent="-354965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Scope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wide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digital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large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company)</a:t>
            </a:r>
            <a:endParaRPr sz="2100">
              <a:latin typeface="Calibri"/>
              <a:cs typeface="Calibri"/>
            </a:endParaRPr>
          </a:p>
          <a:p>
            <a:pPr marL="661670" indent="-35496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Scope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narrow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single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section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functioning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tool)</a:t>
            </a:r>
            <a:endParaRPr sz="2100">
              <a:latin typeface="Calibri"/>
              <a:cs typeface="Calibri"/>
            </a:endParaRPr>
          </a:p>
          <a:p>
            <a:pPr marL="661670" indent="-35496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budget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706628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1.2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Segmentation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3300" spc="-5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300" spc="-4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41665" cy="4715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Often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variety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expected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makes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difficult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homogeneous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characterization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endParaRPr sz="2500">
              <a:latin typeface="Calibri"/>
              <a:cs typeface="Calibri"/>
            </a:endParaRPr>
          </a:p>
          <a:p>
            <a:pPr marL="12700" marR="15240">
              <a:lnSpc>
                <a:spcPct val="100000"/>
              </a:lnSpc>
              <a:spcBef>
                <a:spcPts val="60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Segmentation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allows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group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into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subgroups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are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homogeneous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features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Demographic</a:t>
            </a:r>
            <a:r>
              <a:rPr dirty="0" sz="2500" spc="-1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Segmentation: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Age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range,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education,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marital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status,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income,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residence,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  <a:p>
            <a:pPr marL="661670" marR="27559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generic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(18-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59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years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old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men)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(women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25-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35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South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graduates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unemployed,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unmarried,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income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&lt;20,000 euros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per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year)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Psychological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Segmentation: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5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Personality,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values,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attitudes,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interests,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lifestyle,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Motorcycle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single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engine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mechanic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36690" y="434636"/>
            <a:ext cx="3750945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3700" spc="3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segmentation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7456" y="1405499"/>
            <a:ext cx="4808220" cy="554609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Behavioral</a:t>
            </a:r>
            <a:r>
              <a:rPr dirty="0" sz="2500" spc="-8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Segmentation</a:t>
            </a:r>
            <a:endParaRPr sz="2500">
              <a:latin typeface="Calibri"/>
              <a:cs typeface="Calibri"/>
            </a:endParaRPr>
          </a:p>
          <a:p>
            <a:pPr marL="365760">
              <a:lnSpc>
                <a:spcPct val="100000"/>
              </a:lnSpc>
              <a:spcBef>
                <a:spcPts val="62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product: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frequency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competency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intensity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type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task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usage</a:t>
            </a:r>
            <a:r>
              <a:rPr dirty="0" sz="2100" spc="-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patterns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Contextual</a:t>
            </a:r>
            <a:r>
              <a:rPr dirty="0" sz="2500" spc="-4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151515"/>
                </a:solidFill>
                <a:latin typeface="Calibri"/>
                <a:cs typeface="Calibri"/>
              </a:rPr>
              <a:t>Segmentation</a:t>
            </a:r>
            <a:endParaRPr sz="2500">
              <a:latin typeface="Calibri"/>
              <a:cs typeface="Calibri"/>
            </a:endParaRPr>
          </a:p>
          <a:p>
            <a:pPr marL="365760">
              <a:lnSpc>
                <a:spcPct val="100000"/>
              </a:lnSpc>
              <a:spcBef>
                <a:spcPts val="62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conditions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product: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device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environment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time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cognitive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pressure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physical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constraints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402" y="274794"/>
            <a:ext cx="1862733" cy="81726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305816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1.3</a:t>
            </a:r>
            <a:r>
              <a:rPr dirty="0" sz="3300" spc="-2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3300" spc="-2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research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05499"/>
            <a:ext cx="8251825" cy="467169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Market</a:t>
            </a:r>
            <a:r>
              <a:rPr dirty="0" sz="2500" spc="-1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research</a:t>
            </a:r>
            <a:r>
              <a:rPr dirty="0" sz="2500" spc="-114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methods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6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Survey,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focus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group,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indirect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sources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collection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Contextual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inquiry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6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Interviews,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field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observations,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passive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presence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sources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obtained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interacting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Task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endParaRPr sz="2500">
              <a:latin typeface="Calibri"/>
              <a:cs typeface="Calibri"/>
            </a:endParaRPr>
          </a:p>
          <a:p>
            <a:pPr marL="661670" marR="5080" indent="-295910">
              <a:lnSpc>
                <a:spcPts val="2500"/>
              </a:lnSpc>
              <a:spcBef>
                <a:spcPts val="7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Identify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context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where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uses,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uses,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wants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use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product.</a:t>
            </a:r>
            <a:endParaRPr sz="2100">
              <a:latin typeface="Calibri"/>
              <a:cs typeface="Calibri"/>
            </a:endParaRPr>
          </a:p>
          <a:p>
            <a:pPr marL="661670" marR="201930" indent="-295910">
              <a:lnSpc>
                <a:spcPct val="99500"/>
              </a:lnSpc>
              <a:spcBef>
                <a:spcPts val="40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aim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observe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sequence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steps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interaction between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space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covered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events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/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external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2.</a:t>
            </a:r>
            <a:r>
              <a:rPr dirty="0" sz="3300" spc="-55"/>
              <a:t> </a:t>
            </a:r>
            <a:r>
              <a:rPr dirty="0" sz="3300"/>
              <a:t>Assessment</a:t>
            </a:r>
            <a:r>
              <a:rPr dirty="0" sz="3300" spc="-45"/>
              <a:t> </a:t>
            </a:r>
            <a:r>
              <a:rPr dirty="0" sz="3300"/>
              <a:t>of</a:t>
            </a:r>
            <a:r>
              <a:rPr dirty="0" sz="3300" spc="-45"/>
              <a:t> </a:t>
            </a:r>
            <a:r>
              <a:rPr dirty="0" sz="3300"/>
              <a:t>existing</a:t>
            </a:r>
            <a:r>
              <a:rPr dirty="0" sz="3300" spc="-50"/>
              <a:t> </a:t>
            </a:r>
            <a:r>
              <a:rPr dirty="0" sz="3300" spc="-10"/>
              <a:t>resources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499450"/>
            <a:ext cx="7808595" cy="4024629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5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Find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application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ideas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may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want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900" spc="-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driving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model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application.</a:t>
            </a:r>
            <a:endParaRPr sz="2900">
              <a:latin typeface="Calibri"/>
              <a:cs typeface="Calibri"/>
            </a:endParaRPr>
          </a:p>
          <a:p>
            <a:pPr marL="12700" marR="262255">
              <a:lnSpc>
                <a:spcPct val="100699"/>
              </a:lnSpc>
              <a:spcBef>
                <a:spcPts val="695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Find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web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site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company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could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find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extreme</a:t>
            </a:r>
            <a:r>
              <a:rPr dirty="0" sz="29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customization</a:t>
            </a:r>
            <a:r>
              <a:rPr dirty="0" sz="29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subsite</a:t>
            </a:r>
            <a:r>
              <a:rPr dirty="0" sz="29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appealing.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Perform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following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steps: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900">
              <a:latin typeface="Calibri"/>
              <a:cs typeface="Calibri"/>
            </a:endParaRPr>
          </a:p>
          <a:p>
            <a:pPr lvl="1" marL="563245" indent="-550545">
              <a:lnSpc>
                <a:spcPct val="100000"/>
              </a:lnSpc>
              <a:buAutoNum type="arabicPeriod"/>
              <a:tabLst>
                <a:tab pos="563245" algn="l"/>
              </a:tabLst>
            </a:pP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Expert</a:t>
            </a:r>
            <a:r>
              <a:rPr dirty="0" sz="29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9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Review</a:t>
            </a:r>
            <a:endParaRPr sz="2900">
              <a:latin typeface="Calibri"/>
              <a:cs typeface="Calibri"/>
            </a:endParaRPr>
          </a:p>
          <a:p>
            <a:pPr lvl="1" marL="562610" indent="-54991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62610" algn="l"/>
              </a:tabLst>
            </a:pP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9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464947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2.1</a:t>
            </a:r>
            <a:r>
              <a:rPr dirty="0" sz="3300" spc="-4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Expert</a:t>
            </a:r>
            <a:r>
              <a:rPr dirty="0" sz="3300" spc="-4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3300" spc="-4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review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512704"/>
            <a:ext cx="8254365" cy="49009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20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expert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review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without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basis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general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(eg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web),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driven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users'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description.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endParaRPr sz="21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390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Collection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justified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adoption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endParaRPr sz="21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370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exploration</a:t>
            </a:r>
            <a:endParaRPr sz="19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430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Analysis: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vs.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endParaRPr sz="19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409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Reverse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Analysis:</a:t>
            </a:r>
            <a:r>
              <a:rPr dirty="0" sz="1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vs.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19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430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Detect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describe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reasonable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errors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After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endParaRPr sz="21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390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Identification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description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provided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19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409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Identification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description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2.1.1</a:t>
            </a:r>
            <a:r>
              <a:rPr dirty="0" sz="3300" spc="-45"/>
              <a:t> </a:t>
            </a:r>
            <a:r>
              <a:rPr dirty="0" sz="3300"/>
              <a:t>Choice</a:t>
            </a:r>
            <a:r>
              <a:rPr dirty="0" sz="3300" spc="-45"/>
              <a:t> </a:t>
            </a:r>
            <a:r>
              <a:rPr dirty="0" sz="3300"/>
              <a:t>of</a:t>
            </a:r>
            <a:r>
              <a:rPr dirty="0" sz="3300" spc="-45"/>
              <a:t> </a:t>
            </a:r>
            <a:r>
              <a:rPr dirty="0" sz="3300" spc="-10"/>
              <a:t>guidelines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499450"/>
            <a:ext cx="7959090" cy="4622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67030" marR="118745" indent="-354965">
              <a:lnSpc>
                <a:spcPct val="100699"/>
              </a:lnSpc>
              <a:spcBef>
                <a:spcPts val="7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900" b="1" i="1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dirty="0" sz="2900" spc="-5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initial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identify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analysis.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For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instance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may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concern:</a:t>
            </a:r>
            <a:endParaRPr sz="2900">
              <a:latin typeface="Calibri"/>
              <a:cs typeface="Calibri"/>
            </a:endParaRPr>
          </a:p>
          <a:p>
            <a:pPr lvl="1" marL="1095375" indent="-236854">
              <a:lnSpc>
                <a:spcPct val="100000"/>
              </a:lnSpc>
              <a:spcBef>
                <a:spcPts val="615"/>
              </a:spcBef>
              <a:buClr>
                <a:srgbClr val="666699"/>
              </a:buClr>
              <a:buSzPct val="64000"/>
              <a:buFont typeface="Times New Roman"/>
              <a:buChar char="•"/>
              <a:tabLst>
                <a:tab pos="1095375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Minimization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cognitive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load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endParaRPr sz="2500">
              <a:latin typeface="Calibri"/>
              <a:cs typeface="Calibri"/>
            </a:endParaRPr>
          </a:p>
          <a:p>
            <a:pPr lvl="1" marL="1095375" indent="-236854">
              <a:lnSpc>
                <a:spcPct val="100000"/>
              </a:lnSpc>
              <a:spcBef>
                <a:spcPts val="600"/>
              </a:spcBef>
              <a:buClr>
                <a:srgbClr val="666699"/>
              </a:buClr>
              <a:buSzPct val="64000"/>
              <a:buFont typeface="Times New Roman"/>
              <a:buChar char="•"/>
              <a:tabLst>
                <a:tab pos="1095375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Visibility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2500">
              <a:latin typeface="Calibri"/>
              <a:cs typeface="Calibri"/>
            </a:endParaRPr>
          </a:p>
          <a:p>
            <a:pPr lvl="1" marL="1095375" indent="-236854">
              <a:lnSpc>
                <a:spcPct val="100000"/>
              </a:lnSpc>
              <a:spcBef>
                <a:spcPts val="600"/>
              </a:spcBef>
              <a:buClr>
                <a:srgbClr val="666699"/>
              </a:buClr>
              <a:buSzPct val="64000"/>
              <a:buFont typeface="Times New Roman"/>
              <a:buChar char="•"/>
              <a:tabLst>
                <a:tab pos="1095375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Control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interaction</a:t>
            </a:r>
            <a:endParaRPr sz="2500">
              <a:latin typeface="Calibri"/>
              <a:cs typeface="Calibri"/>
            </a:endParaRPr>
          </a:p>
          <a:p>
            <a:pPr lvl="1" marL="1095375" indent="-236854">
              <a:lnSpc>
                <a:spcPct val="100000"/>
              </a:lnSpc>
              <a:spcBef>
                <a:spcPts val="600"/>
              </a:spcBef>
              <a:buClr>
                <a:srgbClr val="666699"/>
              </a:buClr>
              <a:buSzPct val="64000"/>
              <a:buFont typeface="Times New Roman"/>
              <a:buChar char="•"/>
              <a:tabLst>
                <a:tab pos="1095375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Learnability</a:t>
            </a:r>
            <a:endParaRPr sz="2500">
              <a:latin typeface="Calibri"/>
              <a:cs typeface="Calibri"/>
            </a:endParaRPr>
          </a:p>
          <a:p>
            <a:pPr lvl="1" marL="1095375" indent="-236854">
              <a:lnSpc>
                <a:spcPct val="100000"/>
              </a:lnSpc>
              <a:spcBef>
                <a:spcPts val="600"/>
              </a:spcBef>
              <a:buClr>
                <a:srgbClr val="666699"/>
              </a:buClr>
              <a:buSzPct val="64000"/>
              <a:buFont typeface="Times New Roman"/>
              <a:buChar char="•"/>
              <a:tabLst>
                <a:tab pos="1095375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Subjective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satisfaction</a:t>
            </a:r>
            <a:endParaRPr sz="2500">
              <a:latin typeface="Calibri"/>
              <a:cs typeface="Calibri"/>
            </a:endParaRPr>
          </a:p>
          <a:p>
            <a:pPr marL="367030" marR="5080" indent="-354965">
              <a:lnSpc>
                <a:spcPct val="100699"/>
              </a:lnSpc>
              <a:spcBef>
                <a:spcPts val="68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numbered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so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can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recalled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sheet.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2.1.2</a:t>
            </a:r>
            <a:r>
              <a:rPr dirty="0" sz="3300" spc="-50"/>
              <a:t> </a:t>
            </a:r>
            <a:r>
              <a:rPr dirty="0" sz="3300"/>
              <a:t>First</a:t>
            </a:r>
            <a:r>
              <a:rPr dirty="0" sz="3300" spc="-45"/>
              <a:t> </a:t>
            </a:r>
            <a:r>
              <a:rPr dirty="0" sz="3300"/>
              <a:t>Inspection</a:t>
            </a:r>
            <a:r>
              <a:rPr dirty="0" sz="3300" spc="-55"/>
              <a:t> </a:t>
            </a:r>
            <a:r>
              <a:rPr dirty="0" sz="3300"/>
              <a:t>of</a:t>
            </a:r>
            <a:r>
              <a:rPr dirty="0" sz="3300" spc="-55"/>
              <a:t> </a:t>
            </a:r>
            <a:r>
              <a:rPr dirty="0" sz="3300"/>
              <a:t>the</a:t>
            </a:r>
            <a:r>
              <a:rPr dirty="0" sz="3300" spc="-50"/>
              <a:t> </a:t>
            </a:r>
            <a:r>
              <a:rPr dirty="0" sz="3300" spc="-10"/>
              <a:t>System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499450"/>
            <a:ext cx="8267065" cy="46863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64135">
              <a:lnSpc>
                <a:spcPct val="100699"/>
              </a:lnSpc>
              <a:spcBef>
                <a:spcPts val="75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2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together,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later</a:t>
            </a:r>
            <a:r>
              <a:rPr dirty="0" sz="2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separately,</a:t>
            </a:r>
            <a:r>
              <a:rPr dirty="0" sz="2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group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members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explore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understand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main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features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application,</a:t>
            </a:r>
            <a:r>
              <a:rPr dirty="0" sz="2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including:</a:t>
            </a:r>
            <a:endParaRPr sz="29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offered</a:t>
            </a:r>
            <a:endParaRPr sz="25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endParaRPr sz="25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problem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immediately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identified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500">
              <a:latin typeface="Calibri"/>
              <a:cs typeface="Calibri"/>
            </a:endParaRPr>
          </a:p>
          <a:p>
            <a:pPr marL="12700" marR="5080">
              <a:lnSpc>
                <a:spcPct val="100699"/>
              </a:lnSpc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initial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useful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quickly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identify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0">
                <a:solidFill>
                  <a:srgbClr val="151515"/>
                </a:solidFill>
                <a:latin typeface="Calibri"/>
                <a:cs typeface="Calibri"/>
              </a:rPr>
              <a:t>some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key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problems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goals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system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appears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satisfy.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2.1.3</a:t>
            </a:r>
            <a:r>
              <a:rPr dirty="0" sz="3300" spc="-35"/>
              <a:t> </a:t>
            </a:r>
            <a:r>
              <a:rPr dirty="0" sz="3300"/>
              <a:t>Direct</a:t>
            </a:r>
            <a:r>
              <a:rPr dirty="0" sz="3300" spc="-45"/>
              <a:t> </a:t>
            </a:r>
            <a:r>
              <a:rPr dirty="0" sz="3300"/>
              <a:t>analysis:</a:t>
            </a:r>
            <a:r>
              <a:rPr dirty="0" sz="3300" spc="-35"/>
              <a:t> </a:t>
            </a:r>
            <a:r>
              <a:rPr dirty="0" sz="3300"/>
              <a:t>system</a:t>
            </a:r>
            <a:r>
              <a:rPr dirty="0" sz="3300" spc="-40"/>
              <a:t> </a:t>
            </a:r>
            <a:r>
              <a:rPr dirty="0" sz="3300"/>
              <a:t>vs.</a:t>
            </a:r>
            <a:r>
              <a:rPr dirty="0" sz="3300" spc="-45"/>
              <a:t> </a:t>
            </a:r>
            <a:r>
              <a:rPr dirty="0" sz="3300" spc="-10"/>
              <a:t>guidelines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175950" y="1499450"/>
            <a:ext cx="8752205" cy="43440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266700">
              <a:lnSpc>
                <a:spcPct val="100699"/>
              </a:lnSpc>
              <a:spcBef>
                <a:spcPts val="75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Systematic</a:t>
            </a:r>
            <a:r>
              <a:rPr dirty="0" sz="2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exploration</a:t>
            </a:r>
            <a:r>
              <a:rPr dirty="0" sz="2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application</a:t>
            </a:r>
            <a:r>
              <a:rPr dirty="0" sz="2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respect</a:t>
            </a:r>
            <a:r>
              <a:rPr dirty="0" sz="2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guideline.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9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based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functions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avalable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within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2500">
              <a:latin typeface="Calibri"/>
              <a:cs typeface="Calibri"/>
            </a:endParaRPr>
          </a:p>
          <a:p>
            <a:pPr marL="660400" marR="14224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independent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expected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their 	tasks</a:t>
            </a:r>
            <a:endParaRPr sz="2500">
              <a:latin typeface="Calibri"/>
              <a:cs typeface="Calibri"/>
            </a:endParaRPr>
          </a:p>
          <a:p>
            <a:pPr marL="660400" marR="222885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Systematic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analysis,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screen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screen,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are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violated,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often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impact.</a:t>
            </a:r>
            <a:endParaRPr sz="2500">
              <a:latin typeface="Calibri"/>
              <a:cs typeface="Calibri"/>
            </a:endParaRPr>
          </a:p>
          <a:p>
            <a:pPr marL="660400" marR="508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problem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found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breach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one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guideline,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list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order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severity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causality.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2.1.4</a:t>
            </a:r>
            <a:r>
              <a:rPr dirty="0" sz="3300" spc="-55"/>
              <a:t> </a:t>
            </a:r>
            <a:r>
              <a:rPr dirty="0" sz="3300"/>
              <a:t>Reverse</a:t>
            </a:r>
            <a:r>
              <a:rPr dirty="0" sz="3300" spc="-55"/>
              <a:t> </a:t>
            </a:r>
            <a:r>
              <a:rPr dirty="0" sz="3300"/>
              <a:t>analysis:</a:t>
            </a:r>
            <a:r>
              <a:rPr dirty="0" sz="3300" spc="-55"/>
              <a:t> </a:t>
            </a:r>
            <a:r>
              <a:rPr dirty="0" sz="3300"/>
              <a:t>guidelines</a:t>
            </a:r>
            <a:r>
              <a:rPr dirty="0" sz="3300" spc="-55"/>
              <a:t> </a:t>
            </a:r>
            <a:r>
              <a:rPr dirty="0" sz="3300"/>
              <a:t>vs.</a:t>
            </a:r>
            <a:r>
              <a:rPr dirty="0" sz="3300" spc="-65"/>
              <a:t> </a:t>
            </a:r>
            <a:r>
              <a:rPr dirty="0" sz="3300" spc="-10"/>
              <a:t>system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499450"/>
            <a:ext cx="8474075" cy="54902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129539">
              <a:lnSpc>
                <a:spcPct val="100699"/>
              </a:lnSpc>
              <a:spcBef>
                <a:spcPts val="75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Systematic</a:t>
            </a:r>
            <a:r>
              <a:rPr dirty="0" sz="2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exploration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respect</a:t>
            </a:r>
            <a:r>
              <a:rPr dirty="0" sz="2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9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based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structure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endParaRPr sz="2500">
              <a:latin typeface="Calibri"/>
              <a:cs typeface="Calibri"/>
            </a:endParaRPr>
          </a:p>
          <a:p>
            <a:pPr marL="660400" marR="4699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independent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expected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audience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endParaRPr sz="2500">
              <a:latin typeface="Calibri"/>
              <a:cs typeface="Calibri"/>
            </a:endParaRPr>
          </a:p>
          <a:p>
            <a:pPr marL="660400" marR="728345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Systematic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analysis,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guideline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guideline,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which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functions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breaches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often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impact.</a:t>
            </a:r>
            <a:endParaRPr sz="2500">
              <a:latin typeface="Calibri"/>
              <a:cs typeface="Calibri"/>
            </a:endParaRPr>
          </a:p>
          <a:p>
            <a:pPr marL="660400" marR="508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case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problem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found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appears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one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function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section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site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interface,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list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in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order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severity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causality.</a:t>
            </a:r>
            <a:endParaRPr sz="2500">
              <a:latin typeface="Calibri"/>
              <a:cs typeface="Calibri"/>
            </a:endParaRPr>
          </a:p>
          <a:p>
            <a:pPr marL="660400" marR="119380" indent="-294640">
              <a:lnSpc>
                <a:spcPct val="100400"/>
              </a:lnSpc>
              <a:spcBef>
                <a:spcPts val="59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Obviously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many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problems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found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analysis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found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reverse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one.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Ignore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look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for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new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problems.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575691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"A</a:t>
            </a:r>
            <a:r>
              <a:rPr dirty="0" sz="33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reasonable</a:t>
            </a:r>
            <a:r>
              <a:rPr dirty="0" sz="3300" spc="-6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3300" spc="-5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3300" spc="-6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errors"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b="0" i="0">
                <a:latin typeface="Calibri"/>
                <a:cs typeface="Calibri"/>
              </a:rPr>
              <a:t>How</a:t>
            </a:r>
            <a:r>
              <a:rPr dirty="0" spc="-9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many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are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"a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reasonable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number"?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No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simple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answer,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spc="-25" b="0" i="0">
                <a:latin typeface="Calibri"/>
                <a:cs typeface="Calibri"/>
              </a:rPr>
              <a:t>but</a:t>
            </a:r>
          </a:p>
          <a:p>
            <a:pPr marL="661670" marR="32384" indent="-295910">
              <a:lnSpc>
                <a:spcPts val="2500"/>
              </a:lnSpc>
              <a:spcBef>
                <a:spcPts val="6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b="0" i="0">
                <a:latin typeface="Calibri"/>
                <a:cs typeface="Calibri"/>
              </a:rPr>
              <a:t>All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implementation,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catastrophic,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and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severe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implementation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problems </a:t>
            </a:r>
            <a:r>
              <a:rPr dirty="0" sz="2100" b="0" i="0">
                <a:latin typeface="Calibri"/>
                <a:cs typeface="Calibri"/>
              </a:rPr>
              <a:t>have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been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identified,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75%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minor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mistakes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and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many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cosmetic mistakes</a:t>
            </a:r>
            <a:endParaRPr sz="2100">
              <a:latin typeface="Calibri"/>
              <a:cs typeface="Calibri"/>
            </a:endParaRPr>
          </a:p>
          <a:p>
            <a:pPr marL="661670" marR="781685" indent="-295910">
              <a:lnSpc>
                <a:spcPct val="100000"/>
              </a:lnSpc>
              <a:spcBef>
                <a:spcPts val="3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b="0" i="0">
                <a:latin typeface="Calibri"/>
                <a:cs typeface="Calibri"/>
              </a:rPr>
              <a:t>All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frequent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and/or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persistent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problems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have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been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found, regardless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their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impact.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b="0" i="0">
                <a:latin typeface="Calibri"/>
                <a:cs typeface="Calibri"/>
              </a:rPr>
              <a:t>Each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error</a:t>
            </a:r>
            <a:r>
              <a:rPr dirty="0" spc="-5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is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described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in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5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documentation:</a:t>
            </a:r>
          </a:p>
          <a:p>
            <a:pPr marL="661670" marR="508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 b="0" i="0">
                <a:latin typeface="Calibri"/>
                <a:cs typeface="Calibri"/>
              </a:rPr>
              <a:t>Description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function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/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section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/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interface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in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which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it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is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present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25" b="0" i="0">
                <a:latin typeface="Calibri"/>
                <a:cs typeface="Calibri"/>
              </a:rPr>
              <a:t>(or </a:t>
            </a:r>
            <a:r>
              <a:rPr dirty="0" sz="2100" b="0" i="0">
                <a:latin typeface="Calibri"/>
                <a:cs typeface="Calibri"/>
              </a:rPr>
              <a:t>all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if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persistent)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 b="0" i="0">
                <a:latin typeface="Calibri"/>
                <a:cs typeface="Calibri"/>
              </a:rPr>
              <a:t>Description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actual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problem</a:t>
            </a:r>
            <a:endParaRPr sz="2100">
              <a:latin typeface="Calibri"/>
              <a:cs typeface="Calibri"/>
            </a:endParaRPr>
          </a:p>
          <a:p>
            <a:pPr marL="661670" marR="260985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b="0" i="0">
                <a:latin typeface="Calibri"/>
                <a:cs typeface="Calibri"/>
              </a:rPr>
              <a:t>How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problem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was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discovered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(before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exploration,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direct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analysis, inverse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analysis,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user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testing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(later))</a:t>
            </a:r>
            <a:endParaRPr sz="2100">
              <a:latin typeface="Calibri"/>
              <a:cs typeface="Calibri"/>
            </a:endParaRPr>
          </a:p>
          <a:p>
            <a:pPr marL="661670" marR="525780" indent="-295910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 b="0" i="0">
                <a:latin typeface="Calibri"/>
                <a:cs typeface="Calibri"/>
              </a:rPr>
              <a:t>Classification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error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(eg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according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to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Persistence,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impact,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25" b="0" i="0">
                <a:latin typeface="Calibri"/>
                <a:cs typeface="Calibri"/>
              </a:rPr>
              <a:t>and </a:t>
            </a:r>
            <a:r>
              <a:rPr dirty="0" sz="2100" spc="-10" b="0" i="0">
                <a:latin typeface="Calibri"/>
                <a:cs typeface="Calibri"/>
              </a:rPr>
              <a:t>frequency)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2.2</a:t>
            </a:r>
            <a:r>
              <a:rPr dirty="0" sz="3300" spc="-25"/>
              <a:t> </a:t>
            </a:r>
            <a:r>
              <a:rPr dirty="0" sz="3300"/>
              <a:t>User</a:t>
            </a:r>
            <a:r>
              <a:rPr dirty="0" sz="3300" spc="-20"/>
              <a:t> </a:t>
            </a:r>
            <a:r>
              <a:rPr dirty="0" sz="3300" spc="-10"/>
              <a:t>testing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408904"/>
            <a:ext cx="5554345" cy="528764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Before:</a:t>
            </a:r>
            <a:endParaRPr sz="2900">
              <a:latin typeface="Calibri"/>
              <a:cs typeface="Calibri"/>
            </a:endParaRPr>
          </a:p>
          <a:p>
            <a:pPr lvl="1" marL="732155" indent="-36639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732155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Define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protocol</a:t>
            </a: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70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During</a:t>
            </a:r>
            <a:endParaRPr sz="2900">
              <a:latin typeface="Calibri"/>
              <a:cs typeface="Calibri"/>
            </a:endParaRPr>
          </a:p>
          <a:p>
            <a:pPr lvl="1" marL="660400" indent="-294640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endParaRPr sz="2500">
              <a:latin typeface="Calibri"/>
              <a:cs typeface="Calibri"/>
            </a:endParaRPr>
          </a:p>
          <a:p>
            <a:pPr lvl="1"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Collect</a:t>
            </a:r>
            <a:r>
              <a:rPr dirty="0" sz="2500" spc="-1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70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After:</a:t>
            </a:r>
            <a:endParaRPr sz="2900">
              <a:latin typeface="Calibri"/>
              <a:cs typeface="Calibri"/>
            </a:endParaRPr>
          </a:p>
          <a:p>
            <a:pPr lvl="1" marL="732155" indent="-36639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732155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Analyze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subjective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objective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endParaRPr sz="2500">
              <a:latin typeface="Calibri"/>
              <a:cs typeface="Calibri"/>
            </a:endParaRPr>
          </a:p>
          <a:p>
            <a:pPr lvl="1" marL="732155" indent="-366395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732155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Identify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problems</a:t>
            </a:r>
            <a:endParaRPr sz="2500">
              <a:latin typeface="Calibri"/>
              <a:cs typeface="Calibri"/>
            </a:endParaRPr>
          </a:p>
          <a:p>
            <a:pPr lvl="1" marL="732155" indent="-366395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732155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Integrate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previous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list</a:t>
            </a:r>
            <a:endParaRPr sz="2500">
              <a:latin typeface="Calibri"/>
              <a:cs typeface="Calibri"/>
            </a:endParaRPr>
          </a:p>
          <a:p>
            <a:pPr lvl="1" marL="732155" indent="-366395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732155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curves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urgency</a:t>
            </a:r>
            <a:endParaRPr sz="2500">
              <a:latin typeface="Calibri"/>
              <a:cs typeface="Calibri"/>
            </a:endParaRPr>
          </a:p>
          <a:p>
            <a:pPr lvl="1" marL="660400" indent="-294640">
              <a:lnSpc>
                <a:spcPct val="100000"/>
              </a:lnSpc>
              <a:spcBef>
                <a:spcPts val="62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Write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conclusions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suggestions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672020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2.2.1</a:t>
            </a:r>
            <a:r>
              <a:rPr dirty="0" sz="3300" spc="-6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Definition</a:t>
            </a:r>
            <a:r>
              <a:rPr dirty="0" sz="33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3300" spc="-6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3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33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protocol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5277" y="1422428"/>
            <a:ext cx="7569834" cy="48291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07340" indent="-294640">
              <a:lnSpc>
                <a:spcPct val="100000"/>
              </a:lnSpc>
              <a:spcBef>
                <a:spcPts val="7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30734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method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(e.g.,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discount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full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testing)</a:t>
            </a:r>
            <a:endParaRPr sz="2500">
              <a:latin typeface="Calibri"/>
              <a:cs typeface="Calibri"/>
            </a:endParaRPr>
          </a:p>
          <a:p>
            <a:pPr marL="30734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30734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List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tasks,</a:t>
            </a:r>
            <a:endParaRPr sz="2500">
              <a:latin typeface="Calibri"/>
              <a:cs typeface="Calibri"/>
            </a:endParaRPr>
          </a:p>
          <a:p>
            <a:pPr marL="30734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30734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tests,</a:t>
            </a:r>
            <a:endParaRPr sz="2500">
              <a:latin typeface="Calibri"/>
              <a:cs typeface="Calibri"/>
            </a:endParaRPr>
          </a:p>
          <a:p>
            <a:pPr marL="30734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30734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subjects,</a:t>
            </a:r>
            <a:endParaRPr sz="2500">
              <a:latin typeface="Calibri"/>
              <a:cs typeface="Calibri"/>
            </a:endParaRPr>
          </a:p>
          <a:p>
            <a:pPr marL="306705" marR="48260" indent="-294640">
              <a:lnSpc>
                <a:spcPct val="100800"/>
              </a:lnSpc>
              <a:spcBef>
                <a:spcPts val="57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307975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methodology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(eg,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Thinking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Aloud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Bottom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Line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Data)</a:t>
            </a:r>
            <a:endParaRPr sz="2500">
              <a:latin typeface="Calibri"/>
              <a:cs typeface="Calibri"/>
            </a:endParaRPr>
          </a:p>
          <a:p>
            <a:pPr marL="307340" indent="-294640">
              <a:lnSpc>
                <a:spcPct val="100000"/>
              </a:lnSpc>
              <a:spcBef>
                <a:spcPts val="57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30734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Metrics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(according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EEE)</a:t>
            </a:r>
            <a:endParaRPr sz="2500">
              <a:latin typeface="Calibri"/>
              <a:cs typeface="Calibri"/>
            </a:endParaRPr>
          </a:p>
          <a:p>
            <a:pPr marL="306705" marR="5080" indent="-294640">
              <a:lnSpc>
                <a:spcPct val="100800"/>
              </a:lnSpc>
              <a:spcBef>
                <a:spcPts val="57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307975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Recruitment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real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subjects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relationship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target 	audience</a:t>
            </a:r>
            <a:endParaRPr sz="2500">
              <a:latin typeface="Calibri"/>
              <a:cs typeface="Calibri"/>
            </a:endParaRPr>
          </a:p>
          <a:p>
            <a:pPr marL="306705" marR="5969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307975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Organization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initial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introduction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final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assessment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questionnaire.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784" y="235523"/>
            <a:ext cx="5483860" cy="986155"/>
          </a:xfrm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958850" marR="5080" indent="-946150">
              <a:lnSpc>
                <a:spcPts val="3600"/>
              </a:lnSpc>
              <a:spcBef>
                <a:spcPts val="520"/>
              </a:spcBef>
            </a:pPr>
            <a:r>
              <a:rPr dirty="0" sz="3300"/>
              <a:t>2.2.3</a:t>
            </a:r>
            <a:r>
              <a:rPr dirty="0" sz="3300" spc="-60"/>
              <a:t> </a:t>
            </a:r>
            <a:r>
              <a:rPr dirty="0" sz="3300"/>
              <a:t>Analysis</a:t>
            </a:r>
            <a:r>
              <a:rPr dirty="0" sz="3300" spc="-70"/>
              <a:t> </a:t>
            </a:r>
            <a:r>
              <a:rPr dirty="0" sz="3300"/>
              <a:t>of</a:t>
            </a:r>
            <a:r>
              <a:rPr dirty="0" sz="3300" spc="-60"/>
              <a:t> </a:t>
            </a:r>
            <a:r>
              <a:rPr dirty="0" sz="3300"/>
              <a:t>subjective</a:t>
            </a:r>
            <a:r>
              <a:rPr dirty="0" sz="3300" spc="-60"/>
              <a:t> </a:t>
            </a:r>
            <a:r>
              <a:rPr dirty="0" sz="3300" spc="-25"/>
              <a:t>and </a:t>
            </a:r>
            <a:r>
              <a:rPr dirty="0" sz="3300"/>
              <a:t>objective</a:t>
            </a:r>
            <a:r>
              <a:rPr dirty="0" sz="3300" spc="-90"/>
              <a:t> </a:t>
            </a:r>
            <a:r>
              <a:rPr dirty="0" sz="3300" spc="-20"/>
              <a:t>data</a:t>
            </a:r>
            <a:endParaRPr sz="33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7305" rIns="0" bIns="0" rtlCol="0" vert="horz">
            <a:spAutoFit/>
          </a:bodyPr>
          <a:lstStyle/>
          <a:p>
            <a:pPr marL="12700" marR="670560">
              <a:lnSpc>
                <a:spcPct val="100000"/>
              </a:lnSpc>
              <a:spcBef>
                <a:spcPts val="100"/>
              </a:spcBef>
            </a:pPr>
            <a:r>
              <a:rPr dirty="0" b="0" i="0">
                <a:latin typeface="Calibri"/>
                <a:cs typeface="Calibri"/>
              </a:rPr>
              <a:t>Tests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will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generate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to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large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amount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of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data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that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should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spc="-25" b="0" i="0">
                <a:latin typeface="Calibri"/>
                <a:cs typeface="Calibri"/>
              </a:rPr>
              <a:t>be </a:t>
            </a:r>
            <a:r>
              <a:rPr dirty="0" b="0" i="0">
                <a:latin typeface="Calibri"/>
                <a:cs typeface="Calibri"/>
              </a:rPr>
              <a:t>organized</a:t>
            </a:r>
            <a:r>
              <a:rPr dirty="0" spc="-9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and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described.</a:t>
            </a:r>
            <a:r>
              <a:rPr dirty="0" spc="-90" b="0" i="0">
                <a:latin typeface="Calibri"/>
                <a:cs typeface="Calibri"/>
              </a:rPr>
              <a:t> </a:t>
            </a:r>
            <a:r>
              <a:rPr dirty="0" spc="-25" b="0" i="0">
                <a:latin typeface="Calibri"/>
                <a:cs typeface="Calibri"/>
              </a:rPr>
              <a:t>Eg:</a:t>
            </a:r>
          </a:p>
          <a:p>
            <a:pPr marL="661670" marR="336550" indent="-295910">
              <a:lnSpc>
                <a:spcPts val="2500"/>
              </a:lnSpc>
              <a:spcBef>
                <a:spcPts val="690"/>
              </a:spcBef>
              <a:buChar char="◆"/>
              <a:tabLst>
                <a:tab pos="661670" algn="l"/>
                <a:tab pos="720725" algn="l"/>
              </a:tabLst>
            </a:pPr>
            <a:r>
              <a:rPr dirty="0" sz="1600" b="0" i="0">
                <a:solidFill>
                  <a:srgbClr val="333399"/>
                </a:solidFill>
                <a:latin typeface="Arial MT"/>
                <a:cs typeface="Arial MT"/>
              </a:rPr>
              <a:t>	</a:t>
            </a:r>
            <a:r>
              <a:rPr dirty="0" sz="2100" b="0" i="0">
                <a:latin typeface="Calibri"/>
                <a:cs typeface="Calibri"/>
              </a:rPr>
              <a:t>"All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users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have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all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complained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unclear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layout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information </a:t>
            </a:r>
            <a:r>
              <a:rPr dirty="0" sz="2100" b="0" i="0">
                <a:latin typeface="Calibri"/>
                <a:cs typeface="Calibri"/>
              </a:rPr>
              <a:t>and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little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refined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search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tools.</a:t>
            </a:r>
            <a:endParaRPr sz="2100">
              <a:latin typeface="Calibri"/>
              <a:cs typeface="Calibri"/>
            </a:endParaRPr>
          </a:p>
          <a:p>
            <a:pPr marL="661670" marR="337820" indent="-295910">
              <a:lnSpc>
                <a:spcPct val="99400"/>
              </a:lnSpc>
              <a:spcBef>
                <a:spcPts val="414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b="0" i="0">
                <a:latin typeface="Calibri"/>
                <a:cs typeface="Calibri"/>
              </a:rPr>
              <a:t>"For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task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one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needs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to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know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right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section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in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advance, </a:t>
            </a:r>
            <a:r>
              <a:rPr dirty="0" sz="2100" spc="-20" b="0" i="0">
                <a:latin typeface="Calibri"/>
                <a:cs typeface="Calibri"/>
              </a:rPr>
              <a:t>otherwise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information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can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only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be</a:t>
            </a:r>
            <a:r>
              <a:rPr dirty="0" sz="2100" spc="-6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found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by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browsing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though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spc="-25" b="0" i="0">
                <a:latin typeface="Calibri"/>
                <a:cs typeface="Calibri"/>
              </a:rPr>
              <a:t>all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sections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or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through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free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search,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carefully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avoiding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first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result </a:t>
            </a:r>
            <a:r>
              <a:rPr dirty="0" sz="2100" b="0" i="0">
                <a:latin typeface="Calibri"/>
                <a:cs typeface="Calibri"/>
              </a:rPr>
              <a:t>that</a:t>
            </a:r>
            <a:r>
              <a:rPr dirty="0" sz="2100" spc="-4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is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always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"a</a:t>
            </a:r>
            <a:r>
              <a:rPr dirty="0" sz="2100" spc="-4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complete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set</a:t>
            </a:r>
            <a:r>
              <a:rPr dirty="0" sz="2100" spc="-4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kitchen</a:t>
            </a:r>
            <a:r>
              <a:rPr dirty="0" sz="2100" spc="-50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accessories"</a:t>
            </a:r>
            <a:r>
              <a:rPr dirty="0" sz="2100" spc="-55" b="0" i="0">
                <a:latin typeface="Calibri"/>
                <a:cs typeface="Calibri"/>
              </a:rPr>
              <a:t> </a:t>
            </a:r>
            <a:r>
              <a:rPr dirty="0" sz="2100" spc="-50" b="0" i="0"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  <a:p>
            <a:pPr marL="661670" marR="5080" indent="-295910">
              <a:lnSpc>
                <a:spcPct val="99500"/>
              </a:lnSpc>
              <a:spcBef>
                <a:spcPts val="4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 b="0" i="0">
                <a:latin typeface="Calibri"/>
                <a:cs typeface="Calibri"/>
              </a:rPr>
              <a:t>"Users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first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searched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for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contact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section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or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email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addresses.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Someone </a:t>
            </a:r>
            <a:r>
              <a:rPr dirty="0" sz="2100" b="0" i="0">
                <a:latin typeface="Calibri"/>
                <a:cs typeface="Calibri"/>
              </a:rPr>
              <a:t>tried</a:t>
            </a:r>
            <a:r>
              <a:rPr dirty="0" sz="2100" spc="-8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20" b="0" i="0">
                <a:latin typeface="Calibri"/>
                <a:cs typeface="Calibri"/>
              </a:rPr>
              <a:t>"showcases"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section.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only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one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of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three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test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subjects </a:t>
            </a:r>
            <a:r>
              <a:rPr dirty="0" sz="2100" b="0" i="0">
                <a:latin typeface="Calibri"/>
                <a:cs typeface="Calibri"/>
              </a:rPr>
              <a:t>who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managed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to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complete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task</a:t>
            </a:r>
            <a:r>
              <a:rPr dirty="0" sz="2100" spc="-6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succeded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by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chance.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b="0" i="0">
                <a:latin typeface="Calibri"/>
                <a:cs typeface="Calibri"/>
              </a:rPr>
              <a:t>"No</a:t>
            </a:r>
            <a:r>
              <a:rPr dirty="0" sz="2100" spc="-9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one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was</a:t>
            </a:r>
            <a:r>
              <a:rPr dirty="0" sz="2100" spc="-7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able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to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complete</a:t>
            </a:r>
            <a:r>
              <a:rPr dirty="0" sz="2100" spc="-80" b="0" i="0">
                <a:latin typeface="Calibri"/>
                <a:cs typeface="Calibri"/>
              </a:rPr>
              <a:t> </a:t>
            </a:r>
            <a:r>
              <a:rPr dirty="0" sz="2100" b="0" i="0">
                <a:latin typeface="Calibri"/>
                <a:cs typeface="Calibri"/>
              </a:rPr>
              <a:t>the</a:t>
            </a:r>
            <a:r>
              <a:rPr dirty="0" sz="2100" spc="-75" b="0" i="0">
                <a:latin typeface="Calibri"/>
                <a:cs typeface="Calibri"/>
              </a:rPr>
              <a:t> </a:t>
            </a:r>
            <a:r>
              <a:rPr dirty="0" sz="2100" spc="-10" b="0" i="0">
                <a:latin typeface="Calibri"/>
                <a:cs typeface="Calibri"/>
              </a:rPr>
              <a:t>task"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352171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2.2.4</a:t>
            </a:r>
            <a:r>
              <a:rPr dirty="0" sz="3300" spc="-3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Urgency</a:t>
            </a:r>
            <a:r>
              <a:rPr dirty="0" sz="3300" spc="-4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Curve</a:t>
            </a:r>
            <a:endParaRPr sz="33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0575" y="1633506"/>
            <a:ext cx="4776849" cy="29348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00536" y="2297033"/>
            <a:ext cx="8330565" cy="404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marR="4779010" indent="-3549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83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curve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urgency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two-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dimensional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chart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such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"impact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vs.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frequency"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"impact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vs.</a:t>
            </a:r>
            <a:r>
              <a:rPr dirty="0" sz="25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persistence".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Clr>
                <a:srgbClr val="151515"/>
              </a:buClr>
              <a:buFont typeface="Wingdings"/>
              <a:buChar char=""/>
            </a:pP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identified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errors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drawn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chart.</a:t>
            </a:r>
            <a:endParaRPr sz="2500">
              <a:latin typeface="Calibri"/>
              <a:cs typeface="Calibri"/>
            </a:endParaRPr>
          </a:p>
          <a:p>
            <a:pPr marL="367030" marR="5080" indent="-354965">
              <a:lnSpc>
                <a:spcPct val="100400"/>
              </a:lnSpc>
              <a:spcBef>
                <a:spcPts val="58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Deciding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urgency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threshold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above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fix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immediately;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below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next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release)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draw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curve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separating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urgent problems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others.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191262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3300" spc="-3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issues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111490" cy="419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207010" indent="-3549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common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misconception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associate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urgency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level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as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soon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error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identified.</a:t>
            </a:r>
            <a:endParaRPr sz="2500">
              <a:latin typeface="Calibri"/>
              <a:cs typeface="Calibri"/>
            </a:endParaRPr>
          </a:p>
          <a:p>
            <a:pPr lvl="1" marL="661670" marR="735965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identify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persistence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problem,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but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frequency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impact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determined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testing.</a:t>
            </a:r>
            <a:endParaRPr sz="2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90"/>
              </a:spcBef>
              <a:buClr>
                <a:srgbClr val="333399"/>
              </a:buClr>
              <a:buFont typeface="Arial MT"/>
              <a:buChar char="◆"/>
            </a:pPr>
            <a:endParaRPr sz="2100">
              <a:latin typeface="Calibri"/>
              <a:cs typeface="Calibri"/>
            </a:endParaRPr>
          </a:p>
          <a:p>
            <a:pPr marL="367030" marR="5080" indent="-354965">
              <a:lnSpc>
                <a:spcPct val="100800"/>
              </a:lnSpc>
              <a:spcBef>
                <a:spcPts val="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second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common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misconception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organize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usability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way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errors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detected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endParaRPr sz="2500">
              <a:latin typeface="Calibri"/>
              <a:cs typeface="Calibri"/>
            </a:endParaRPr>
          </a:p>
          <a:p>
            <a:pPr lvl="1" marL="661670" marR="412115" indent="-295910">
              <a:lnSpc>
                <a:spcPts val="2500"/>
              </a:lnSpc>
              <a:spcBef>
                <a:spcPts val="6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verify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frequency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severity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errors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with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regard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user's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task.</a:t>
            </a:r>
            <a:endParaRPr sz="2100">
              <a:latin typeface="Calibri"/>
              <a:cs typeface="Calibri"/>
            </a:endParaRPr>
          </a:p>
          <a:p>
            <a:pPr lvl="1" marL="661670" marR="128270" indent="-295910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instance,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gross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violation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sector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site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where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major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serious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error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34636"/>
            <a:ext cx="294259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700" spc="-1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78495" cy="2581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take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place: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Clr>
                <a:srgbClr val="151515"/>
              </a:buClr>
              <a:buFont typeface="Wingdings"/>
              <a:buChar char=""/>
            </a:pPr>
            <a:endParaRPr sz="2500">
              <a:latin typeface="Calibri"/>
              <a:cs typeface="Calibri"/>
            </a:endParaRPr>
          </a:p>
          <a:p>
            <a:pPr lvl="1" marL="661670" marR="887094" indent="-295910">
              <a:lnSpc>
                <a:spcPts val="2500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Internally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development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team,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while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being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developed.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called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2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30"/>
              </a:spcBef>
              <a:buClr>
                <a:srgbClr val="333399"/>
              </a:buClr>
              <a:buFont typeface="Arial MT"/>
              <a:buChar char="◆"/>
            </a:pPr>
            <a:endParaRPr sz="2100">
              <a:latin typeface="Calibri"/>
              <a:cs typeface="Calibri"/>
            </a:endParaRPr>
          </a:p>
          <a:p>
            <a:pPr lvl="1" marL="661670" marR="5080" indent="-295910">
              <a:lnSpc>
                <a:spcPts val="2500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Externally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development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team,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participation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potential external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called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067" y="4654260"/>
            <a:ext cx="7106920" cy="2533015"/>
            <a:chOff x="2807067" y="4654260"/>
            <a:chExt cx="7106920" cy="2533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7067" y="4654260"/>
              <a:ext cx="5144533" cy="22529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4278" y="4833988"/>
              <a:ext cx="4542284" cy="18934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8554" y="5242247"/>
              <a:ext cx="4518008" cy="107694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01784" y="434636"/>
            <a:ext cx="327787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Likert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Scales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1784" y="1422428"/>
            <a:ext cx="8300084" cy="2997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56210" indent="-152400">
              <a:lnSpc>
                <a:spcPct val="100000"/>
              </a:lnSpc>
              <a:spcBef>
                <a:spcPts val="700"/>
              </a:spcBef>
              <a:buSzPct val="96000"/>
              <a:buFont typeface="Wingdings"/>
              <a:buChar char=""/>
              <a:tabLst>
                <a:tab pos="15621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Likert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scales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psychometric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scale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questionnaires.</a:t>
            </a:r>
            <a:endParaRPr sz="2500">
              <a:latin typeface="Calibri"/>
              <a:cs typeface="Calibri"/>
            </a:endParaRPr>
          </a:p>
          <a:p>
            <a:pPr marL="25400" marR="6350" indent="-22225">
              <a:lnSpc>
                <a:spcPct val="100000"/>
              </a:lnSpc>
              <a:spcBef>
                <a:spcPts val="600"/>
              </a:spcBef>
              <a:buSzPct val="96000"/>
              <a:buFont typeface="Wingdings"/>
              <a:buChar char=""/>
              <a:tabLst>
                <a:tab pos="25400" algn="l"/>
                <a:tab pos="155575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Named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after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its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inventor,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psychologist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Rensis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Likert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(USA,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1903-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1981),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most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widely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survey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research.</a:t>
            </a:r>
            <a:endParaRPr sz="2500">
              <a:latin typeface="Calibri"/>
              <a:cs typeface="Calibri"/>
            </a:endParaRPr>
          </a:p>
          <a:p>
            <a:pPr marL="25400" marR="5080" indent="-22225">
              <a:lnSpc>
                <a:spcPct val="100000"/>
              </a:lnSpc>
              <a:spcBef>
                <a:spcPts val="600"/>
              </a:spcBef>
              <a:buSzPct val="96000"/>
              <a:buFont typeface="Wingdings"/>
              <a:buChar char=""/>
              <a:tabLst>
                <a:tab pos="25400" algn="l"/>
                <a:tab pos="155575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Respondents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specify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level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agreement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symmetric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scale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series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statements.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range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captures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intensity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feelings.</a:t>
            </a:r>
            <a:endParaRPr sz="2500">
              <a:latin typeface="Calibri"/>
              <a:cs typeface="Calibri"/>
            </a:endParaRPr>
          </a:p>
          <a:p>
            <a:pPr marL="156210" indent="-152400">
              <a:lnSpc>
                <a:spcPct val="100000"/>
              </a:lnSpc>
              <a:spcBef>
                <a:spcPts val="600"/>
              </a:spcBef>
              <a:buSzPct val="96000"/>
              <a:buFont typeface="Wingdings"/>
              <a:buChar char=""/>
              <a:tabLst>
                <a:tab pos="15621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Likert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scales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either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5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6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(no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neutral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answers)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7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levels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10"/>
              <a:t> </a:t>
            </a:r>
            <a:r>
              <a:rPr dirty="0"/>
              <a:t>Usability</a:t>
            </a:r>
            <a:r>
              <a:rPr dirty="0" spc="-15"/>
              <a:t> </a:t>
            </a:r>
            <a:r>
              <a:rPr dirty="0"/>
              <a:t>Scale</a:t>
            </a:r>
            <a:r>
              <a:rPr dirty="0" spc="-10"/>
              <a:t> (SUS)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881512"/>
            <a:ext cx="8201025" cy="47929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67030" marR="185420" indent="-354965">
              <a:lnSpc>
                <a:spcPct val="99500"/>
              </a:lnSpc>
              <a:spcBef>
                <a:spcPts val="11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generic,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super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quick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super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dirty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method.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Invented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in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1986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DEC,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adopted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IBM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2006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because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simplicity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reasonableness.</a:t>
            </a:r>
            <a:endParaRPr sz="2100">
              <a:latin typeface="Calibri"/>
              <a:cs typeface="Calibri"/>
            </a:endParaRPr>
          </a:p>
          <a:p>
            <a:pPr marL="367030" marR="99695" indent="-354965">
              <a:lnSpc>
                <a:spcPts val="2500"/>
              </a:lnSpc>
              <a:spcBef>
                <a:spcPts val="58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fixed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protocol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standard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criteria,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which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algorithmised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needed.</a:t>
            </a:r>
            <a:endParaRPr sz="2100">
              <a:latin typeface="Calibri"/>
              <a:cs typeface="Calibri"/>
            </a:endParaRPr>
          </a:p>
          <a:p>
            <a:pPr marL="367030" marR="396875" indent="-354965">
              <a:lnSpc>
                <a:spcPts val="2500"/>
              </a:lnSpc>
              <a:spcBef>
                <a:spcPts val="5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questions,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alternatively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proposed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positive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negative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enunciation,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asked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respond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according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5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levels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Likert scale.</a:t>
            </a:r>
            <a:endParaRPr sz="2100">
              <a:latin typeface="Calibri"/>
              <a:cs typeface="Calibri"/>
            </a:endParaRPr>
          </a:p>
          <a:p>
            <a:pPr marL="367030" marR="5080" indent="-354965">
              <a:lnSpc>
                <a:spcPct val="100000"/>
              </a:lnSpc>
              <a:spcBef>
                <a:spcPts val="39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Missing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ratings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worth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variation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allowed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phrasing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questions.</a:t>
            </a:r>
            <a:endParaRPr sz="2100">
              <a:latin typeface="Calibri"/>
              <a:cs typeface="Calibri"/>
            </a:endParaRPr>
          </a:p>
          <a:p>
            <a:pPr marL="367030" marR="98425" indent="-354965">
              <a:lnSpc>
                <a:spcPts val="2500"/>
              </a:lnSpc>
              <a:spcBef>
                <a:spcPts val="58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generates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score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0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100,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provides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total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value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Scores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higher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68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said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indicate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good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usability.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39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Details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protocol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  <a:hlinkClick r:id="rId2"/>
              </a:rPr>
              <a:t>http://www.measuringusability.com/sus.php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0118" y="337616"/>
            <a:ext cx="1166495" cy="412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91245" y="228600"/>
            <a:ext cx="1579880" cy="805815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276860" rIns="0" bIns="0" rtlCol="0" vert="horz">
            <a:spAutoFit/>
          </a:bodyPr>
          <a:lstStyle/>
          <a:p>
            <a:pPr marL="356235">
              <a:lnSpc>
                <a:spcPct val="100000"/>
              </a:lnSpc>
              <a:spcBef>
                <a:spcPts val="2180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34636"/>
            <a:ext cx="5346065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SUS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-</a:t>
            </a:r>
            <a:r>
              <a:rPr dirty="0" sz="3700" spc="-1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questionnaire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25" b="1">
                <a:solidFill>
                  <a:srgbClr val="151515"/>
                </a:solidFill>
                <a:latin typeface="Calibri"/>
                <a:cs typeface="Calibri"/>
              </a:rPr>
              <a:t>(2)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5950" y="1578889"/>
            <a:ext cx="8562975" cy="527113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485140" indent="-47244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485140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think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would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like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frequently.</a:t>
            </a:r>
            <a:endParaRPr sz="23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485140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found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151515"/>
                </a:solidFill>
                <a:latin typeface="Calibri"/>
                <a:cs typeface="Calibri"/>
              </a:rPr>
              <a:t>unnecessarily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complex.</a:t>
            </a:r>
            <a:endParaRPr sz="23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485140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thought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was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easy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151515"/>
                </a:solidFill>
                <a:latin typeface="Calibri"/>
                <a:cs typeface="Calibri"/>
              </a:rPr>
              <a:t>use.</a:t>
            </a:r>
            <a:endParaRPr sz="2300">
              <a:latin typeface="Calibri"/>
              <a:cs typeface="Calibri"/>
            </a:endParaRPr>
          </a:p>
          <a:p>
            <a:pPr marL="485775" marR="5080" indent="-473075">
              <a:lnSpc>
                <a:spcPct val="101699"/>
              </a:lnSpc>
              <a:spcBef>
                <a:spcPts val="480"/>
              </a:spcBef>
              <a:buAutoNum type="arabicPeriod"/>
              <a:tabLst>
                <a:tab pos="485775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think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would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support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technical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151515"/>
                </a:solidFill>
                <a:latin typeface="Calibri"/>
                <a:cs typeface="Calibri"/>
              </a:rPr>
              <a:t>able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3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485140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found</a:t>
            </a:r>
            <a:r>
              <a:rPr dirty="0" sz="23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3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various</a:t>
            </a:r>
            <a:r>
              <a:rPr dirty="0" sz="23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functions</a:t>
            </a:r>
            <a:r>
              <a:rPr dirty="0" sz="23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3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3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3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were</a:t>
            </a:r>
            <a:r>
              <a:rPr dirty="0" sz="23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23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integrated.</a:t>
            </a:r>
            <a:endParaRPr sz="23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485140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thought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was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much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151515"/>
                </a:solidFill>
                <a:latin typeface="Calibri"/>
                <a:cs typeface="Calibri"/>
              </a:rPr>
              <a:t>inconsistency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300">
              <a:latin typeface="Calibri"/>
              <a:cs typeface="Calibri"/>
            </a:endParaRPr>
          </a:p>
          <a:p>
            <a:pPr marL="485775" marR="481330" indent="-473075">
              <a:lnSpc>
                <a:spcPts val="2710"/>
              </a:lnSpc>
              <a:spcBef>
                <a:spcPts val="685"/>
              </a:spcBef>
              <a:buAutoNum type="arabicPeriod"/>
              <a:tabLst>
                <a:tab pos="485775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would</a:t>
            </a:r>
            <a:r>
              <a:rPr dirty="0" sz="23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imagine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most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people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would</a:t>
            </a:r>
            <a:r>
              <a:rPr dirty="0" sz="23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learn</a:t>
            </a:r>
            <a:r>
              <a:rPr dirty="0" sz="23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system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quickly.</a:t>
            </a:r>
            <a:endParaRPr sz="23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485140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found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151515"/>
                </a:solidFill>
                <a:latin typeface="Calibri"/>
                <a:cs typeface="Calibri"/>
              </a:rPr>
              <a:t>cumbersome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3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151515"/>
                </a:solidFill>
                <a:latin typeface="Calibri"/>
                <a:cs typeface="Calibri"/>
              </a:rPr>
              <a:t>use.</a:t>
            </a:r>
            <a:endParaRPr sz="2300">
              <a:latin typeface="Calibri"/>
              <a:cs typeface="Calibri"/>
            </a:endParaRPr>
          </a:p>
          <a:p>
            <a:pPr marL="485140" indent="-472440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485140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felt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confident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300">
              <a:latin typeface="Calibri"/>
              <a:cs typeface="Calibri"/>
            </a:endParaRPr>
          </a:p>
          <a:p>
            <a:pPr marL="485775" marR="468630" indent="-473075">
              <a:lnSpc>
                <a:spcPct val="101699"/>
              </a:lnSpc>
              <a:spcBef>
                <a:spcPts val="480"/>
              </a:spcBef>
              <a:buAutoNum type="arabicPeriod"/>
              <a:tabLst>
                <a:tab pos="485775" algn="l"/>
              </a:tabLst>
            </a:pP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needed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learn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lot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3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things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could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get</a:t>
            </a:r>
            <a:r>
              <a:rPr dirty="0" sz="23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going</a:t>
            </a:r>
            <a:r>
              <a:rPr dirty="0" sz="23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3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151515"/>
                </a:solidFill>
                <a:latin typeface="Calibri"/>
                <a:cs typeface="Calibri"/>
              </a:rPr>
              <a:t>this </a:t>
            </a:r>
            <a:r>
              <a:rPr dirty="0" sz="23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34636"/>
            <a:ext cx="389001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SUS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-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algorithm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7796530" cy="5287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1356995" indent="-3549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positive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question,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assign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score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(selected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choice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-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1)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(going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0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4)</a:t>
            </a:r>
            <a:endParaRPr sz="2500">
              <a:latin typeface="Calibri"/>
              <a:cs typeface="Calibri"/>
            </a:endParaRPr>
          </a:p>
          <a:p>
            <a:pPr marL="367030" marR="1261745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negative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question,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assign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score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(5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–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selected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choice)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(again,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0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4)</a:t>
            </a:r>
            <a:endParaRPr sz="2500">
              <a:latin typeface="Calibri"/>
              <a:cs typeface="Calibri"/>
            </a:endParaRPr>
          </a:p>
          <a:p>
            <a:pPr marL="367030" marR="5080" indent="-354965">
              <a:lnSpc>
                <a:spcPct val="100400"/>
              </a:lnSpc>
              <a:spcBef>
                <a:spcPts val="59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sum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scores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get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value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going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0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40.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We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multiply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2.5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get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value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0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100,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with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increments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2.5.</a:t>
            </a:r>
            <a:endParaRPr sz="2500">
              <a:latin typeface="Calibri"/>
              <a:cs typeface="Calibri"/>
            </a:endParaRPr>
          </a:p>
          <a:p>
            <a:pPr marL="367030" marR="166370" indent="-354965">
              <a:lnSpc>
                <a:spcPct val="100299"/>
              </a:lnSpc>
              <a:spcBef>
                <a:spcPts val="56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proposals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2006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subscales, Learnability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Usability,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Learnability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corresponds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questions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4,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8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10,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1,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2,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3,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5,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6,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7,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8,</a:t>
            </a:r>
            <a:r>
              <a:rPr dirty="0" sz="25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9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(Question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8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scales)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367030" marR="410845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thousands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indicate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good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predictive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ability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factors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separately.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341" y="425492"/>
            <a:ext cx="8674735" cy="6262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Info</a:t>
            </a:r>
            <a:r>
              <a:rPr dirty="0" sz="3700" spc="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3700" spc="1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submissions</a:t>
            </a:r>
            <a:endParaRPr sz="3700">
              <a:latin typeface="Calibri"/>
              <a:cs typeface="Calibri"/>
            </a:endParaRPr>
          </a:p>
          <a:p>
            <a:pPr marL="405130" indent="-354330">
              <a:lnSpc>
                <a:spcPct val="100000"/>
              </a:lnSpc>
              <a:spcBef>
                <a:spcPts val="2665"/>
              </a:spcBef>
              <a:buFont typeface="Wingdings"/>
              <a:buChar char=""/>
              <a:tabLst>
                <a:tab pos="4051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deadline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submissions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endParaRPr sz="2500">
              <a:latin typeface="Calibri"/>
              <a:cs typeface="Calibri"/>
            </a:endParaRPr>
          </a:p>
          <a:p>
            <a:pPr marL="2457450">
              <a:lnSpc>
                <a:spcPct val="100000"/>
              </a:lnSpc>
              <a:spcBef>
                <a:spcPts val="600"/>
              </a:spcBef>
            </a:pPr>
            <a:r>
              <a:rPr dirty="0" sz="2500" b="1" i="1">
                <a:solidFill>
                  <a:srgbClr val="0070C0"/>
                </a:solidFill>
                <a:latin typeface="Calibri"/>
                <a:cs typeface="Calibri"/>
              </a:rPr>
              <a:t>Sunday</a:t>
            </a:r>
            <a:r>
              <a:rPr dirty="0" sz="2500" spc="-95" b="1" i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0070C0"/>
                </a:solidFill>
                <a:latin typeface="Calibri"/>
                <a:cs typeface="Calibri"/>
              </a:rPr>
              <a:t>11</a:t>
            </a:r>
            <a:r>
              <a:rPr dirty="0" baseline="22875" sz="2550" b="1" i="1">
                <a:solidFill>
                  <a:srgbClr val="0070C0"/>
                </a:solidFill>
                <a:latin typeface="Calibri"/>
                <a:cs typeface="Calibri"/>
              </a:rPr>
              <a:t>th</a:t>
            </a:r>
            <a:r>
              <a:rPr dirty="0" baseline="22875" sz="2550" spc="135" b="1" i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0070C0"/>
                </a:solidFill>
                <a:latin typeface="Calibri"/>
                <a:cs typeface="Calibri"/>
              </a:rPr>
              <a:t>April</a:t>
            </a:r>
            <a:r>
              <a:rPr dirty="0" sz="2500" spc="-85" b="1" i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0070C0"/>
                </a:solidFill>
                <a:latin typeface="Calibri"/>
                <a:cs typeface="Calibri"/>
              </a:rPr>
              <a:t>2025,</a:t>
            </a:r>
            <a:r>
              <a:rPr dirty="0" sz="2500" spc="-75" b="1" i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0070C0"/>
                </a:solidFill>
                <a:latin typeface="Calibri"/>
                <a:cs typeface="Calibri"/>
              </a:rPr>
              <a:t>23:59</a:t>
            </a:r>
            <a:endParaRPr sz="2500">
              <a:latin typeface="Calibri"/>
              <a:cs typeface="Calibri"/>
            </a:endParaRPr>
          </a:p>
          <a:p>
            <a:pPr marL="405130" marR="266065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051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submissions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made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virtuale.unibo.it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proper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area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created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next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days.</a:t>
            </a:r>
            <a:endParaRPr sz="2500">
              <a:latin typeface="Calibri"/>
              <a:cs typeface="Calibri"/>
            </a:endParaRPr>
          </a:p>
          <a:p>
            <a:pPr marL="405130" marR="17780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051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submissions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delivered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deadline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followed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two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submissions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(phase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C+D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together)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corresponding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deadlines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authors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eligible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participate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written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exam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early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June.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dates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are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open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access.</a:t>
            </a:r>
            <a:endParaRPr sz="2500">
              <a:latin typeface="Calibri"/>
              <a:cs typeface="Calibri"/>
            </a:endParaRPr>
          </a:p>
          <a:p>
            <a:pPr algn="just" marL="403860" marR="286385" indent="-35369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051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documentation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templates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made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on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Google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Drive.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June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students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them,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students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may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according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tastes.</a:t>
            </a:r>
            <a:endParaRPr sz="2500">
              <a:latin typeface="Calibri"/>
              <a:cs typeface="Calibri"/>
            </a:endParaRPr>
          </a:p>
          <a:p>
            <a:pPr marL="405130" indent="-35433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05130" algn="l"/>
                <a:tab pos="3593465" algn="l"/>
              </a:tabLst>
            </a:pP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Templates</a:t>
            </a:r>
            <a:r>
              <a:rPr dirty="0" sz="25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2500" spc="-10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 b="1" i="1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 spc="-10" b="1">
                <a:solidFill>
                  <a:srgbClr val="151515"/>
                </a:solidFill>
                <a:latin typeface="Consolas"/>
                <a:cs typeface="Consolas"/>
                <a:hlinkClick r:id="rId2"/>
              </a:rPr>
              <a:t>https://bit.ly/4bev8XC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25492"/>
            <a:ext cx="3155315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Info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50" b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1441" y="1405499"/>
            <a:ext cx="8554085" cy="498856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r>
              <a:rPr dirty="0" sz="2500" spc="-10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6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identities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59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Client</a:t>
            </a:r>
            <a:r>
              <a:rPr dirty="0" sz="25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1670" marR="83820" indent="-295910">
              <a:lnSpc>
                <a:spcPts val="2500"/>
              </a:lnSpc>
              <a:spcBef>
                <a:spcPts val="7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fields.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Mainly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text.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concise,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verbose.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indications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expected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size.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38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Ethnographic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endParaRPr sz="2500">
              <a:latin typeface="Calibri"/>
              <a:cs typeface="Calibri"/>
            </a:endParaRPr>
          </a:p>
          <a:p>
            <a:pPr marL="958215">
              <a:lnSpc>
                <a:spcPct val="100000"/>
              </a:lnSpc>
              <a:spcBef>
                <a:spcPts val="20"/>
              </a:spcBef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10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segmentation</a:t>
            </a:r>
            <a:r>
              <a:rPr dirty="0" sz="2500" spc="-10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card,</a:t>
            </a:r>
            <a:r>
              <a:rPr dirty="0" sz="2500" spc="-11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market</a:t>
            </a:r>
            <a:r>
              <a:rPr dirty="0" sz="2500" spc="-9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research</a:t>
            </a:r>
            <a:r>
              <a:rPr dirty="0" sz="2500" spc="-10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cards</a:t>
            </a:r>
            <a:endParaRPr sz="2500">
              <a:latin typeface="Calibri"/>
              <a:cs typeface="Calibri"/>
            </a:endParaRPr>
          </a:p>
          <a:p>
            <a:pPr lvl="1" marL="661670" marR="5080" indent="-295910">
              <a:lnSpc>
                <a:spcPts val="2500"/>
              </a:lnSpc>
              <a:spcBef>
                <a:spcPts val="6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Decide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small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number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segments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feel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important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others.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Describe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justify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choice.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convincing</a:t>
            </a:r>
            <a:endParaRPr sz="2100">
              <a:latin typeface="Calibri"/>
              <a:cs typeface="Calibri"/>
            </a:endParaRPr>
          </a:p>
          <a:p>
            <a:pPr lvl="1" marL="661670" marR="19050" indent="-295910">
              <a:lnSpc>
                <a:spcPct val="99500"/>
              </a:lnSpc>
              <a:spcBef>
                <a:spcPts val="40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many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suggested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methods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research: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available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statistics,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online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surveys,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focus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groups,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interviews,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field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observations,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passive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presence.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List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non-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trivial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ideas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after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conclusion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01784" y="425492"/>
            <a:ext cx="315531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Info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Phase</a:t>
            </a:r>
            <a:r>
              <a:rPr dirty="0" spc="5"/>
              <a:t> </a:t>
            </a:r>
            <a:r>
              <a:rPr dirty="0" spc="-50"/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441" y="1408904"/>
            <a:ext cx="8708390" cy="555815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Assessment</a:t>
            </a:r>
            <a:r>
              <a:rPr dirty="0" sz="2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existing</a:t>
            </a:r>
            <a:r>
              <a:rPr dirty="0" sz="2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resource</a:t>
            </a:r>
            <a:endParaRPr sz="2900">
              <a:latin typeface="Calibri"/>
              <a:cs typeface="Calibri"/>
            </a:endParaRPr>
          </a:p>
          <a:p>
            <a:pPr marL="660400" marR="5080" indent="-294640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current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+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competing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inspiring 	alternatives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(may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purpose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show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ideas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you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would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like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tool)</a:t>
            </a:r>
            <a:endParaRPr sz="25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Assessment</a:t>
            </a:r>
            <a:r>
              <a:rPr dirty="0" sz="2500" spc="-6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fill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every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evaluate</a:t>
            </a:r>
            <a:endParaRPr sz="2500">
              <a:latin typeface="Calibri"/>
              <a:cs typeface="Calibri"/>
            </a:endParaRPr>
          </a:p>
          <a:p>
            <a:pPr lvl="1" marL="1095375" marR="269240" indent="-236854">
              <a:lnSpc>
                <a:spcPts val="2500"/>
              </a:lnSpc>
              <a:spcBef>
                <a:spcPts val="715"/>
              </a:spcBef>
              <a:buClr>
                <a:srgbClr val="666699"/>
              </a:buClr>
              <a:buSzPct val="61904"/>
              <a:buFont typeface="Times New Roman"/>
              <a:buChar char="•"/>
              <a:tabLst>
                <a:tab pos="1095375" algn="l"/>
              </a:tabLst>
            </a:pP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play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while,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trying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understand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(your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ideas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)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strong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points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weak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points.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Prepare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lot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screenshots.</a:t>
            </a:r>
            <a:r>
              <a:rPr dirty="0" sz="2100" spc="3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Document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conclusions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single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page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text,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maybe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list.</a:t>
            </a:r>
            <a:endParaRPr sz="2100">
              <a:latin typeface="Calibri"/>
              <a:cs typeface="Calibri"/>
            </a:endParaRPr>
          </a:p>
          <a:p>
            <a:pPr lvl="1" marL="1095375" marR="517525" indent="-236854">
              <a:lnSpc>
                <a:spcPct val="100000"/>
              </a:lnSpc>
              <a:spcBef>
                <a:spcPts val="390"/>
              </a:spcBef>
              <a:buClr>
                <a:srgbClr val="666699"/>
              </a:buClr>
              <a:buSzPct val="61904"/>
              <a:buFont typeface="Times New Roman"/>
              <a:buChar char="•"/>
              <a:tabLst>
                <a:tab pos="1095375" algn="l"/>
              </a:tabLst>
            </a:pP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reverse</a:t>
            </a:r>
            <a:r>
              <a:rPr dirty="0" sz="21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Focus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guidelines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corresponding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Excel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file).</a:t>
            </a:r>
            <a:endParaRPr sz="2100">
              <a:latin typeface="Calibri"/>
              <a:cs typeface="Calibri"/>
            </a:endParaRPr>
          </a:p>
          <a:p>
            <a:pPr marL="1095375" marR="815975" indent="808990">
              <a:lnSpc>
                <a:spcPct val="100899"/>
              </a:lnSpc>
              <a:spcBef>
                <a:spcPts val="355"/>
              </a:spcBef>
            </a:pPr>
            <a:r>
              <a:rPr dirty="0" sz="1700" spc="-40">
                <a:solidFill>
                  <a:srgbClr val="0070C0"/>
                </a:solidFill>
                <a:latin typeface="Consolas"/>
                <a:cs typeface="Consolas"/>
                <a:hlinkClick r:id="rId2"/>
              </a:rPr>
              <a:t>http://www.userfocus.co.uk/resources/guidelines.html</a:t>
            </a:r>
            <a:r>
              <a:rPr dirty="0" sz="1700" spc="-4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Perform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reverse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tools.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Include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quantitative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final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documentation,</a:t>
            </a:r>
            <a:endParaRPr sz="2100">
              <a:latin typeface="Calibri"/>
              <a:cs typeface="Calibri"/>
            </a:endParaRPr>
          </a:p>
          <a:p>
            <a:pPr marL="1095375">
              <a:lnSpc>
                <a:spcPct val="100000"/>
              </a:lnSpc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include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full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file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accompanying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folder.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1245" y="228600"/>
            <a:ext cx="1562735" cy="647700"/>
          </a:xfrm>
          <a:prstGeom prst="rect">
            <a:avLst/>
          </a:prstGeom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295"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25492"/>
            <a:ext cx="3155315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Info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50" b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1441" y="1405499"/>
            <a:ext cx="8691245" cy="514096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(Preliminary</a:t>
            </a:r>
            <a:r>
              <a:rPr dirty="0" sz="25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card)</a:t>
            </a:r>
            <a:endParaRPr sz="2500">
              <a:latin typeface="Calibri"/>
              <a:cs typeface="Calibri"/>
            </a:endParaRPr>
          </a:p>
          <a:p>
            <a:pPr lvl="1" marL="661670" marR="5080" indent="-295910">
              <a:lnSpc>
                <a:spcPts val="2500"/>
              </a:lnSpc>
              <a:spcBef>
                <a:spcPts val="7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Recruit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5">
                <a:solidFill>
                  <a:srgbClr val="151515"/>
                </a:solidFill>
                <a:latin typeface="Calibri"/>
                <a:cs typeface="Calibri"/>
              </a:rPr>
              <a:t>2-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6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people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real</a:t>
            </a:r>
            <a:r>
              <a:rPr dirty="0" sz="21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people),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possibly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outside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inner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circle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your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peers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(may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difficult).</a:t>
            </a:r>
            <a:endParaRPr sz="2100">
              <a:latin typeface="Calibri"/>
              <a:cs typeface="Calibri"/>
            </a:endParaRPr>
          </a:p>
          <a:p>
            <a:pPr lvl="1" marL="661670" marR="73025" indent="-295910">
              <a:lnSpc>
                <a:spcPts val="2500"/>
              </a:lnSpc>
              <a:spcBef>
                <a:spcPts val="4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Ideate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3-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4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(full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single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actions,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meaningful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user).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Try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precise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concrete</a:t>
            </a:r>
            <a:endParaRPr sz="2100">
              <a:latin typeface="Calibri"/>
              <a:cs typeface="Calibri"/>
            </a:endParaRPr>
          </a:p>
          <a:p>
            <a:pPr lvl="2" marL="1095375" indent="-236854">
              <a:lnSpc>
                <a:spcPct val="100000"/>
              </a:lnSpc>
              <a:spcBef>
                <a:spcPts val="305"/>
              </a:spcBef>
              <a:buClr>
                <a:srgbClr val="666699"/>
              </a:buClr>
              <a:buSzPct val="63157"/>
              <a:buFont typeface="Times New Roman"/>
              <a:buChar char="•"/>
              <a:tabLst>
                <a:tab pos="1095375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good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task: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find</a:t>
            </a:r>
            <a:r>
              <a:rPr dirty="0" sz="19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cheapest</a:t>
            </a:r>
            <a:r>
              <a:rPr dirty="0" sz="19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51515"/>
                </a:solidFill>
                <a:latin typeface="Calibri"/>
                <a:cs typeface="Calibri"/>
              </a:rPr>
              <a:t>laser</a:t>
            </a:r>
            <a:r>
              <a:rPr dirty="0" sz="19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51515"/>
                </a:solidFill>
                <a:latin typeface="Calibri"/>
                <a:cs typeface="Calibri"/>
              </a:rPr>
              <a:t>printer</a:t>
            </a:r>
            <a:r>
              <a:rPr dirty="0" sz="19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19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51515"/>
                </a:solidFill>
                <a:latin typeface="Calibri"/>
                <a:cs typeface="Calibri"/>
              </a:rPr>
              <a:t>catalogue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;</a:t>
            </a:r>
            <a:endParaRPr sz="1900">
              <a:latin typeface="Calibri"/>
              <a:cs typeface="Calibri"/>
            </a:endParaRPr>
          </a:p>
          <a:p>
            <a:pPr lvl="2" marL="1095375" indent="-236854">
              <a:lnSpc>
                <a:spcPct val="100000"/>
              </a:lnSpc>
              <a:spcBef>
                <a:spcPts val="409"/>
              </a:spcBef>
              <a:buClr>
                <a:srgbClr val="666699"/>
              </a:buClr>
              <a:buSzPct val="63157"/>
              <a:buFont typeface="Times New Roman"/>
              <a:buChar char="•"/>
              <a:tabLst>
                <a:tab pos="1095375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bad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task: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examine</a:t>
            </a:r>
            <a:r>
              <a:rPr dirty="0" sz="19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19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51515"/>
                </a:solidFill>
                <a:latin typeface="Calibri"/>
                <a:cs typeface="Calibri"/>
              </a:rPr>
              <a:t>laser</a:t>
            </a:r>
            <a:r>
              <a:rPr dirty="0" sz="19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51515"/>
                </a:solidFill>
                <a:latin typeface="Calibri"/>
                <a:cs typeface="Calibri"/>
              </a:rPr>
              <a:t>printers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5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protocol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section: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details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about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every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subject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endParaRPr sz="2100">
              <a:latin typeface="Calibri"/>
              <a:cs typeface="Calibri"/>
            </a:endParaRPr>
          </a:p>
          <a:p>
            <a:pPr lvl="1" marL="661670" marR="316865" indent="-295910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always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Scale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test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(template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shared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folder)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appreciation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questionnaire</a:t>
            </a:r>
            <a:endParaRPr sz="2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15"/>
              </a:spcBef>
              <a:buClr>
                <a:srgbClr val="333399"/>
              </a:buClr>
              <a:buFont typeface="Arial MT"/>
              <a:buChar char="◆"/>
            </a:pPr>
            <a:endParaRPr sz="2100">
              <a:latin typeface="Calibri"/>
              <a:cs typeface="Calibri"/>
            </a:endParaRPr>
          </a:p>
          <a:p>
            <a:pPr lvl="1" marL="661670" marR="312420" indent="-295910">
              <a:lnSpc>
                <a:spcPts val="2500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 b="1" i="1">
                <a:solidFill>
                  <a:srgbClr val="151515"/>
                </a:solidFill>
                <a:latin typeface="Calibri"/>
                <a:cs typeface="Calibri"/>
              </a:rPr>
              <a:t>Important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inform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least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 i="1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1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above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people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shall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need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own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25492"/>
            <a:ext cx="3155315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Info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50" b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1441" y="1405499"/>
            <a:ext cx="8481060" cy="388239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Final</a:t>
            </a:r>
            <a:r>
              <a:rPr dirty="0" sz="2500" spc="-1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recommendation</a:t>
            </a:r>
            <a:r>
              <a:rPr dirty="0" sz="2500" spc="-114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(Conclusion</a:t>
            </a:r>
            <a:r>
              <a:rPr dirty="0" sz="2500" spc="-12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card)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6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Summarize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assessment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Generate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measurable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recommendations</a:t>
            </a:r>
            <a:endParaRPr sz="2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333399"/>
              </a:buClr>
              <a:buFont typeface="Arial MT"/>
              <a:buChar char="◆"/>
            </a:pPr>
            <a:endParaRPr sz="2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50"/>
              </a:spcBef>
              <a:buClr>
                <a:srgbClr val="333399"/>
              </a:buClr>
              <a:buFont typeface="Arial MT"/>
              <a:buChar char="◆"/>
            </a:pP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most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important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part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complete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exhaustive.</a:t>
            </a:r>
            <a:endParaRPr sz="2100">
              <a:latin typeface="Calibri"/>
              <a:cs typeface="Calibri"/>
            </a:endParaRPr>
          </a:p>
          <a:p>
            <a:pPr lvl="1" marL="661670" marR="508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Connect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recommendation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assessment and/or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sure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recommendations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reasonable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implementable.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91245" y="228600"/>
            <a:ext cx="1562735" cy="647700"/>
          </a:xfrm>
          <a:prstGeom prst="rect"/>
          <a:solidFill>
            <a:srgbClr val="FFFF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295" b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12436" y="2563134"/>
            <a:ext cx="1731645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</a:rPr>
              <a:t>Phase</a:t>
            </a:r>
            <a:r>
              <a:rPr dirty="0" sz="4100" spc="5">
                <a:solidFill>
                  <a:srgbClr val="FFFFFF"/>
                </a:solidFill>
              </a:rPr>
              <a:t> </a:t>
            </a:r>
            <a:r>
              <a:rPr dirty="0" sz="4100" spc="-50">
                <a:solidFill>
                  <a:srgbClr val="FFFFFF"/>
                </a:solidFill>
              </a:rPr>
              <a:t>B</a:t>
            </a:r>
            <a:endParaRPr sz="41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315658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sz="3300" spc="-3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Feasibility</a:t>
            </a:r>
            <a:r>
              <a:rPr dirty="0" sz="3300" spc="-3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study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7395"/>
            <a:ext cx="6159500" cy="34759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50"/>
              </a:spcBef>
            </a:pP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Perform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33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feasibility</a:t>
            </a:r>
            <a:r>
              <a:rPr dirty="0" sz="3300" spc="-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r>
              <a:rPr dirty="0" sz="3300" spc="-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3300" spc="-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development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of your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new</a:t>
            </a:r>
            <a:r>
              <a:rPr dirty="0" sz="3300" spc="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idea.</a:t>
            </a:r>
            <a:endParaRPr sz="3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3300">
              <a:latin typeface="Calibri"/>
              <a:cs typeface="Calibri"/>
            </a:endParaRPr>
          </a:p>
          <a:p>
            <a:pPr lvl="1" marL="640715" indent="-628015">
              <a:lnSpc>
                <a:spcPct val="100000"/>
              </a:lnSpc>
              <a:buAutoNum type="arabicPeriod"/>
              <a:tabLst>
                <a:tab pos="640715" algn="l"/>
              </a:tabLst>
            </a:pPr>
            <a:r>
              <a:rPr dirty="0" sz="3300" i="1">
                <a:solidFill>
                  <a:srgbClr val="151515"/>
                </a:solidFill>
                <a:latin typeface="Calibri"/>
                <a:cs typeface="Calibri"/>
              </a:rPr>
              <a:t>Context of </a:t>
            </a:r>
            <a:r>
              <a:rPr dirty="0" sz="3300" spc="-25" i="1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endParaRPr sz="3300">
              <a:latin typeface="Calibri"/>
              <a:cs typeface="Calibri"/>
            </a:endParaRPr>
          </a:p>
          <a:p>
            <a:pPr lvl="1" marL="640715" indent="-62801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640715" algn="l"/>
              </a:tabLst>
            </a:pPr>
            <a:r>
              <a:rPr dirty="0" sz="3300" spc="-10" i="1">
                <a:solidFill>
                  <a:srgbClr val="151515"/>
                </a:solidFill>
                <a:latin typeface="Calibri"/>
                <a:cs typeface="Calibri"/>
              </a:rPr>
              <a:t>Scenarios</a:t>
            </a:r>
            <a:endParaRPr sz="3300">
              <a:latin typeface="Calibri"/>
              <a:cs typeface="Calibri"/>
            </a:endParaRPr>
          </a:p>
          <a:p>
            <a:pPr lvl="1" marL="640715" indent="-62801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640715" algn="l"/>
              </a:tabLst>
            </a:pPr>
            <a:r>
              <a:rPr dirty="0" sz="3300" spc="-10" i="1">
                <a:solidFill>
                  <a:srgbClr val="151515"/>
                </a:solidFill>
                <a:latin typeface="Calibri"/>
                <a:cs typeface="Calibri"/>
              </a:rPr>
              <a:t>Personas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318643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3.1</a:t>
            </a:r>
            <a:r>
              <a:rPr dirty="0" sz="3300" spc="-3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Context</a:t>
            </a:r>
            <a:r>
              <a:rPr dirty="0" sz="3300" spc="-3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3300" spc="-3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25" b="1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387661"/>
            <a:ext cx="8183880" cy="407479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33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document that describes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 accurately</a:t>
            </a:r>
            <a:endParaRPr sz="33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5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intended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tasks;</a:t>
            </a:r>
            <a:endParaRPr sz="25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technical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environmental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constraints.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30"/>
              </a:spcBef>
              <a:buClr>
                <a:srgbClr val="333399"/>
              </a:buClr>
              <a:buFont typeface="Arial MT"/>
              <a:buChar char="◆"/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33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33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20">
                <a:solidFill>
                  <a:srgbClr val="151515"/>
                </a:solidFill>
                <a:latin typeface="Calibri"/>
                <a:cs typeface="Calibri"/>
              </a:rPr>
              <a:t>for:</a:t>
            </a:r>
            <a:endParaRPr sz="3300">
              <a:latin typeface="Calibri"/>
              <a:cs typeface="Calibri"/>
            </a:endParaRPr>
          </a:p>
          <a:p>
            <a:pPr marL="660400" marR="5080" indent="-294640">
              <a:lnSpc>
                <a:spcPct val="100000"/>
              </a:lnSpc>
              <a:spcBef>
                <a:spcPts val="66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Making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sure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factors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affecting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identified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start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work;</a:t>
            </a:r>
            <a:endParaRPr sz="25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Providing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basis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designing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232473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3.2</a:t>
            </a:r>
            <a:r>
              <a:rPr dirty="0" sz="3300" spc="-3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Scenarios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187690" cy="4105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67055">
              <a:lnSpc>
                <a:spcPct val="100000"/>
              </a:lnSpc>
              <a:spcBef>
                <a:spcPts val="10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Little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stories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telling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detail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certain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completes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personal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goal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realizing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task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Goal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relationship</a:t>
            </a:r>
            <a:endParaRPr sz="2100">
              <a:latin typeface="Calibri"/>
              <a:cs typeface="Calibri"/>
            </a:endParaRPr>
          </a:p>
          <a:p>
            <a:pPr marL="661670" marR="33655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Decomposition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actions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(internal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external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system)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Identification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user's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system's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operations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Narrative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actions,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goals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motivations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features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black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box)</a:t>
            </a:r>
            <a:endParaRPr sz="2100">
              <a:latin typeface="Calibri"/>
              <a:cs typeface="Calibri"/>
            </a:endParaRPr>
          </a:p>
          <a:p>
            <a:pPr marL="661670" marR="508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Establish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timing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estimates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success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criteria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scenario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for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within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it.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Scenarios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useful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common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critical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situations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3.3</a:t>
            </a:r>
            <a:r>
              <a:rPr dirty="0" sz="3300" spc="-35"/>
              <a:t> </a:t>
            </a:r>
            <a:r>
              <a:rPr dirty="0" sz="3300" spc="-10"/>
              <a:t>Personas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408208"/>
            <a:ext cx="8214995" cy="434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100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dramaturgical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narrative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approach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project.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tells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story,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assesses</a:t>
            </a:r>
            <a:r>
              <a:rPr dirty="0" sz="29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interest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25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endParaRPr sz="2900">
              <a:latin typeface="Calibri"/>
              <a:cs typeface="Calibri"/>
            </a:endParaRPr>
          </a:p>
          <a:p>
            <a:pPr marL="12700" marR="318770">
              <a:lnSpc>
                <a:spcPct val="100699"/>
              </a:lnSpc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credibility</a:t>
            </a:r>
            <a:r>
              <a:rPr dirty="0" sz="2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story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itself,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would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evaluate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a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script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9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movie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9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Plots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(scenarios)</a:t>
            </a:r>
            <a:endParaRPr sz="25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Characters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(personas)</a:t>
            </a:r>
            <a:endParaRPr sz="25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Atmosphere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(context)</a:t>
            </a:r>
            <a:endParaRPr sz="25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Plot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(use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cases)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6515" y="228600"/>
            <a:ext cx="1524635" cy="647700"/>
          </a:xfrm>
          <a:prstGeom prst="rect">
            <a:avLst/>
          </a:prstGeom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-50"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77565" y="6366767"/>
            <a:ext cx="2794000" cy="961390"/>
            <a:chOff x="7277565" y="6366767"/>
            <a:chExt cx="2794000" cy="9613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7098" y="6628229"/>
              <a:ext cx="2077993" cy="5499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77565" y="6366767"/>
              <a:ext cx="2794000" cy="961390"/>
            </a:xfrm>
            <a:custGeom>
              <a:avLst/>
              <a:gdLst/>
              <a:ahLst/>
              <a:cxnLst/>
              <a:rect l="l" t="t" r="r" b="b"/>
              <a:pathLst>
                <a:path w="2794000" h="961390">
                  <a:moveTo>
                    <a:pt x="2793535" y="0"/>
                  </a:moveTo>
                  <a:lnTo>
                    <a:pt x="0" y="0"/>
                  </a:lnTo>
                  <a:lnTo>
                    <a:pt x="0" y="961132"/>
                  </a:lnTo>
                  <a:lnTo>
                    <a:pt x="2793535" y="961132"/>
                  </a:lnTo>
                  <a:lnTo>
                    <a:pt x="2793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01784" y="434636"/>
            <a:ext cx="554609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Example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1:</a:t>
            </a:r>
            <a:r>
              <a:rPr dirty="0" sz="3700" spc="-2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The new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camper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0762" y="1302391"/>
            <a:ext cx="5386070" cy="513461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67030" marR="86360" indent="-354965">
              <a:lnSpc>
                <a:spcPts val="2300"/>
              </a:lnSpc>
              <a:spcBef>
                <a:spcPts val="36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Alberto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41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years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old,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wife,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children,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dog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camper.</a:t>
            </a:r>
            <a:endParaRPr sz="2100">
              <a:latin typeface="Calibri"/>
              <a:cs typeface="Calibri"/>
            </a:endParaRPr>
          </a:p>
          <a:p>
            <a:pPr marL="367030" marR="15240" indent="-354965">
              <a:lnSpc>
                <a:spcPts val="2300"/>
              </a:lnSpc>
              <a:spcBef>
                <a:spcPts val="484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Indeed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camper,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broke down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after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10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years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plans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get</a:t>
            </a:r>
            <a:endParaRPr sz="2100">
              <a:latin typeface="Calibri"/>
              <a:cs typeface="Calibri"/>
            </a:endParaRPr>
          </a:p>
          <a:p>
            <a:pPr marL="367030" marR="5080">
              <a:lnSpc>
                <a:spcPts val="2300"/>
              </a:lnSpc>
              <a:spcBef>
                <a:spcPts val="1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€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3,000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reselling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saw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chances,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is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second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hand,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costing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13,000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€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one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costing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25,000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€.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wants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ask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loan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return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5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years.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afford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new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one?</a:t>
            </a:r>
            <a:endParaRPr sz="2100">
              <a:latin typeface="Calibri"/>
              <a:cs typeface="Calibri"/>
            </a:endParaRPr>
          </a:p>
          <a:p>
            <a:pPr marL="367030" marR="34925" indent="-354965">
              <a:lnSpc>
                <a:spcPct val="90700"/>
              </a:lnSpc>
              <a:spcBef>
                <a:spcPts val="47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Alberto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winemaker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winery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area.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direct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educated,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experienced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passionate,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hates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computers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uncomfortable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them.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not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neither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work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leisure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therefore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does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own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one.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uses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administration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office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winery during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lunch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break,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always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93378" y="1894674"/>
            <a:ext cx="3355340" cy="4567555"/>
            <a:chOff x="1093378" y="1894674"/>
            <a:chExt cx="3355340" cy="45675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618" y="1894674"/>
              <a:ext cx="3053633" cy="23943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93378" y="3901981"/>
              <a:ext cx="3355340" cy="2560320"/>
            </a:xfrm>
            <a:custGeom>
              <a:avLst/>
              <a:gdLst/>
              <a:ahLst/>
              <a:cxnLst/>
              <a:rect l="l" t="t" r="r" b="b"/>
              <a:pathLst>
                <a:path w="3355340" h="2560320">
                  <a:moveTo>
                    <a:pt x="3354810" y="0"/>
                  </a:moveTo>
                  <a:lnTo>
                    <a:pt x="0" y="0"/>
                  </a:lnTo>
                  <a:lnTo>
                    <a:pt x="0" y="2559765"/>
                  </a:lnTo>
                  <a:lnTo>
                    <a:pt x="3354810" y="2559765"/>
                  </a:lnTo>
                  <a:lnTo>
                    <a:pt x="3354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70839" y="4376150"/>
              <a:ext cx="697865" cy="402590"/>
            </a:xfrm>
            <a:custGeom>
              <a:avLst/>
              <a:gdLst/>
              <a:ahLst/>
              <a:cxnLst/>
              <a:rect l="l" t="t" r="r" b="b"/>
              <a:pathLst>
                <a:path w="697864" h="402589">
                  <a:moveTo>
                    <a:pt x="0" y="0"/>
                  </a:moveTo>
                  <a:lnTo>
                    <a:pt x="697399" y="402534"/>
                  </a:lnTo>
                </a:path>
              </a:pathLst>
            </a:custGeom>
            <a:ln w="9859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68238" y="4988576"/>
              <a:ext cx="0" cy="442595"/>
            </a:xfrm>
            <a:custGeom>
              <a:avLst/>
              <a:gdLst/>
              <a:ahLst/>
              <a:cxnLst/>
              <a:rect l="l" t="t" r="r" b="b"/>
              <a:pathLst>
                <a:path w="0" h="442595">
                  <a:moveTo>
                    <a:pt x="0" y="0"/>
                  </a:moveTo>
                  <a:lnTo>
                    <a:pt x="0" y="442139"/>
                  </a:lnTo>
                </a:path>
              </a:pathLst>
            </a:custGeom>
            <a:ln w="985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73329" y="5583794"/>
              <a:ext cx="1395095" cy="403860"/>
            </a:xfrm>
            <a:custGeom>
              <a:avLst/>
              <a:gdLst/>
              <a:ahLst/>
              <a:cxnLst/>
              <a:rect l="l" t="t" r="r" b="b"/>
              <a:pathLst>
                <a:path w="1395095" h="403860">
                  <a:moveTo>
                    <a:pt x="1394908" y="0"/>
                  </a:moveTo>
                  <a:lnTo>
                    <a:pt x="697509" y="403780"/>
                  </a:lnTo>
                </a:path>
                <a:path w="1395095" h="403860">
                  <a:moveTo>
                    <a:pt x="697509" y="403780"/>
                  </a:moveTo>
                  <a:lnTo>
                    <a:pt x="0" y="0"/>
                  </a:lnTo>
                </a:path>
              </a:pathLst>
            </a:custGeom>
            <a:ln w="9857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073329" y="4988576"/>
              <a:ext cx="0" cy="595630"/>
            </a:xfrm>
            <a:custGeom>
              <a:avLst/>
              <a:gdLst/>
              <a:ahLst/>
              <a:cxnLst/>
              <a:rect l="l" t="t" r="r" b="b"/>
              <a:pathLst>
                <a:path w="0" h="595629">
                  <a:moveTo>
                    <a:pt x="0" y="0"/>
                  </a:moveTo>
                  <a:lnTo>
                    <a:pt x="0" y="595218"/>
                  </a:lnTo>
                </a:path>
              </a:pathLst>
            </a:custGeom>
            <a:ln w="985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073329" y="4376150"/>
              <a:ext cx="1280160" cy="1476375"/>
            </a:xfrm>
            <a:custGeom>
              <a:avLst/>
              <a:gdLst/>
              <a:ahLst/>
              <a:cxnLst/>
              <a:rect l="l" t="t" r="r" b="b"/>
              <a:pathLst>
                <a:path w="1280160" h="1476375">
                  <a:moveTo>
                    <a:pt x="0" y="402534"/>
                  </a:moveTo>
                  <a:lnTo>
                    <a:pt x="697509" y="0"/>
                  </a:lnTo>
                </a:path>
                <a:path w="1280160" h="1476375">
                  <a:moveTo>
                    <a:pt x="697509" y="134165"/>
                  </a:moveTo>
                  <a:lnTo>
                    <a:pt x="1279733" y="469627"/>
                  </a:lnTo>
                </a:path>
                <a:path w="1280160" h="1476375">
                  <a:moveTo>
                    <a:pt x="1279733" y="469627"/>
                  </a:moveTo>
                  <a:lnTo>
                    <a:pt x="1279733" y="1140551"/>
                  </a:lnTo>
                </a:path>
                <a:path w="1280160" h="1476375">
                  <a:moveTo>
                    <a:pt x="1279733" y="1140551"/>
                  </a:moveTo>
                  <a:lnTo>
                    <a:pt x="697509" y="1476013"/>
                  </a:lnTo>
                </a:path>
                <a:path w="1280160" h="1476375">
                  <a:moveTo>
                    <a:pt x="697509" y="1476013"/>
                  </a:moveTo>
                  <a:lnTo>
                    <a:pt x="115285" y="1140551"/>
                  </a:lnTo>
                </a:path>
                <a:path w="1280160" h="1476375">
                  <a:moveTo>
                    <a:pt x="115285" y="1140551"/>
                  </a:moveTo>
                  <a:lnTo>
                    <a:pt x="115285" y="469627"/>
                  </a:lnTo>
                </a:path>
                <a:path w="1280160" h="1476375">
                  <a:moveTo>
                    <a:pt x="115285" y="469627"/>
                  </a:moveTo>
                  <a:lnTo>
                    <a:pt x="697509" y="134165"/>
                  </a:lnTo>
                </a:path>
                <a:path w="1280160" h="1476375">
                  <a:moveTo>
                    <a:pt x="697509" y="268350"/>
                  </a:moveTo>
                  <a:lnTo>
                    <a:pt x="1163897" y="536719"/>
                  </a:lnTo>
                </a:path>
                <a:path w="1280160" h="1476375">
                  <a:moveTo>
                    <a:pt x="1163897" y="536719"/>
                  </a:moveTo>
                  <a:lnTo>
                    <a:pt x="1163897" y="1073459"/>
                  </a:lnTo>
                </a:path>
                <a:path w="1280160" h="1476375">
                  <a:moveTo>
                    <a:pt x="1163897" y="1073459"/>
                  </a:moveTo>
                  <a:lnTo>
                    <a:pt x="697509" y="1341828"/>
                  </a:lnTo>
                </a:path>
                <a:path w="1280160" h="1476375">
                  <a:moveTo>
                    <a:pt x="697509" y="1341828"/>
                  </a:moveTo>
                  <a:lnTo>
                    <a:pt x="231120" y="1073459"/>
                  </a:lnTo>
                </a:path>
                <a:path w="1280160" h="1476375">
                  <a:moveTo>
                    <a:pt x="231120" y="1073459"/>
                  </a:moveTo>
                  <a:lnTo>
                    <a:pt x="231120" y="536719"/>
                  </a:lnTo>
                </a:path>
                <a:path w="1280160" h="1476375">
                  <a:moveTo>
                    <a:pt x="231120" y="536719"/>
                  </a:moveTo>
                  <a:lnTo>
                    <a:pt x="697509" y="268350"/>
                  </a:lnTo>
                </a:path>
                <a:path w="1280160" h="1476375">
                  <a:moveTo>
                    <a:pt x="697509" y="402534"/>
                  </a:moveTo>
                  <a:lnTo>
                    <a:pt x="1045014" y="603812"/>
                  </a:lnTo>
                </a:path>
                <a:path w="1280160" h="1476375">
                  <a:moveTo>
                    <a:pt x="1045014" y="603812"/>
                  </a:moveTo>
                  <a:lnTo>
                    <a:pt x="1045014" y="1006366"/>
                  </a:lnTo>
                </a:path>
                <a:path w="1280160" h="1476375">
                  <a:moveTo>
                    <a:pt x="1045014" y="1006366"/>
                  </a:moveTo>
                  <a:lnTo>
                    <a:pt x="697509" y="1207643"/>
                  </a:lnTo>
                </a:path>
                <a:path w="1280160" h="1476375">
                  <a:moveTo>
                    <a:pt x="697509" y="1207643"/>
                  </a:moveTo>
                  <a:lnTo>
                    <a:pt x="350004" y="1006366"/>
                  </a:lnTo>
                </a:path>
                <a:path w="1280160" h="1476375">
                  <a:moveTo>
                    <a:pt x="350004" y="1006366"/>
                  </a:moveTo>
                  <a:lnTo>
                    <a:pt x="350004" y="603812"/>
                  </a:lnTo>
                </a:path>
                <a:path w="1280160" h="1476375">
                  <a:moveTo>
                    <a:pt x="350004" y="603812"/>
                  </a:moveTo>
                  <a:lnTo>
                    <a:pt x="697509" y="402534"/>
                  </a:lnTo>
                </a:path>
                <a:path w="1280160" h="1476375">
                  <a:moveTo>
                    <a:pt x="697509" y="536719"/>
                  </a:moveTo>
                  <a:lnTo>
                    <a:pt x="929179" y="670904"/>
                  </a:lnTo>
                </a:path>
                <a:path w="1280160" h="1476375">
                  <a:moveTo>
                    <a:pt x="929179" y="670904"/>
                  </a:moveTo>
                  <a:lnTo>
                    <a:pt x="929179" y="939274"/>
                  </a:lnTo>
                </a:path>
                <a:path w="1280160" h="1476375">
                  <a:moveTo>
                    <a:pt x="929179" y="939274"/>
                  </a:moveTo>
                  <a:lnTo>
                    <a:pt x="697509" y="1073459"/>
                  </a:lnTo>
                </a:path>
                <a:path w="1280160" h="1476375">
                  <a:moveTo>
                    <a:pt x="697509" y="1073459"/>
                  </a:moveTo>
                  <a:lnTo>
                    <a:pt x="465839" y="939274"/>
                  </a:lnTo>
                </a:path>
                <a:path w="1280160" h="1476375">
                  <a:moveTo>
                    <a:pt x="465839" y="939274"/>
                  </a:moveTo>
                  <a:lnTo>
                    <a:pt x="465839" y="670904"/>
                  </a:lnTo>
                </a:path>
              </a:pathLst>
            </a:custGeom>
            <a:ln w="9857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4239" y="4907940"/>
              <a:ext cx="357364" cy="41241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5792" y="4492751"/>
              <a:ext cx="899159" cy="10911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89571" y="4510436"/>
              <a:ext cx="814069" cy="1007744"/>
            </a:xfrm>
            <a:custGeom>
              <a:avLst/>
              <a:gdLst/>
              <a:ahLst/>
              <a:cxnLst/>
              <a:rect l="l" t="t" r="r" b="b"/>
              <a:pathLst>
                <a:path w="814069" h="1007745">
                  <a:moveTo>
                    <a:pt x="581267" y="0"/>
                  </a:moveTo>
                  <a:lnTo>
                    <a:pt x="0" y="335342"/>
                  </a:lnTo>
                  <a:lnTo>
                    <a:pt x="0" y="1007140"/>
                  </a:lnTo>
                  <a:lnTo>
                    <a:pt x="581267" y="804988"/>
                  </a:lnTo>
                  <a:lnTo>
                    <a:pt x="697101" y="737896"/>
                  </a:lnTo>
                  <a:lnTo>
                    <a:pt x="813696" y="536619"/>
                  </a:lnTo>
                  <a:lnTo>
                    <a:pt x="58126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70838" y="4423953"/>
              <a:ext cx="0" cy="757555"/>
            </a:xfrm>
            <a:custGeom>
              <a:avLst/>
              <a:gdLst/>
              <a:ahLst/>
              <a:cxnLst/>
              <a:rect l="l" t="t" r="r" b="b"/>
              <a:pathLst>
                <a:path w="0" h="757554">
                  <a:moveTo>
                    <a:pt x="0" y="0"/>
                  </a:moveTo>
                  <a:lnTo>
                    <a:pt x="0" y="757286"/>
                  </a:lnTo>
                </a:path>
              </a:pathLst>
            </a:custGeom>
            <a:ln w="9855">
              <a:solidFill>
                <a:srgbClr val="9B9B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73328" y="4778685"/>
              <a:ext cx="1395095" cy="1209040"/>
            </a:xfrm>
            <a:custGeom>
              <a:avLst/>
              <a:gdLst/>
              <a:ahLst/>
              <a:cxnLst/>
              <a:rect l="l" t="t" r="r" b="b"/>
              <a:pathLst>
                <a:path w="1395095" h="1209039">
                  <a:moveTo>
                    <a:pt x="697510" y="402554"/>
                  </a:moveTo>
                  <a:lnTo>
                    <a:pt x="1394911" y="0"/>
                  </a:lnTo>
                </a:path>
                <a:path w="1395095" h="1209039">
                  <a:moveTo>
                    <a:pt x="697510" y="402554"/>
                  </a:moveTo>
                  <a:lnTo>
                    <a:pt x="1394911" y="805109"/>
                  </a:lnTo>
                </a:path>
                <a:path w="1395095" h="1209039">
                  <a:moveTo>
                    <a:pt x="697510" y="402554"/>
                  </a:moveTo>
                  <a:lnTo>
                    <a:pt x="697510" y="1208890"/>
                  </a:lnTo>
                </a:path>
                <a:path w="1395095" h="1209039">
                  <a:moveTo>
                    <a:pt x="697510" y="402554"/>
                  </a:moveTo>
                  <a:lnTo>
                    <a:pt x="0" y="805109"/>
                  </a:lnTo>
                </a:path>
                <a:path w="1395095" h="1209039">
                  <a:moveTo>
                    <a:pt x="697510" y="402554"/>
                  </a:moveTo>
                  <a:lnTo>
                    <a:pt x="0" y="0"/>
                  </a:lnTo>
                </a:path>
              </a:pathLst>
            </a:custGeom>
            <a:ln w="9857">
              <a:solidFill>
                <a:srgbClr val="9B9B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70838" y="4423953"/>
              <a:ext cx="0" cy="757555"/>
            </a:xfrm>
            <a:custGeom>
              <a:avLst/>
              <a:gdLst/>
              <a:ahLst/>
              <a:cxnLst/>
              <a:rect l="l" t="t" r="r" b="b"/>
              <a:pathLst>
                <a:path w="0" h="757554">
                  <a:moveTo>
                    <a:pt x="0" y="0"/>
                  </a:moveTo>
                  <a:lnTo>
                    <a:pt x="0" y="757286"/>
                  </a:lnTo>
                </a:path>
              </a:pathLst>
            </a:custGeom>
            <a:ln w="9855">
              <a:solidFill>
                <a:srgbClr val="9B9B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733837" y="4491729"/>
            <a:ext cx="33655" cy="4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33837" y="4625841"/>
            <a:ext cx="33655" cy="4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33837" y="4759954"/>
            <a:ext cx="33655" cy="4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33837" y="4894066"/>
            <a:ext cx="33655" cy="4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33837" y="5028177"/>
            <a:ext cx="33655" cy="4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33837" y="5162289"/>
            <a:ext cx="33655" cy="41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" spc="-5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29086" y="3988937"/>
            <a:ext cx="476884" cy="39751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comp.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tecniche</a:t>
            </a:r>
            <a:endParaRPr sz="1000">
              <a:latin typeface="Tahoma"/>
              <a:cs typeface="Tahoma"/>
            </a:endParaRPr>
          </a:p>
          <a:p>
            <a:pPr algn="ctr" marR="26034">
              <a:lnSpc>
                <a:spcPct val="100000"/>
              </a:lnSpc>
              <a:spcBef>
                <a:spcPts val="395"/>
              </a:spcBef>
            </a:pPr>
            <a:r>
              <a:rPr dirty="0" sz="100" spc="-5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96138" y="4589393"/>
            <a:ext cx="514350" cy="34226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solidFill>
                  <a:srgbClr val="151515"/>
                </a:solidFill>
                <a:latin typeface="Tahoma"/>
                <a:cs typeface="Tahoma"/>
              </a:rPr>
              <a:t>comp.</a:t>
            </a:r>
            <a:r>
              <a:rPr dirty="0" sz="1000" spc="160">
                <a:solidFill>
                  <a:srgbClr val="151515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51515"/>
                </a:solidFill>
                <a:latin typeface="Tahoma"/>
                <a:cs typeface="Tahoma"/>
              </a:rPr>
              <a:t>di</a:t>
            </a:r>
            <a:endParaRPr sz="100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190"/>
              </a:spcBef>
            </a:pPr>
            <a:r>
              <a:rPr dirty="0" sz="1000">
                <a:solidFill>
                  <a:srgbClr val="151515"/>
                </a:solidFill>
                <a:latin typeface="Tahoma"/>
                <a:cs typeface="Tahoma"/>
              </a:rPr>
              <a:t>dom</a:t>
            </a:r>
            <a:r>
              <a:rPr dirty="0" sz="1000" spc="-160">
                <a:solidFill>
                  <a:srgbClr val="151515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51515"/>
                </a:solidFill>
                <a:latin typeface="Tahoma"/>
                <a:cs typeface="Tahoma"/>
              </a:rPr>
              <a:t>inio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96138" y="5427593"/>
            <a:ext cx="641985" cy="34226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comp.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linguistiche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16273" y="6031097"/>
            <a:ext cx="508000" cy="33909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capacità</a:t>
            </a:r>
            <a:endParaRPr sz="1000">
              <a:latin typeface="Tahoma"/>
              <a:cs typeface="Tahoma"/>
            </a:endParaRPr>
          </a:p>
          <a:p>
            <a:pPr marL="71755">
              <a:lnSpc>
                <a:spcPct val="100000"/>
              </a:lnSpc>
              <a:spcBef>
                <a:spcPts val="165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fisiche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21163" y="5515985"/>
            <a:ext cx="654050" cy="1651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motivazion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6380" y="4589393"/>
            <a:ext cx="692150" cy="34226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concentrazi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1000" spc="-25">
                <a:solidFill>
                  <a:srgbClr val="151515"/>
                </a:solidFill>
                <a:latin typeface="Tahoma"/>
                <a:cs typeface="Tahoma"/>
              </a:rPr>
              <a:t>one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57413" y="6383408"/>
            <a:ext cx="6724015" cy="61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40454">
              <a:lnSpc>
                <a:spcPts val="2330"/>
              </a:lnSpc>
              <a:spcBef>
                <a:spcPts val="100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hurry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little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patience.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30"/>
              </a:lnSpc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understands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something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about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banks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loans.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38670" y="4009766"/>
            <a:ext cx="995680" cy="414655"/>
          </a:xfrm>
          <a:custGeom>
            <a:avLst/>
            <a:gdLst/>
            <a:ahLst/>
            <a:cxnLst/>
            <a:rect l="l" t="t" r="r" b="b"/>
            <a:pathLst>
              <a:path w="995680" h="414654">
                <a:moveTo>
                  <a:pt x="995528" y="0"/>
                </a:moveTo>
                <a:lnTo>
                  <a:pt x="0" y="0"/>
                </a:lnTo>
                <a:lnTo>
                  <a:pt x="0" y="414187"/>
                </a:lnTo>
                <a:lnTo>
                  <a:pt x="995528" y="414187"/>
                </a:lnTo>
                <a:lnTo>
                  <a:pt x="9955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325399" y="4045146"/>
            <a:ext cx="82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620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technical competencies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452661" y="4574387"/>
            <a:ext cx="995680" cy="414655"/>
          </a:xfrm>
          <a:custGeom>
            <a:avLst/>
            <a:gdLst/>
            <a:ahLst/>
            <a:cxnLst/>
            <a:rect l="l" t="t" r="r" b="b"/>
            <a:pathLst>
              <a:path w="995679" h="414654">
                <a:moveTo>
                  <a:pt x="995528" y="0"/>
                </a:moveTo>
                <a:lnTo>
                  <a:pt x="0" y="0"/>
                </a:lnTo>
                <a:lnTo>
                  <a:pt x="0" y="414188"/>
                </a:lnTo>
                <a:lnTo>
                  <a:pt x="995528" y="414188"/>
                </a:lnTo>
                <a:lnTo>
                  <a:pt x="9955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539389" y="4609026"/>
            <a:ext cx="82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526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domain competencies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452661" y="5430715"/>
            <a:ext cx="995680" cy="414655"/>
          </a:xfrm>
          <a:custGeom>
            <a:avLst/>
            <a:gdLst/>
            <a:ahLst/>
            <a:cxnLst/>
            <a:rect l="l" t="t" r="r" b="b"/>
            <a:pathLst>
              <a:path w="995679" h="414654">
                <a:moveTo>
                  <a:pt x="995528" y="0"/>
                </a:moveTo>
                <a:lnTo>
                  <a:pt x="0" y="0"/>
                </a:lnTo>
                <a:lnTo>
                  <a:pt x="0" y="414187"/>
                </a:lnTo>
                <a:lnTo>
                  <a:pt x="995528" y="414187"/>
                </a:lnTo>
                <a:lnTo>
                  <a:pt x="9955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539389" y="5465514"/>
            <a:ext cx="821055" cy="3333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144780">
              <a:lnSpc>
                <a:spcPct val="102000"/>
              </a:lnSpc>
              <a:spcBef>
                <a:spcPts val="75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linguistic competencies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519249" y="6014497"/>
            <a:ext cx="677545" cy="414655"/>
          </a:xfrm>
          <a:custGeom>
            <a:avLst/>
            <a:gdLst/>
            <a:ahLst/>
            <a:cxnLst/>
            <a:rect l="l" t="t" r="r" b="b"/>
            <a:pathLst>
              <a:path w="677544" h="414654">
                <a:moveTo>
                  <a:pt x="677067" y="0"/>
                </a:moveTo>
                <a:lnTo>
                  <a:pt x="0" y="0"/>
                </a:lnTo>
                <a:lnTo>
                  <a:pt x="0" y="414188"/>
                </a:lnTo>
                <a:lnTo>
                  <a:pt x="677067" y="414188"/>
                </a:lnTo>
                <a:lnTo>
                  <a:pt x="6770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604438" y="6050730"/>
            <a:ext cx="5080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" marR="5080" indent="-1587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physical abilities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84605" y="5423782"/>
            <a:ext cx="813435" cy="255270"/>
          </a:xfrm>
          <a:custGeom>
            <a:avLst/>
            <a:gdLst/>
            <a:ahLst/>
            <a:cxnLst/>
            <a:rect l="l" t="t" r="r" b="b"/>
            <a:pathLst>
              <a:path w="813435" h="255270">
                <a:moveTo>
                  <a:pt x="813077" y="0"/>
                </a:moveTo>
                <a:lnTo>
                  <a:pt x="0" y="0"/>
                </a:lnTo>
                <a:lnTo>
                  <a:pt x="0" y="254883"/>
                </a:lnTo>
                <a:lnTo>
                  <a:pt x="813077" y="254883"/>
                </a:lnTo>
                <a:lnTo>
                  <a:pt x="8130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245052" y="5459418"/>
            <a:ext cx="8324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51515"/>
                </a:solidFill>
                <a:latin typeface="Tahoma"/>
                <a:cs typeface="Tahoma"/>
              </a:rPr>
              <a:t>motivation</a:t>
            </a:r>
            <a:r>
              <a:rPr dirty="0" sz="1000" spc="400">
                <a:solidFill>
                  <a:srgbClr val="151515"/>
                </a:solidFill>
                <a:latin typeface="Tahoma"/>
                <a:cs typeface="Tahoma"/>
              </a:rPr>
              <a:t> </a:t>
            </a:r>
            <a:r>
              <a:rPr dirty="0" baseline="-22222" sz="1500" spc="-75">
                <a:solidFill>
                  <a:srgbClr val="151515"/>
                </a:solidFill>
                <a:latin typeface="Tahoma"/>
                <a:cs typeface="Tahoma"/>
              </a:rPr>
              <a:t>e</a:t>
            </a:r>
            <a:endParaRPr baseline="-22222" sz="150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93378" y="4622111"/>
            <a:ext cx="1003935" cy="367030"/>
          </a:xfrm>
          <a:custGeom>
            <a:avLst/>
            <a:gdLst/>
            <a:ahLst/>
            <a:cxnLst/>
            <a:rect l="l" t="t" r="r" b="b"/>
            <a:pathLst>
              <a:path w="1003935" h="367029">
                <a:moveTo>
                  <a:pt x="1003822" y="0"/>
                </a:moveTo>
                <a:lnTo>
                  <a:pt x="0" y="0"/>
                </a:lnTo>
                <a:lnTo>
                  <a:pt x="0" y="366464"/>
                </a:lnTo>
                <a:lnTo>
                  <a:pt x="1003822" y="366464"/>
                </a:lnTo>
                <a:lnTo>
                  <a:pt x="10038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180146" y="4770570"/>
            <a:ext cx="8280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concentration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77565" y="6366767"/>
            <a:ext cx="2794000" cy="961390"/>
            <a:chOff x="7277565" y="6366767"/>
            <a:chExt cx="2794000" cy="9613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7098" y="6628229"/>
              <a:ext cx="2077993" cy="5499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77565" y="6366767"/>
              <a:ext cx="2794000" cy="961390"/>
            </a:xfrm>
            <a:custGeom>
              <a:avLst/>
              <a:gdLst/>
              <a:ahLst/>
              <a:cxnLst/>
              <a:rect l="l" t="t" r="r" b="b"/>
              <a:pathLst>
                <a:path w="2794000" h="961390">
                  <a:moveTo>
                    <a:pt x="2793535" y="0"/>
                  </a:moveTo>
                  <a:lnTo>
                    <a:pt x="0" y="0"/>
                  </a:lnTo>
                  <a:lnTo>
                    <a:pt x="0" y="961132"/>
                  </a:lnTo>
                  <a:lnTo>
                    <a:pt x="2793535" y="961132"/>
                  </a:lnTo>
                  <a:lnTo>
                    <a:pt x="2793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01784" y="434636"/>
            <a:ext cx="5875655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Example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2:</a:t>
            </a:r>
            <a:r>
              <a:rPr dirty="0" sz="3700" spc="-2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The new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bedroom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54314" y="1415167"/>
            <a:ext cx="5565140" cy="4918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67030" marR="64769" indent="-354965">
              <a:lnSpc>
                <a:spcPct val="99300"/>
              </a:lnSpc>
              <a:spcBef>
                <a:spcPts val="114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Mahmur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38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years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old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Bangladesh.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arrived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Italy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wife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years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ago,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soon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after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daughters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were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born.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legal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immigrant,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works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skilled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worker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for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1300</a:t>
            </a:r>
            <a:r>
              <a:rPr dirty="0" sz="21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€/m.</a:t>
            </a:r>
            <a:endParaRPr sz="2100">
              <a:latin typeface="Calibri"/>
              <a:cs typeface="Calibri"/>
            </a:endParaRPr>
          </a:p>
          <a:p>
            <a:pPr marL="367030" marR="163195" indent="-354965">
              <a:lnSpc>
                <a:spcPct val="99400"/>
              </a:lnSpc>
              <a:spcBef>
                <a:spcPts val="47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wife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decided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renovate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bedroom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daughters.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wants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know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receive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returning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200€/m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3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years.</a:t>
            </a:r>
            <a:endParaRPr sz="2100">
              <a:latin typeface="Calibri"/>
              <a:cs typeface="Calibri"/>
            </a:endParaRPr>
          </a:p>
          <a:p>
            <a:pPr marL="367030" marR="5080" indent="-354965">
              <a:lnSpc>
                <a:spcPct val="99200"/>
              </a:lnSpc>
              <a:spcBef>
                <a:spcPts val="5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Mahmur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speaks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low-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level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Italian.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speaks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English.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financial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skills.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has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been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computers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Internet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years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talk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family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Bangladesh,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read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newspapers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country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online,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participate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Bengali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immigration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forums.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54314" y="6368168"/>
            <a:ext cx="52679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kind,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precise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meticulous,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loves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things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done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well.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never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hurry,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never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9120" y="7005198"/>
            <a:ext cx="184213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loses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his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temper.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9853" y="1531033"/>
            <a:ext cx="3502025" cy="5303520"/>
            <a:chOff x="869853" y="1531033"/>
            <a:chExt cx="3502025" cy="530352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361" y="1531033"/>
              <a:ext cx="3426636" cy="28399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9853" y="4133419"/>
              <a:ext cx="3502025" cy="2701290"/>
            </a:xfrm>
            <a:custGeom>
              <a:avLst/>
              <a:gdLst/>
              <a:ahLst/>
              <a:cxnLst/>
              <a:rect l="l" t="t" r="r" b="b"/>
              <a:pathLst>
                <a:path w="3502025" h="2701290">
                  <a:moveTo>
                    <a:pt x="3501887" y="0"/>
                  </a:moveTo>
                  <a:lnTo>
                    <a:pt x="0" y="0"/>
                  </a:lnTo>
                  <a:lnTo>
                    <a:pt x="0" y="2701035"/>
                  </a:lnTo>
                  <a:lnTo>
                    <a:pt x="3501887" y="2701035"/>
                  </a:lnTo>
                  <a:lnTo>
                    <a:pt x="3501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21472" y="4648433"/>
              <a:ext cx="722630" cy="417195"/>
            </a:xfrm>
            <a:custGeom>
              <a:avLst/>
              <a:gdLst/>
              <a:ahLst/>
              <a:cxnLst/>
              <a:rect l="l" t="t" r="r" b="b"/>
              <a:pathLst>
                <a:path w="722629" h="417195">
                  <a:moveTo>
                    <a:pt x="0" y="0"/>
                  </a:moveTo>
                  <a:lnTo>
                    <a:pt x="722569" y="416919"/>
                  </a:lnTo>
                </a:path>
              </a:pathLst>
            </a:custGeom>
            <a:ln w="9859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44041" y="5269082"/>
              <a:ext cx="0" cy="480695"/>
            </a:xfrm>
            <a:custGeom>
              <a:avLst/>
              <a:gdLst/>
              <a:ahLst/>
              <a:cxnLst/>
              <a:rect l="l" t="t" r="r" b="b"/>
              <a:pathLst>
                <a:path w="0" h="480695">
                  <a:moveTo>
                    <a:pt x="0" y="0"/>
                  </a:moveTo>
                  <a:lnTo>
                    <a:pt x="0" y="480311"/>
                  </a:lnTo>
                </a:path>
              </a:pathLst>
            </a:custGeom>
            <a:ln w="985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97554" y="5900959"/>
              <a:ext cx="1446530" cy="419100"/>
            </a:xfrm>
            <a:custGeom>
              <a:avLst/>
              <a:gdLst/>
              <a:ahLst/>
              <a:cxnLst/>
              <a:rect l="l" t="t" r="r" b="b"/>
              <a:pathLst>
                <a:path w="1446529" h="419100">
                  <a:moveTo>
                    <a:pt x="1446487" y="0"/>
                  </a:moveTo>
                  <a:lnTo>
                    <a:pt x="723918" y="418481"/>
                  </a:lnTo>
                </a:path>
                <a:path w="1446529" h="419100">
                  <a:moveTo>
                    <a:pt x="723918" y="418481"/>
                  </a:moveTo>
                  <a:lnTo>
                    <a:pt x="0" y="0"/>
                  </a:lnTo>
                </a:path>
              </a:pathLst>
            </a:custGeom>
            <a:ln w="9857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97554" y="5204309"/>
              <a:ext cx="0" cy="555625"/>
            </a:xfrm>
            <a:custGeom>
              <a:avLst/>
              <a:gdLst/>
              <a:ahLst/>
              <a:cxnLst/>
              <a:rect l="l" t="t" r="r" b="b"/>
              <a:pathLst>
                <a:path w="0" h="555625">
                  <a:moveTo>
                    <a:pt x="0" y="0"/>
                  </a:moveTo>
                  <a:lnTo>
                    <a:pt x="0" y="555304"/>
                  </a:lnTo>
                </a:path>
              </a:pathLst>
            </a:custGeom>
            <a:ln w="985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97554" y="4648433"/>
              <a:ext cx="1324610" cy="1533525"/>
            </a:xfrm>
            <a:custGeom>
              <a:avLst/>
              <a:gdLst/>
              <a:ahLst/>
              <a:cxnLst/>
              <a:rect l="l" t="t" r="r" b="b"/>
              <a:pathLst>
                <a:path w="1324610" h="1533525">
                  <a:moveTo>
                    <a:pt x="0" y="416919"/>
                  </a:moveTo>
                  <a:lnTo>
                    <a:pt x="723918" y="0"/>
                  </a:lnTo>
                </a:path>
                <a:path w="1324610" h="1533525">
                  <a:moveTo>
                    <a:pt x="723918" y="139401"/>
                  </a:moveTo>
                  <a:lnTo>
                    <a:pt x="1324431" y="487061"/>
                  </a:lnTo>
                </a:path>
                <a:path w="1324610" h="1533525">
                  <a:moveTo>
                    <a:pt x="1324431" y="487061"/>
                  </a:moveTo>
                  <a:lnTo>
                    <a:pt x="1324431" y="1182383"/>
                  </a:lnTo>
                </a:path>
                <a:path w="1324610" h="1533525">
                  <a:moveTo>
                    <a:pt x="1324431" y="1182383"/>
                  </a:moveTo>
                  <a:lnTo>
                    <a:pt x="723918" y="1533093"/>
                  </a:lnTo>
                </a:path>
                <a:path w="1324610" h="1533525">
                  <a:moveTo>
                    <a:pt x="723918" y="1533093"/>
                  </a:moveTo>
                  <a:lnTo>
                    <a:pt x="120356" y="1182383"/>
                  </a:lnTo>
                </a:path>
              </a:pathLst>
            </a:custGeom>
            <a:ln w="9857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17910" y="5204309"/>
              <a:ext cx="0" cy="626745"/>
            </a:xfrm>
            <a:custGeom>
              <a:avLst/>
              <a:gdLst/>
              <a:ahLst/>
              <a:cxnLst/>
              <a:rect l="l" t="t" r="r" b="b"/>
              <a:pathLst>
                <a:path w="0" h="626745">
                  <a:moveTo>
                    <a:pt x="0" y="0"/>
                  </a:moveTo>
                  <a:lnTo>
                    <a:pt x="0" y="626508"/>
                  </a:lnTo>
                </a:path>
              </a:pathLst>
            </a:custGeom>
            <a:ln w="985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17910" y="4787834"/>
              <a:ext cx="1085215" cy="1253490"/>
            </a:xfrm>
            <a:custGeom>
              <a:avLst/>
              <a:gdLst/>
              <a:ahLst/>
              <a:cxnLst/>
              <a:rect l="l" t="t" r="r" b="b"/>
              <a:pathLst>
                <a:path w="1085214" h="1253489">
                  <a:moveTo>
                    <a:pt x="0" y="347660"/>
                  </a:moveTo>
                  <a:lnTo>
                    <a:pt x="603561" y="0"/>
                  </a:lnTo>
                </a:path>
                <a:path w="1085214" h="1253489">
                  <a:moveTo>
                    <a:pt x="603561" y="140284"/>
                  </a:moveTo>
                  <a:lnTo>
                    <a:pt x="1085191" y="417802"/>
                  </a:lnTo>
                </a:path>
                <a:path w="1085214" h="1253489">
                  <a:moveTo>
                    <a:pt x="1085191" y="417802"/>
                  </a:moveTo>
                  <a:lnTo>
                    <a:pt x="1085191" y="975889"/>
                  </a:lnTo>
                </a:path>
                <a:path w="1085214" h="1253489">
                  <a:moveTo>
                    <a:pt x="1085191" y="975889"/>
                  </a:moveTo>
                  <a:lnTo>
                    <a:pt x="603561" y="1253408"/>
                  </a:lnTo>
                </a:path>
                <a:path w="1085214" h="1253489">
                  <a:moveTo>
                    <a:pt x="603561" y="1253408"/>
                  </a:moveTo>
                  <a:lnTo>
                    <a:pt x="121931" y="975889"/>
                  </a:lnTo>
                </a:path>
                <a:path w="1085214" h="1253489">
                  <a:moveTo>
                    <a:pt x="121931" y="975889"/>
                  </a:moveTo>
                  <a:lnTo>
                    <a:pt x="121931" y="417802"/>
                  </a:lnTo>
                </a:path>
                <a:path w="1085214" h="1253489">
                  <a:moveTo>
                    <a:pt x="121931" y="417802"/>
                  </a:moveTo>
                  <a:lnTo>
                    <a:pt x="603561" y="140284"/>
                  </a:lnTo>
                </a:path>
                <a:path w="1085214" h="1253489">
                  <a:moveTo>
                    <a:pt x="603561" y="277518"/>
                  </a:moveTo>
                  <a:lnTo>
                    <a:pt x="963260" y="487944"/>
                  </a:lnTo>
                </a:path>
                <a:path w="1085214" h="1253489">
                  <a:moveTo>
                    <a:pt x="963260" y="487944"/>
                  </a:moveTo>
                  <a:lnTo>
                    <a:pt x="963260" y="905747"/>
                  </a:lnTo>
                </a:path>
                <a:path w="1085214" h="1253489">
                  <a:moveTo>
                    <a:pt x="963260" y="905747"/>
                  </a:moveTo>
                  <a:lnTo>
                    <a:pt x="603561" y="1113124"/>
                  </a:lnTo>
                </a:path>
                <a:path w="1085214" h="1253489">
                  <a:moveTo>
                    <a:pt x="603561" y="1113124"/>
                  </a:moveTo>
                  <a:lnTo>
                    <a:pt x="240815" y="905747"/>
                  </a:lnTo>
                </a:path>
                <a:path w="1085214" h="1253489">
                  <a:moveTo>
                    <a:pt x="240815" y="905747"/>
                  </a:moveTo>
                  <a:lnTo>
                    <a:pt x="240815" y="487944"/>
                  </a:lnTo>
                </a:path>
                <a:path w="1085214" h="1253489">
                  <a:moveTo>
                    <a:pt x="240815" y="487944"/>
                  </a:moveTo>
                  <a:lnTo>
                    <a:pt x="603561" y="277518"/>
                  </a:lnTo>
                </a:path>
                <a:path w="1085214" h="1253489">
                  <a:moveTo>
                    <a:pt x="603561" y="417802"/>
                  </a:moveTo>
                  <a:lnTo>
                    <a:pt x="844376" y="558086"/>
                  </a:lnTo>
                </a:path>
                <a:path w="1085214" h="1253489">
                  <a:moveTo>
                    <a:pt x="844376" y="558086"/>
                  </a:moveTo>
                  <a:lnTo>
                    <a:pt x="844376" y="835605"/>
                  </a:lnTo>
                </a:path>
                <a:path w="1085214" h="1253489">
                  <a:moveTo>
                    <a:pt x="844376" y="835605"/>
                  </a:moveTo>
                  <a:lnTo>
                    <a:pt x="603561" y="975889"/>
                  </a:lnTo>
                </a:path>
                <a:path w="1085214" h="1253489">
                  <a:moveTo>
                    <a:pt x="603561" y="975889"/>
                  </a:moveTo>
                  <a:lnTo>
                    <a:pt x="362746" y="835605"/>
                  </a:lnTo>
                </a:path>
                <a:path w="1085214" h="1253489">
                  <a:moveTo>
                    <a:pt x="362746" y="835605"/>
                  </a:moveTo>
                  <a:lnTo>
                    <a:pt x="362746" y="558086"/>
                  </a:lnTo>
                </a:path>
              </a:pathLst>
            </a:custGeom>
            <a:ln w="9857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5728" y="5200708"/>
              <a:ext cx="369557" cy="42766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7816" y="5047488"/>
              <a:ext cx="929640" cy="8503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79717" y="5066186"/>
              <a:ext cx="843915" cy="766445"/>
            </a:xfrm>
            <a:custGeom>
              <a:avLst/>
              <a:gdLst/>
              <a:ahLst/>
              <a:cxnLst/>
              <a:rect l="l" t="t" r="r" b="b"/>
              <a:pathLst>
                <a:path w="843914" h="766445">
                  <a:moveTo>
                    <a:pt x="241755" y="0"/>
                  </a:moveTo>
                  <a:lnTo>
                    <a:pt x="0" y="279735"/>
                  </a:lnTo>
                  <a:lnTo>
                    <a:pt x="119823" y="487112"/>
                  </a:lnTo>
                  <a:lnTo>
                    <a:pt x="241755" y="557254"/>
                  </a:lnTo>
                  <a:lnTo>
                    <a:pt x="843784" y="765878"/>
                  </a:lnTo>
                  <a:lnTo>
                    <a:pt x="843784" y="69308"/>
                  </a:lnTo>
                  <a:lnTo>
                    <a:pt x="241755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97554" y="4648433"/>
              <a:ext cx="1446530" cy="1671320"/>
            </a:xfrm>
            <a:custGeom>
              <a:avLst/>
              <a:gdLst/>
              <a:ahLst/>
              <a:cxnLst/>
              <a:rect l="l" t="t" r="r" b="b"/>
              <a:pathLst>
                <a:path w="1446529" h="1671320">
                  <a:moveTo>
                    <a:pt x="723918" y="834722"/>
                  </a:moveTo>
                  <a:lnTo>
                    <a:pt x="723918" y="0"/>
                  </a:lnTo>
                </a:path>
                <a:path w="1446529" h="1671320">
                  <a:moveTo>
                    <a:pt x="723918" y="834722"/>
                  </a:moveTo>
                  <a:lnTo>
                    <a:pt x="1446487" y="416919"/>
                  </a:lnTo>
                </a:path>
                <a:path w="1446529" h="1671320">
                  <a:moveTo>
                    <a:pt x="723918" y="834722"/>
                  </a:moveTo>
                  <a:lnTo>
                    <a:pt x="1446487" y="1252525"/>
                  </a:lnTo>
                </a:path>
                <a:path w="1446529" h="1671320">
                  <a:moveTo>
                    <a:pt x="723918" y="834722"/>
                  </a:moveTo>
                  <a:lnTo>
                    <a:pt x="723918" y="1671008"/>
                  </a:lnTo>
                </a:path>
                <a:path w="1446529" h="1671320">
                  <a:moveTo>
                    <a:pt x="723918" y="834722"/>
                  </a:moveTo>
                  <a:lnTo>
                    <a:pt x="0" y="1252525"/>
                  </a:lnTo>
                </a:path>
                <a:path w="1446529" h="1671320">
                  <a:moveTo>
                    <a:pt x="723918" y="834722"/>
                  </a:moveTo>
                  <a:lnTo>
                    <a:pt x="0" y="416919"/>
                  </a:lnTo>
                </a:path>
                <a:path w="1446529" h="1671320">
                  <a:moveTo>
                    <a:pt x="723918" y="834722"/>
                  </a:moveTo>
                  <a:lnTo>
                    <a:pt x="723918" y="0"/>
                  </a:lnTo>
                </a:path>
              </a:pathLst>
            </a:custGeom>
            <a:ln w="9857">
              <a:solidFill>
                <a:srgbClr val="9B9B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364858" y="4566354"/>
            <a:ext cx="104139" cy="101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140"/>
              </a:lnSpc>
              <a:spcBef>
                <a:spcPts val="100"/>
              </a:spcBef>
            </a:pPr>
            <a:r>
              <a:rPr dirty="0" sz="1000" spc="15">
                <a:solidFill>
                  <a:srgbClr val="151515"/>
                </a:solidFill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90"/>
              </a:lnSpc>
            </a:pPr>
            <a:r>
              <a:rPr dirty="0" sz="1000" spc="15">
                <a:solidFill>
                  <a:srgbClr val="151515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05"/>
              </a:lnSpc>
            </a:pPr>
            <a:r>
              <a:rPr dirty="0" sz="1000" spc="15">
                <a:solidFill>
                  <a:srgbClr val="151515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90"/>
              </a:lnSpc>
            </a:pPr>
            <a:r>
              <a:rPr dirty="0" sz="1000" spc="15">
                <a:solidFill>
                  <a:srgbClr val="151515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090"/>
              </a:lnSpc>
            </a:pPr>
            <a:r>
              <a:rPr dirty="0" sz="1000" spc="15">
                <a:solidFill>
                  <a:srgbClr val="151515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05"/>
              </a:lnSpc>
            </a:pPr>
            <a:r>
              <a:rPr dirty="0" sz="1000" spc="15">
                <a:solidFill>
                  <a:srgbClr val="151515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50"/>
              </a:lnSpc>
            </a:pPr>
            <a:r>
              <a:rPr dirty="0" sz="1000" spc="15">
                <a:solidFill>
                  <a:srgbClr val="151515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79101" y="4260209"/>
            <a:ext cx="476884" cy="33909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comp.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tecniche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72972" y="4875905"/>
            <a:ext cx="514350" cy="34226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solidFill>
                  <a:srgbClr val="151515"/>
                </a:solidFill>
                <a:latin typeface="Tahoma"/>
                <a:cs typeface="Tahoma"/>
              </a:rPr>
              <a:t>comp.</a:t>
            </a:r>
            <a:r>
              <a:rPr dirty="0" sz="1000" spc="160">
                <a:solidFill>
                  <a:srgbClr val="151515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151515"/>
                </a:solidFill>
                <a:latin typeface="Tahoma"/>
                <a:cs typeface="Tahoma"/>
              </a:rPr>
              <a:t>di</a:t>
            </a:r>
            <a:endParaRPr sz="100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190"/>
              </a:spcBef>
            </a:pPr>
            <a:r>
              <a:rPr dirty="0" sz="1000">
                <a:solidFill>
                  <a:srgbClr val="151515"/>
                </a:solidFill>
                <a:latin typeface="Tahoma"/>
                <a:cs typeface="Tahoma"/>
              </a:rPr>
              <a:t>dom</a:t>
            </a:r>
            <a:r>
              <a:rPr dirty="0" sz="1000" spc="-160">
                <a:solidFill>
                  <a:srgbClr val="151515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151515"/>
                </a:solidFill>
                <a:latin typeface="Tahoma"/>
                <a:cs typeface="Tahoma"/>
              </a:rPr>
              <a:t>inio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72972" y="5747633"/>
            <a:ext cx="641985" cy="33909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comp.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linguistiche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66288" y="6363329"/>
            <a:ext cx="508000" cy="33909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capacità</a:t>
            </a:r>
            <a:endParaRPr sz="1000">
              <a:latin typeface="Tahoma"/>
              <a:cs typeface="Tahoma"/>
            </a:endParaRPr>
          </a:p>
          <a:p>
            <a:pPr marL="71755">
              <a:lnSpc>
                <a:spcPct val="100000"/>
              </a:lnSpc>
              <a:spcBef>
                <a:spcPts val="165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fisiche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44356" y="5832977"/>
            <a:ext cx="718185" cy="1651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motivazione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00596" y="4875905"/>
            <a:ext cx="762635" cy="34226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concentrazio</a:t>
            </a:r>
            <a:endParaRPr sz="1000">
              <a:latin typeface="Tahoma"/>
              <a:cs typeface="Tahoma"/>
            </a:endParaRPr>
          </a:p>
          <a:p>
            <a:pPr algn="ctr" marL="13970">
              <a:lnSpc>
                <a:spcPct val="100000"/>
              </a:lnSpc>
              <a:spcBef>
                <a:spcPts val="190"/>
              </a:spcBef>
            </a:pPr>
            <a:r>
              <a:rPr dirty="0" sz="1000" spc="30">
                <a:solidFill>
                  <a:srgbClr val="151515"/>
                </a:solidFill>
                <a:latin typeface="Tahoma"/>
                <a:cs typeface="Tahoma"/>
              </a:rPr>
              <a:t>ne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36494" y="4225499"/>
            <a:ext cx="995680" cy="414655"/>
          </a:xfrm>
          <a:custGeom>
            <a:avLst/>
            <a:gdLst/>
            <a:ahLst/>
            <a:cxnLst/>
            <a:rect l="l" t="t" r="r" b="b"/>
            <a:pathLst>
              <a:path w="995680" h="414654">
                <a:moveTo>
                  <a:pt x="995528" y="0"/>
                </a:moveTo>
                <a:lnTo>
                  <a:pt x="0" y="0"/>
                </a:lnTo>
                <a:lnTo>
                  <a:pt x="0" y="414187"/>
                </a:lnTo>
                <a:lnTo>
                  <a:pt x="995528" y="414187"/>
                </a:lnTo>
                <a:lnTo>
                  <a:pt x="9955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339849" y="4261554"/>
            <a:ext cx="5467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technical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23222" y="4413954"/>
            <a:ext cx="8210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competencies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328626" y="4854893"/>
            <a:ext cx="995680" cy="414655"/>
          </a:xfrm>
          <a:custGeom>
            <a:avLst/>
            <a:gdLst/>
            <a:ahLst/>
            <a:cxnLst/>
            <a:rect l="l" t="t" r="r" b="b"/>
            <a:pathLst>
              <a:path w="995679" h="414654">
                <a:moveTo>
                  <a:pt x="995528" y="0"/>
                </a:moveTo>
                <a:lnTo>
                  <a:pt x="0" y="0"/>
                </a:lnTo>
                <a:lnTo>
                  <a:pt x="0" y="414188"/>
                </a:lnTo>
                <a:lnTo>
                  <a:pt x="995528" y="414188"/>
                </a:lnTo>
                <a:lnTo>
                  <a:pt x="9955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415355" y="4889442"/>
            <a:ext cx="821055" cy="3333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175260">
              <a:lnSpc>
                <a:spcPct val="102000"/>
              </a:lnSpc>
              <a:spcBef>
                <a:spcPts val="75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domain competencies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328626" y="5749394"/>
            <a:ext cx="995680" cy="414655"/>
          </a:xfrm>
          <a:custGeom>
            <a:avLst/>
            <a:gdLst/>
            <a:ahLst/>
            <a:cxnLst/>
            <a:rect l="l" t="t" r="r" b="b"/>
            <a:pathLst>
              <a:path w="995679" h="414654">
                <a:moveTo>
                  <a:pt x="995528" y="0"/>
                </a:moveTo>
                <a:lnTo>
                  <a:pt x="0" y="0"/>
                </a:lnTo>
                <a:lnTo>
                  <a:pt x="0" y="414187"/>
                </a:lnTo>
                <a:lnTo>
                  <a:pt x="995528" y="414187"/>
                </a:lnTo>
                <a:lnTo>
                  <a:pt x="9955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415355" y="5785554"/>
            <a:ext cx="8210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4478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linguistic competencies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360019" y="6345726"/>
            <a:ext cx="677545" cy="414655"/>
          </a:xfrm>
          <a:custGeom>
            <a:avLst/>
            <a:gdLst/>
            <a:ahLst/>
            <a:cxnLst/>
            <a:rect l="l" t="t" r="r" b="b"/>
            <a:pathLst>
              <a:path w="677544" h="414654">
                <a:moveTo>
                  <a:pt x="677066" y="0"/>
                </a:moveTo>
                <a:lnTo>
                  <a:pt x="0" y="0"/>
                </a:lnTo>
                <a:lnTo>
                  <a:pt x="0" y="414187"/>
                </a:lnTo>
                <a:lnTo>
                  <a:pt x="677066" y="414187"/>
                </a:lnTo>
                <a:lnTo>
                  <a:pt x="6770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445207" y="6382962"/>
            <a:ext cx="5080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" marR="5080" indent="-1587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physical abilities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93378" y="5759613"/>
            <a:ext cx="813435" cy="255270"/>
          </a:xfrm>
          <a:custGeom>
            <a:avLst/>
            <a:gdLst/>
            <a:ahLst/>
            <a:cxnLst/>
            <a:rect l="l" t="t" r="r" b="b"/>
            <a:pathLst>
              <a:path w="813435" h="255270">
                <a:moveTo>
                  <a:pt x="813077" y="0"/>
                </a:moveTo>
                <a:lnTo>
                  <a:pt x="0" y="0"/>
                </a:lnTo>
                <a:lnTo>
                  <a:pt x="0" y="254885"/>
                </a:lnTo>
                <a:lnTo>
                  <a:pt x="813077" y="254885"/>
                </a:lnTo>
                <a:lnTo>
                  <a:pt x="8130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179225" y="5794698"/>
            <a:ext cx="6394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motivation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93378" y="4837845"/>
            <a:ext cx="1003935" cy="367030"/>
          </a:xfrm>
          <a:custGeom>
            <a:avLst/>
            <a:gdLst/>
            <a:ahLst/>
            <a:cxnLst/>
            <a:rect l="l" t="t" r="r" b="b"/>
            <a:pathLst>
              <a:path w="1003935" h="367029">
                <a:moveTo>
                  <a:pt x="1003822" y="0"/>
                </a:moveTo>
                <a:lnTo>
                  <a:pt x="0" y="0"/>
                </a:lnTo>
                <a:lnTo>
                  <a:pt x="0" y="366463"/>
                </a:lnTo>
                <a:lnTo>
                  <a:pt x="1003822" y="366463"/>
                </a:lnTo>
                <a:lnTo>
                  <a:pt x="10038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180146" y="4986978"/>
            <a:ext cx="8280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151515"/>
                </a:solidFill>
                <a:latin typeface="Tahoma"/>
                <a:cs typeface="Tahoma"/>
              </a:rPr>
              <a:t>concentration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34636"/>
            <a:ext cx="5186045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Competences</a:t>
            </a:r>
            <a:r>
              <a:rPr dirty="0" sz="3700" spc="-3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abilities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79130" cy="503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propose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here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simple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model,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divided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into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competences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abilities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exactly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six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basic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user's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characteristics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(features)</a:t>
            </a:r>
            <a:endParaRPr sz="2500">
              <a:latin typeface="Calibri"/>
              <a:cs typeface="Calibri"/>
            </a:endParaRPr>
          </a:p>
          <a:p>
            <a:pPr marL="367030" marR="160020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feature,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assign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numerical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score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(eg,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1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5,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1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low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value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5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high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value),</a:t>
            </a:r>
            <a:endParaRPr sz="2500">
              <a:latin typeface="Calibri"/>
              <a:cs typeface="Calibri"/>
            </a:endParaRPr>
          </a:p>
          <a:p>
            <a:pPr marL="367030" marR="124460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map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users'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chart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called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strategy diagram.</a:t>
            </a: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example: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Domain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competence:</a:t>
            </a:r>
            <a:endParaRPr sz="2500">
              <a:latin typeface="Calibri"/>
              <a:cs typeface="Calibri"/>
            </a:endParaRPr>
          </a:p>
          <a:p>
            <a:pPr lvl="1" marL="661670" marR="31115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5: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Perfect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mastery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terminology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procedures.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more different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ways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deal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same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technical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problem.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High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specialization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...</a:t>
            </a:r>
            <a:endParaRPr sz="2100">
              <a:latin typeface="Calibri"/>
              <a:cs typeface="Calibri"/>
            </a:endParaRPr>
          </a:p>
          <a:p>
            <a:pPr lvl="1" marL="661670" marR="374015" indent="-295910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1: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knowledge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purpose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application.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lead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step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step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operation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perform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application.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950" y="434636"/>
            <a:ext cx="5412105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Competences</a:t>
            </a:r>
            <a:r>
              <a:rPr dirty="0" sz="3700" spc="-3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abilities</a:t>
            </a:r>
            <a:endParaRPr sz="37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1989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Technical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competence: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5950" y="1707776"/>
            <a:ext cx="8350884" cy="53905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61670" marR="222250" indent="-295910">
              <a:lnSpc>
                <a:spcPct val="99500"/>
              </a:lnSpc>
              <a:spcBef>
                <a:spcPts val="11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nowadays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longer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one-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dimensional,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given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complexity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today's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technology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PCs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tablets,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Photoshop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Facebook,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all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without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overlap.</a:t>
            </a:r>
            <a:endParaRPr sz="2100">
              <a:latin typeface="Calibri"/>
              <a:cs typeface="Calibri"/>
            </a:endParaRPr>
          </a:p>
          <a:p>
            <a:pPr marL="661670" marR="101600" indent="-295910">
              <a:lnSpc>
                <a:spcPct val="99500"/>
              </a:lnSpc>
              <a:spcBef>
                <a:spcPts val="4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Corner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cases: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151515"/>
                </a:solidFill>
                <a:latin typeface="Calibri"/>
                <a:cs typeface="Calibri"/>
              </a:rPr>
              <a:t>young</a:t>
            </a:r>
            <a:r>
              <a:rPr dirty="0" sz="21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51515"/>
                </a:solidFill>
                <a:latin typeface="Calibri"/>
                <a:cs typeface="Calibri"/>
              </a:rPr>
              <a:t>man</a:t>
            </a:r>
            <a:r>
              <a:rPr dirty="0" sz="2100" spc="-7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51515"/>
                </a:solidFill>
                <a:latin typeface="Calibri"/>
                <a:cs typeface="Calibri"/>
              </a:rPr>
              <a:t>who</a:t>
            </a:r>
            <a:r>
              <a:rPr dirty="0" sz="2100" spc="-7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1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51515"/>
                </a:solidFill>
                <a:latin typeface="Calibri"/>
                <a:cs typeface="Calibri"/>
              </a:rPr>
              <a:t>uses</a:t>
            </a:r>
            <a:r>
              <a:rPr dirty="0" sz="2100" spc="-6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b="1">
                <a:solidFill>
                  <a:srgbClr val="151515"/>
                </a:solidFill>
                <a:latin typeface="Calibri"/>
                <a:cs typeface="Calibri"/>
              </a:rPr>
              <a:t>smartphone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i="1">
                <a:solidFill>
                  <a:srgbClr val="151515"/>
                </a:solidFill>
                <a:latin typeface="Calibri"/>
                <a:cs typeface="Calibri"/>
              </a:rPr>
              <a:t>free-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lance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5" i="1">
                <a:solidFill>
                  <a:srgbClr val="151515"/>
                </a:solidFill>
                <a:latin typeface="Calibri"/>
                <a:cs typeface="Calibri"/>
              </a:rPr>
              <a:t>ten-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years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old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PC,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elderly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young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nephew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helping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him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6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Domain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competence:</a:t>
            </a:r>
            <a:endParaRPr sz="2500">
              <a:latin typeface="Calibri"/>
              <a:cs typeface="Calibri"/>
            </a:endParaRPr>
          </a:p>
          <a:p>
            <a:pPr lvl="1" marL="661670" marR="34671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knowledge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practices,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terminology,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subtleties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subject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Corner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case: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exposed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time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world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banks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6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Language</a:t>
            </a:r>
            <a:r>
              <a:rPr dirty="0" sz="2500" spc="-1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competence:</a:t>
            </a:r>
            <a:endParaRPr sz="2500">
              <a:latin typeface="Calibri"/>
              <a:cs typeface="Calibri"/>
            </a:endParaRPr>
          </a:p>
          <a:p>
            <a:pPr lvl="1" marL="661670" marR="508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knowledge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language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(e.g.,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Italian)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ability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understand</a:t>
            </a:r>
            <a:r>
              <a:rPr dirty="0" sz="21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subtleties,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innuendo,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irony,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sarcasm,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different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communication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registers.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Corner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case: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foreigner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Italy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few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months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4966" y="434636"/>
            <a:ext cx="8326755" cy="6496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Competences</a:t>
            </a:r>
            <a:r>
              <a:rPr dirty="0" sz="3700" spc="-3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abilities</a:t>
            </a:r>
            <a:endParaRPr sz="37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317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Physical</a:t>
            </a:r>
            <a:r>
              <a:rPr dirty="0" sz="2500" spc="-1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Ability</a:t>
            </a:r>
            <a:endParaRPr sz="2500">
              <a:latin typeface="Calibri"/>
              <a:cs typeface="Calibri"/>
            </a:endParaRPr>
          </a:p>
          <a:p>
            <a:pPr lvl="1" marL="661670" marR="88900" indent="-295910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physical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limitations,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even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partial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and/or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temporary,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reducing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ability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device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running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on.</a:t>
            </a:r>
            <a:endParaRPr sz="2100">
              <a:latin typeface="Calibri"/>
              <a:cs typeface="Calibri"/>
            </a:endParaRPr>
          </a:p>
          <a:p>
            <a:pPr lvl="1" marL="661670" marR="1044575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Corner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cases: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arthritis</a:t>
            </a:r>
            <a:r>
              <a:rPr dirty="0" sz="2100" spc="-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reducing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mobility;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presbyopia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when</a:t>
            </a:r>
            <a:r>
              <a:rPr dirty="0" sz="2100" spc="-9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i="1">
                <a:solidFill>
                  <a:srgbClr val="151515"/>
                </a:solidFill>
                <a:latin typeface="Calibri"/>
                <a:cs typeface="Calibri"/>
              </a:rPr>
              <a:t>not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corrected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glasses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0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Motivation</a:t>
            </a:r>
            <a:endParaRPr sz="2500">
              <a:latin typeface="Calibri"/>
              <a:cs typeface="Calibri"/>
            </a:endParaRPr>
          </a:p>
          <a:p>
            <a:pPr lvl="1" marL="661670" marR="129539" indent="-295910">
              <a:lnSpc>
                <a:spcPts val="2500"/>
              </a:lnSpc>
              <a:spcBef>
                <a:spcPts val="6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motivations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cause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interested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it.</a:t>
            </a:r>
            <a:endParaRPr sz="2100">
              <a:latin typeface="Calibri"/>
              <a:cs typeface="Calibri"/>
            </a:endParaRPr>
          </a:p>
          <a:p>
            <a:pPr lvl="1" marL="661670" marR="844550" indent="-295910">
              <a:lnSpc>
                <a:spcPct val="100000"/>
              </a:lnSpc>
              <a:spcBef>
                <a:spcPts val="3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Corner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case: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who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already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decided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competing system,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just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doing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quick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check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yours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6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Concentration</a:t>
            </a:r>
            <a:r>
              <a:rPr dirty="0" sz="2500" spc="-1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(environmental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distraction)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ability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possibility,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adequate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focus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task.</a:t>
            </a:r>
            <a:endParaRPr sz="2100">
              <a:latin typeface="Calibri"/>
              <a:cs typeface="Calibri"/>
            </a:endParaRPr>
          </a:p>
          <a:p>
            <a:pPr lvl="1" marL="661670" marR="5080" indent="-295910">
              <a:lnSpc>
                <a:spcPts val="2500"/>
              </a:lnSpc>
              <a:spcBef>
                <a:spcPts val="5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Corner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cases: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21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who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accesses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Internet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point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(therefore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 i="1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lot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confusion),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standing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crowded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bus,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secretly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spouse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head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i="1">
                <a:solidFill>
                  <a:srgbClr val="151515"/>
                </a:solidFill>
                <a:latin typeface="Calibri"/>
                <a:cs typeface="Calibri"/>
              </a:rPr>
              <a:t>office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his/her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spare</a:t>
            </a:r>
            <a:r>
              <a:rPr dirty="0" sz="21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time.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20655" y="754473"/>
            <a:ext cx="8850630" cy="6573520"/>
            <a:chOff x="1220655" y="754473"/>
            <a:chExt cx="8850630" cy="6573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7097" y="6628228"/>
              <a:ext cx="2077993" cy="5499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0647" y="754481"/>
              <a:ext cx="8850630" cy="6573520"/>
            </a:xfrm>
            <a:custGeom>
              <a:avLst/>
              <a:gdLst/>
              <a:ahLst/>
              <a:cxnLst/>
              <a:rect l="l" t="t" r="r" b="b"/>
              <a:pathLst>
                <a:path w="8850630" h="6573520">
                  <a:moveTo>
                    <a:pt x="8850452" y="5707278"/>
                  </a:moveTo>
                  <a:lnTo>
                    <a:pt x="8239392" y="5707278"/>
                  </a:lnTo>
                  <a:lnTo>
                    <a:pt x="8239392" y="0"/>
                  </a:lnTo>
                  <a:lnTo>
                    <a:pt x="0" y="0"/>
                  </a:lnTo>
                  <a:lnTo>
                    <a:pt x="0" y="6047549"/>
                  </a:lnTo>
                  <a:lnTo>
                    <a:pt x="5982398" y="6047549"/>
                  </a:lnTo>
                  <a:lnTo>
                    <a:pt x="5982398" y="6573418"/>
                  </a:lnTo>
                  <a:lnTo>
                    <a:pt x="8850452" y="6573418"/>
                  </a:lnTo>
                  <a:lnTo>
                    <a:pt x="8850452" y="57072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50797" y="1919469"/>
              <a:ext cx="3002280" cy="3468370"/>
            </a:xfrm>
            <a:custGeom>
              <a:avLst/>
              <a:gdLst/>
              <a:ahLst/>
              <a:cxnLst/>
              <a:rect l="l" t="t" r="r" b="b"/>
              <a:pathLst>
                <a:path w="3002279" h="3468370">
                  <a:moveTo>
                    <a:pt x="1501944" y="0"/>
                  </a:moveTo>
                  <a:lnTo>
                    <a:pt x="3001838" y="867791"/>
                  </a:lnTo>
                </a:path>
                <a:path w="3002279" h="3468370">
                  <a:moveTo>
                    <a:pt x="3001838" y="867791"/>
                  </a:moveTo>
                  <a:lnTo>
                    <a:pt x="3001838" y="2599995"/>
                  </a:lnTo>
                </a:path>
                <a:path w="3002279" h="3468370">
                  <a:moveTo>
                    <a:pt x="3001838" y="2599995"/>
                  </a:moveTo>
                  <a:lnTo>
                    <a:pt x="1501944" y="3467775"/>
                  </a:lnTo>
                </a:path>
                <a:path w="3002279" h="3468370">
                  <a:moveTo>
                    <a:pt x="1501944" y="3467775"/>
                  </a:moveTo>
                  <a:lnTo>
                    <a:pt x="0" y="2599995"/>
                  </a:lnTo>
                </a:path>
                <a:path w="3002279" h="3468370">
                  <a:moveTo>
                    <a:pt x="0" y="2599995"/>
                  </a:moveTo>
                  <a:lnTo>
                    <a:pt x="0" y="867791"/>
                  </a:lnTo>
                </a:path>
                <a:path w="3002279" h="3468370">
                  <a:moveTo>
                    <a:pt x="0" y="867791"/>
                  </a:moveTo>
                  <a:lnTo>
                    <a:pt x="1501944" y="0"/>
                  </a:lnTo>
                </a:path>
                <a:path w="3002279" h="3468370">
                  <a:moveTo>
                    <a:pt x="1501944" y="434740"/>
                  </a:moveTo>
                  <a:lnTo>
                    <a:pt x="2626764" y="1084317"/>
                  </a:lnTo>
                </a:path>
                <a:path w="3002279" h="3468370">
                  <a:moveTo>
                    <a:pt x="2626764" y="1084317"/>
                  </a:moveTo>
                  <a:lnTo>
                    <a:pt x="2626764" y="2383470"/>
                  </a:lnTo>
                </a:path>
                <a:path w="3002279" h="3468370">
                  <a:moveTo>
                    <a:pt x="2626764" y="2383470"/>
                  </a:moveTo>
                  <a:lnTo>
                    <a:pt x="1501944" y="3033046"/>
                  </a:lnTo>
                </a:path>
                <a:path w="3002279" h="3468370">
                  <a:moveTo>
                    <a:pt x="1501944" y="3033046"/>
                  </a:moveTo>
                  <a:lnTo>
                    <a:pt x="374076" y="2383470"/>
                  </a:lnTo>
                </a:path>
                <a:path w="3002279" h="3468370">
                  <a:moveTo>
                    <a:pt x="374076" y="2383470"/>
                  </a:moveTo>
                  <a:lnTo>
                    <a:pt x="374076" y="1084317"/>
                  </a:lnTo>
                </a:path>
                <a:path w="3002279" h="3468370">
                  <a:moveTo>
                    <a:pt x="374076" y="1084317"/>
                  </a:moveTo>
                  <a:lnTo>
                    <a:pt x="1501944" y="434740"/>
                  </a:lnTo>
                </a:path>
                <a:path w="3002279" h="3468370">
                  <a:moveTo>
                    <a:pt x="1501944" y="867791"/>
                  </a:moveTo>
                  <a:lnTo>
                    <a:pt x="2251824" y="1300842"/>
                  </a:lnTo>
                </a:path>
                <a:path w="3002279" h="3468370">
                  <a:moveTo>
                    <a:pt x="2251824" y="1300842"/>
                  </a:moveTo>
                  <a:lnTo>
                    <a:pt x="2251824" y="2166944"/>
                  </a:lnTo>
                </a:path>
                <a:path w="3002279" h="3468370">
                  <a:moveTo>
                    <a:pt x="2251824" y="2166944"/>
                  </a:moveTo>
                  <a:lnTo>
                    <a:pt x="1501944" y="2599995"/>
                  </a:lnTo>
                </a:path>
                <a:path w="3002279" h="3468370">
                  <a:moveTo>
                    <a:pt x="1501944" y="2599995"/>
                  </a:moveTo>
                  <a:lnTo>
                    <a:pt x="749016" y="2166944"/>
                  </a:lnTo>
                </a:path>
                <a:path w="3002279" h="3468370">
                  <a:moveTo>
                    <a:pt x="749016" y="2166944"/>
                  </a:moveTo>
                  <a:lnTo>
                    <a:pt x="749016" y="1300842"/>
                  </a:lnTo>
                </a:path>
                <a:path w="3002279" h="3468370">
                  <a:moveTo>
                    <a:pt x="749016" y="1300842"/>
                  </a:moveTo>
                  <a:lnTo>
                    <a:pt x="1501944" y="867791"/>
                  </a:lnTo>
                </a:path>
                <a:path w="3002279" h="3468370">
                  <a:moveTo>
                    <a:pt x="1501944" y="1300842"/>
                  </a:moveTo>
                  <a:lnTo>
                    <a:pt x="1876884" y="1517368"/>
                  </a:lnTo>
                </a:path>
                <a:path w="3002279" h="3468370">
                  <a:moveTo>
                    <a:pt x="1876884" y="1517368"/>
                  </a:moveTo>
                  <a:lnTo>
                    <a:pt x="1876884" y="1950419"/>
                  </a:lnTo>
                </a:path>
                <a:path w="3002279" h="3468370">
                  <a:moveTo>
                    <a:pt x="1876884" y="1950419"/>
                  </a:moveTo>
                  <a:lnTo>
                    <a:pt x="1501944" y="2166944"/>
                  </a:lnTo>
                </a:path>
                <a:path w="3002279" h="3468370">
                  <a:moveTo>
                    <a:pt x="1501944" y="2166944"/>
                  </a:moveTo>
                  <a:lnTo>
                    <a:pt x="1127004" y="1950419"/>
                  </a:lnTo>
                </a:path>
                <a:path w="3002279" h="3468370">
                  <a:moveTo>
                    <a:pt x="1127004" y="1950419"/>
                  </a:moveTo>
                  <a:lnTo>
                    <a:pt x="1127004" y="1517368"/>
                  </a:lnTo>
                </a:path>
                <a:path w="3002279" h="3468370">
                  <a:moveTo>
                    <a:pt x="1127004" y="1517368"/>
                  </a:moveTo>
                  <a:lnTo>
                    <a:pt x="1501944" y="1300842"/>
                  </a:lnTo>
                </a:path>
                <a:path w="3002279" h="3468370">
                  <a:moveTo>
                    <a:pt x="1501945" y="1733893"/>
                  </a:moveTo>
                  <a:lnTo>
                    <a:pt x="1501945" y="0"/>
                  </a:lnTo>
                </a:path>
                <a:path w="3002279" h="3468370">
                  <a:moveTo>
                    <a:pt x="1501945" y="1733893"/>
                  </a:moveTo>
                  <a:lnTo>
                    <a:pt x="3001840" y="867791"/>
                  </a:lnTo>
                </a:path>
                <a:path w="3002279" h="3468370">
                  <a:moveTo>
                    <a:pt x="1501945" y="1733893"/>
                  </a:moveTo>
                  <a:lnTo>
                    <a:pt x="3001840" y="2599995"/>
                  </a:lnTo>
                </a:path>
                <a:path w="3002279" h="3468370">
                  <a:moveTo>
                    <a:pt x="1501945" y="1733893"/>
                  </a:moveTo>
                  <a:lnTo>
                    <a:pt x="1501945" y="3467776"/>
                  </a:lnTo>
                </a:path>
                <a:path w="3002279" h="3468370">
                  <a:moveTo>
                    <a:pt x="1501945" y="1733893"/>
                  </a:moveTo>
                  <a:lnTo>
                    <a:pt x="0" y="2599995"/>
                  </a:lnTo>
                </a:path>
                <a:path w="3002279" h="3468370">
                  <a:moveTo>
                    <a:pt x="1501945" y="1733893"/>
                  </a:moveTo>
                  <a:lnTo>
                    <a:pt x="0" y="867791"/>
                  </a:lnTo>
                </a:path>
                <a:path w="3002279" h="3468370">
                  <a:moveTo>
                    <a:pt x="1501945" y="1733893"/>
                  </a:moveTo>
                  <a:lnTo>
                    <a:pt x="1501945" y="0"/>
                  </a:lnTo>
                </a:path>
              </a:pathLst>
            </a:custGeom>
            <a:ln w="3285">
              <a:solidFill>
                <a:srgbClr val="96969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01255" y="2352941"/>
              <a:ext cx="2251710" cy="1734185"/>
            </a:xfrm>
            <a:custGeom>
              <a:avLst/>
              <a:gdLst/>
              <a:ahLst/>
              <a:cxnLst/>
              <a:rect l="l" t="t" r="r" b="b"/>
              <a:pathLst>
                <a:path w="2251709" h="1734185">
                  <a:moveTo>
                    <a:pt x="0" y="867370"/>
                  </a:moveTo>
                  <a:lnTo>
                    <a:pt x="751485" y="0"/>
                  </a:lnTo>
                  <a:lnTo>
                    <a:pt x="2251380" y="434319"/>
                  </a:lnTo>
                  <a:lnTo>
                    <a:pt x="1501365" y="1733888"/>
                  </a:lnTo>
                  <a:lnTo>
                    <a:pt x="751485" y="1733888"/>
                  </a:lnTo>
                  <a:lnTo>
                    <a:pt x="376545" y="1516946"/>
                  </a:lnTo>
                  <a:lnTo>
                    <a:pt x="0" y="867370"/>
                  </a:lnTo>
                </a:path>
              </a:pathLst>
            </a:custGeom>
            <a:ln w="26289">
              <a:solidFill>
                <a:srgbClr val="63AA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26026" y="2352941"/>
              <a:ext cx="1876425" cy="3030220"/>
            </a:xfrm>
            <a:custGeom>
              <a:avLst/>
              <a:gdLst/>
              <a:ahLst/>
              <a:cxnLst/>
              <a:rect l="l" t="t" r="r" b="b"/>
              <a:pathLst>
                <a:path w="1876425" h="3030220">
                  <a:moveTo>
                    <a:pt x="1124123" y="3029826"/>
                  </a:moveTo>
                  <a:lnTo>
                    <a:pt x="373787" y="1733472"/>
                  </a:lnTo>
                  <a:lnTo>
                    <a:pt x="0" y="650844"/>
                  </a:lnTo>
                  <a:lnTo>
                    <a:pt x="1126715" y="0"/>
                  </a:lnTo>
                  <a:lnTo>
                    <a:pt x="1876149" y="867370"/>
                  </a:lnTo>
                  <a:lnTo>
                    <a:pt x="1876149" y="1733472"/>
                  </a:lnTo>
                  <a:lnTo>
                    <a:pt x="1129295" y="3029826"/>
                  </a:lnTo>
                </a:path>
              </a:pathLst>
            </a:custGeom>
            <a:ln w="26285">
              <a:solidFill>
                <a:srgbClr val="DD2D3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26026" y="2786412"/>
              <a:ext cx="2251710" cy="1734185"/>
            </a:xfrm>
            <a:custGeom>
              <a:avLst/>
              <a:gdLst/>
              <a:ahLst/>
              <a:cxnLst/>
              <a:rect l="l" t="t" r="r" b="b"/>
              <a:pathLst>
                <a:path w="2251710" h="1734185">
                  <a:moveTo>
                    <a:pt x="751775" y="650424"/>
                  </a:moveTo>
                  <a:lnTo>
                    <a:pt x="1126715" y="0"/>
                  </a:lnTo>
                  <a:lnTo>
                    <a:pt x="1501655" y="650424"/>
                  </a:lnTo>
                  <a:lnTo>
                    <a:pt x="2251379" y="1516526"/>
                  </a:lnTo>
                  <a:lnTo>
                    <a:pt x="1126715" y="1733889"/>
                  </a:lnTo>
                  <a:lnTo>
                    <a:pt x="0" y="1516526"/>
                  </a:lnTo>
                  <a:lnTo>
                    <a:pt x="751775" y="650424"/>
                  </a:lnTo>
                </a:path>
              </a:pathLst>
            </a:custGeom>
            <a:ln w="26289">
              <a:solidFill>
                <a:srgbClr val="1FB71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099325" y="1809935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9325" y="2245799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99325" y="2678615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9325" y="3111431"/>
            <a:ext cx="102870" cy="644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25327" y="1620959"/>
            <a:ext cx="14535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Technical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competency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99973" y="2629847"/>
            <a:ext cx="13519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Domain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competency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99973" y="4434263"/>
            <a:ext cx="14027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Lingustic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competency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1367" y="5446199"/>
            <a:ext cx="164401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Physical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visual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ability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69168" y="4434263"/>
            <a:ext cx="7277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Motivation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61473" y="2629847"/>
            <a:ext cx="94424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Concentration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17815" y="6604828"/>
            <a:ext cx="198755" cy="0"/>
          </a:xfrm>
          <a:custGeom>
            <a:avLst/>
            <a:gdLst/>
            <a:ahLst/>
            <a:cxnLst/>
            <a:rect l="l" t="t" r="r" b="b"/>
            <a:pathLst>
              <a:path w="198754" h="0">
                <a:moveTo>
                  <a:pt x="0" y="0"/>
                </a:moveTo>
                <a:lnTo>
                  <a:pt x="198511" y="0"/>
                </a:lnTo>
              </a:path>
            </a:pathLst>
          </a:custGeom>
          <a:ln w="26294">
            <a:solidFill>
              <a:srgbClr val="63AA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096732" y="6505563"/>
            <a:ext cx="584200" cy="186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85"/>
              </a:lnSpc>
            </a:pPr>
            <a:r>
              <a:rPr dirty="0" sz="1200" spc="-10">
                <a:latin typeface="Calibri"/>
                <a:cs typeface="Calibri"/>
              </a:rPr>
              <a:t>Studente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62473" y="6604828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334" y="0"/>
                </a:lnTo>
              </a:path>
            </a:pathLst>
          </a:custGeom>
          <a:ln w="26294">
            <a:solidFill>
              <a:srgbClr val="DD2D3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41389" y="6505563"/>
            <a:ext cx="533400" cy="186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85"/>
              </a:lnSpc>
            </a:pPr>
            <a:r>
              <a:rPr dirty="0" sz="1200" spc="-10">
                <a:latin typeface="Calibri"/>
                <a:cs typeface="Calibri"/>
              </a:rPr>
              <a:t>Docente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32270" y="6604828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 h="0">
                <a:moveTo>
                  <a:pt x="0" y="0"/>
                </a:moveTo>
                <a:lnTo>
                  <a:pt x="183077" y="0"/>
                </a:lnTo>
              </a:path>
            </a:pathLst>
          </a:custGeom>
          <a:ln w="26294">
            <a:solidFill>
              <a:srgbClr val="1FB71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41957" y="6505563"/>
            <a:ext cx="982344" cy="186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85"/>
              </a:lnSpc>
            </a:pPr>
            <a:r>
              <a:rPr dirty="0" sz="1200" spc="-10">
                <a:latin typeface="Calibri"/>
                <a:cs typeface="Calibri"/>
              </a:rPr>
              <a:t>Amministrativo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1784" y="434636"/>
            <a:ext cx="345059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C&amp;A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diagram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61077" y="1690515"/>
            <a:ext cx="1709420" cy="59563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312420">
              <a:lnSpc>
                <a:spcPts val="2210"/>
              </a:lnSpc>
              <a:spcBef>
                <a:spcPts val="229"/>
              </a:spcBef>
            </a:pPr>
            <a:r>
              <a:rPr dirty="0" sz="1900" i="1">
                <a:solidFill>
                  <a:srgbClr val="333399"/>
                </a:solidFill>
                <a:latin typeface="Calibri"/>
                <a:cs typeface="Calibri"/>
              </a:rPr>
              <a:t>Hiqh</a:t>
            </a:r>
            <a:r>
              <a:rPr dirty="0" sz="1900" spc="-100" i="1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333399"/>
                </a:solidFill>
                <a:latin typeface="Calibri"/>
                <a:cs typeface="Calibri"/>
              </a:rPr>
              <a:t>level: </a:t>
            </a:r>
            <a:r>
              <a:rPr dirty="0" sz="1900" spc="-20" i="1">
                <a:solidFill>
                  <a:srgbClr val="333399"/>
                </a:solidFill>
                <a:latin typeface="Calibri"/>
                <a:cs typeface="Calibri"/>
              </a:rPr>
              <a:t>easy</a:t>
            </a:r>
            <a:r>
              <a:rPr dirty="0" sz="1900" spc="-75" i="1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dirty="0" sz="1900" spc="-75" i="1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333399"/>
                </a:solidFill>
                <a:latin typeface="Calibri"/>
                <a:cs typeface="Calibri"/>
              </a:rPr>
              <a:t>design</a:t>
            </a:r>
            <a:r>
              <a:rPr dirty="0" sz="1900" spc="-75" i="1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dirty="0" sz="1900" spc="-25" i="1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22774" y="6299091"/>
            <a:ext cx="97218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i="1">
                <a:solidFill>
                  <a:srgbClr val="666699"/>
                </a:solidFill>
                <a:latin typeface="Calibri"/>
                <a:cs typeface="Calibri"/>
              </a:rPr>
              <a:t>Low</a:t>
            </a:r>
            <a:r>
              <a:rPr dirty="0" sz="1900" spc="-80" i="1">
                <a:solidFill>
                  <a:srgbClr val="666699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666699"/>
                </a:solidFill>
                <a:latin typeface="Calibri"/>
                <a:cs typeface="Calibri"/>
              </a:rPr>
              <a:t>level: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72897" y="6576459"/>
            <a:ext cx="17284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i="1">
                <a:solidFill>
                  <a:srgbClr val="666699"/>
                </a:solidFill>
                <a:latin typeface="Calibri"/>
                <a:cs typeface="Calibri"/>
              </a:rPr>
              <a:t>hard</a:t>
            </a:r>
            <a:r>
              <a:rPr dirty="0" sz="1900" spc="-80" i="1">
                <a:solidFill>
                  <a:srgbClr val="666699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666699"/>
                </a:solidFill>
                <a:latin typeface="Calibri"/>
                <a:cs typeface="Calibri"/>
              </a:rPr>
              <a:t>to</a:t>
            </a:r>
            <a:r>
              <a:rPr dirty="0" sz="1900" spc="-80" i="1">
                <a:solidFill>
                  <a:srgbClr val="666699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666699"/>
                </a:solidFill>
                <a:latin typeface="Calibri"/>
                <a:cs typeface="Calibri"/>
              </a:rPr>
              <a:t>design</a:t>
            </a:r>
            <a:r>
              <a:rPr dirty="0" sz="1900" spc="-80" i="1">
                <a:solidFill>
                  <a:srgbClr val="666699"/>
                </a:solidFill>
                <a:latin typeface="Calibri"/>
                <a:cs typeface="Calibri"/>
              </a:rPr>
              <a:t> </a:t>
            </a:r>
            <a:r>
              <a:rPr dirty="0" sz="1900" spc="-25" i="1">
                <a:solidFill>
                  <a:srgbClr val="666699"/>
                </a:solidFill>
                <a:latin typeface="Calibri"/>
                <a:cs typeface="Calibri"/>
              </a:rPr>
              <a:t>for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64279" y="2255520"/>
            <a:ext cx="5029200" cy="4142740"/>
            <a:chOff x="3764279" y="2255520"/>
            <a:chExt cx="5029200" cy="414274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4279" y="2255520"/>
              <a:ext cx="1737360" cy="159410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807740" y="2274700"/>
              <a:ext cx="1532890" cy="1388745"/>
            </a:xfrm>
            <a:custGeom>
              <a:avLst/>
              <a:gdLst/>
              <a:ahLst/>
              <a:cxnLst/>
              <a:rect l="l" t="t" r="r" b="b"/>
              <a:pathLst>
                <a:path w="1532889" h="1388745">
                  <a:moveTo>
                    <a:pt x="1431650" y="1323805"/>
                  </a:moveTo>
                  <a:lnTo>
                    <a:pt x="1405216" y="1353065"/>
                  </a:lnTo>
                  <a:lnTo>
                    <a:pt x="1532609" y="1388513"/>
                  </a:lnTo>
                  <a:lnTo>
                    <a:pt x="1512517" y="1337029"/>
                  </a:lnTo>
                  <a:lnTo>
                    <a:pt x="1446274" y="1337029"/>
                  </a:lnTo>
                  <a:lnTo>
                    <a:pt x="1431650" y="1323805"/>
                  </a:lnTo>
                  <a:close/>
                </a:path>
                <a:path w="1532889" h="1388745">
                  <a:moveTo>
                    <a:pt x="1458085" y="1294545"/>
                  </a:moveTo>
                  <a:lnTo>
                    <a:pt x="1431650" y="1323805"/>
                  </a:lnTo>
                  <a:lnTo>
                    <a:pt x="1446274" y="1337029"/>
                  </a:lnTo>
                  <a:lnTo>
                    <a:pt x="1472708" y="1307768"/>
                  </a:lnTo>
                  <a:lnTo>
                    <a:pt x="1458085" y="1294545"/>
                  </a:lnTo>
                  <a:close/>
                </a:path>
                <a:path w="1532889" h="1388745">
                  <a:moveTo>
                    <a:pt x="1484519" y="1265285"/>
                  </a:moveTo>
                  <a:lnTo>
                    <a:pt x="1458085" y="1294545"/>
                  </a:lnTo>
                  <a:lnTo>
                    <a:pt x="1472708" y="1307768"/>
                  </a:lnTo>
                  <a:lnTo>
                    <a:pt x="1446274" y="1337029"/>
                  </a:lnTo>
                  <a:lnTo>
                    <a:pt x="1512517" y="1337029"/>
                  </a:lnTo>
                  <a:lnTo>
                    <a:pt x="1484519" y="1265285"/>
                  </a:lnTo>
                  <a:close/>
                </a:path>
                <a:path w="1532889" h="1388745">
                  <a:moveTo>
                    <a:pt x="26433" y="0"/>
                  </a:moveTo>
                  <a:lnTo>
                    <a:pt x="0" y="29259"/>
                  </a:lnTo>
                  <a:lnTo>
                    <a:pt x="1431650" y="1323805"/>
                  </a:lnTo>
                  <a:lnTo>
                    <a:pt x="1458085" y="1294545"/>
                  </a:lnTo>
                  <a:lnTo>
                    <a:pt x="26433" y="0"/>
                  </a:lnTo>
                  <a:close/>
                </a:path>
              </a:pathLst>
            </a:custGeom>
            <a:solidFill>
              <a:srgbClr val="5656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0631" y="3566159"/>
              <a:ext cx="2212848" cy="278587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743148" y="3704299"/>
              <a:ext cx="2008505" cy="2582545"/>
            </a:xfrm>
            <a:custGeom>
              <a:avLst/>
              <a:gdLst/>
              <a:ahLst/>
              <a:cxnLst/>
              <a:rect l="l" t="t" r="r" b="b"/>
              <a:pathLst>
                <a:path w="2008504" h="2582545">
                  <a:moveTo>
                    <a:pt x="88057" y="81411"/>
                  </a:moveTo>
                  <a:lnTo>
                    <a:pt x="56905" y="105583"/>
                  </a:lnTo>
                  <a:lnTo>
                    <a:pt x="1976923" y="2582295"/>
                  </a:lnTo>
                  <a:lnTo>
                    <a:pt x="2008075" y="2558124"/>
                  </a:lnTo>
                  <a:lnTo>
                    <a:pt x="88057" y="81411"/>
                  </a:lnTo>
                  <a:close/>
                </a:path>
                <a:path w="2008504" h="2582545">
                  <a:moveTo>
                    <a:pt x="0" y="0"/>
                  </a:moveTo>
                  <a:lnTo>
                    <a:pt x="25754" y="129754"/>
                  </a:lnTo>
                  <a:lnTo>
                    <a:pt x="56905" y="105583"/>
                  </a:lnTo>
                  <a:lnTo>
                    <a:pt x="44827" y="90003"/>
                  </a:lnTo>
                  <a:lnTo>
                    <a:pt x="75979" y="65831"/>
                  </a:lnTo>
                  <a:lnTo>
                    <a:pt x="108136" y="65831"/>
                  </a:lnTo>
                  <a:lnTo>
                    <a:pt x="119208" y="57240"/>
                  </a:lnTo>
                  <a:lnTo>
                    <a:pt x="0" y="0"/>
                  </a:lnTo>
                  <a:close/>
                </a:path>
                <a:path w="2008504" h="2582545">
                  <a:moveTo>
                    <a:pt x="75979" y="65831"/>
                  </a:moveTo>
                  <a:lnTo>
                    <a:pt x="44827" y="90003"/>
                  </a:lnTo>
                  <a:lnTo>
                    <a:pt x="56905" y="105583"/>
                  </a:lnTo>
                  <a:lnTo>
                    <a:pt x="88057" y="81411"/>
                  </a:lnTo>
                  <a:lnTo>
                    <a:pt x="75979" y="65831"/>
                  </a:lnTo>
                  <a:close/>
                </a:path>
                <a:path w="2008504" h="2582545">
                  <a:moveTo>
                    <a:pt x="108136" y="65831"/>
                  </a:moveTo>
                  <a:lnTo>
                    <a:pt x="75979" y="65831"/>
                  </a:lnTo>
                  <a:lnTo>
                    <a:pt x="88057" y="81411"/>
                  </a:lnTo>
                  <a:lnTo>
                    <a:pt x="108136" y="65831"/>
                  </a:lnTo>
                  <a:close/>
                </a:path>
              </a:pathLst>
            </a:custGeom>
            <a:solidFill>
              <a:srgbClr val="5656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9559" y="4544567"/>
              <a:ext cx="4684776" cy="185318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261148" y="4666994"/>
              <a:ext cx="4481830" cy="1664335"/>
            </a:xfrm>
            <a:custGeom>
              <a:avLst/>
              <a:gdLst/>
              <a:ahLst/>
              <a:cxnLst/>
              <a:rect l="l" t="t" r="r" b="b"/>
              <a:pathLst>
                <a:path w="4481830" h="1664335">
                  <a:moveTo>
                    <a:pt x="117873" y="37059"/>
                  </a:moveTo>
                  <a:lnTo>
                    <a:pt x="104383" y="74119"/>
                  </a:lnTo>
                  <a:lnTo>
                    <a:pt x="4467755" y="1663840"/>
                  </a:lnTo>
                  <a:lnTo>
                    <a:pt x="4481245" y="1626780"/>
                  </a:lnTo>
                  <a:lnTo>
                    <a:pt x="117873" y="37059"/>
                  </a:lnTo>
                  <a:close/>
                </a:path>
                <a:path w="4481830" h="1664335">
                  <a:moveTo>
                    <a:pt x="131363" y="0"/>
                  </a:moveTo>
                  <a:lnTo>
                    <a:pt x="0" y="15101"/>
                  </a:lnTo>
                  <a:lnTo>
                    <a:pt x="90893" y="111178"/>
                  </a:lnTo>
                  <a:lnTo>
                    <a:pt x="104383" y="74119"/>
                  </a:lnTo>
                  <a:lnTo>
                    <a:pt x="85874" y="67376"/>
                  </a:lnTo>
                  <a:lnTo>
                    <a:pt x="99364" y="30316"/>
                  </a:lnTo>
                  <a:lnTo>
                    <a:pt x="120328" y="30316"/>
                  </a:lnTo>
                  <a:lnTo>
                    <a:pt x="131363" y="0"/>
                  </a:lnTo>
                  <a:close/>
                </a:path>
                <a:path w="4481830" h="1664335">
                  <a:moveTo>
                    <a:pt x="99364" y="30316"/>
                  </a:moveTo>
                  <a:lnTo>
                    <a:pt x="85874" y="67376"/>
                  </a:lnTo>
                  <a:lnTo>
                    <a:pt x="104383" y="74119"/>
                  </a:lnTo>
                  <a:lnTo>
                    <a:pt x="117873" y="37059"/>
                  </a:lnTo>
                  <a:lnTo>
                    <a:pt x="99364" y="30316"/>
                  </a:lnTo>
                  <a:close/>
                </a:path>
                <a:path w="4481830" h="1664335">
                  <a:moveTo>
                    <a:pt x="120328" y="30316"/>
                  </a:moveTo>
                  <a:lnTo>
                    <a:pt x="99364" y="30316"/>
                  </a:lnTo>
                  <a:lnTo>
                    <a:pt x="117873" y="37059"/>
                  </a:lnTo>
                  <a:lnTo>
                    <a:pt x="120328" y="30316"/>
                  </a:lnTo>
                  <a:close/>
                </a:path>
              </a:pathLst>
            </a:custGeom>
            <a:solidFill>
              <a:srgbClr val="5656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0967" y="4535423"/>
              <a:ext cx="2569464" cy="182270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383414" y="4672236"/>
              <a:ext cx="2363470" cy="1618615"/>
            </a:xfrm>
            <a:custGeom>
              <a:avLst/>
              <a:gdLst/>
              <a:ahLst/>
              <a:cxnLst/>
              <a:rect l="l" t="t" r="r" b="b"/>
              <a:pathLst>
                <a:path w="2363470" h="1618614">
                  <a:moveTo>
                    <a:pt x="108853" y="50290"/>
                  </a:moveTo>
                  <a:lnTo>
                    <a:pt x="86666" y="82891"/>
                  </a:lnTo>
                  <a:lnTo>
                    <a:pt x="2341140" y="1618573"/>
                  </a:lnTo>
                  <a:lnTo>
                    <a:pt x="2363327" y="1585972"/>
                  </a:lnTo>
                  <a:lnTo>
                    <a:pt x="108853" y="50290"/>
                  </a:lnTo>
                  <a:close/>
                </a:path>
                <a:path w="2363470" h="1618614">
                  <a:moveTo>
                    <a:pt x="0" y="0"/>
                  </a:moveTo>
                  <a:lnTo>
                    <a:pt x="64479" y="115492"/>
                  </a:lnTo>
                  <a:lnTo>
                    <a:pt x="86666" y="82891"/>
                  </a:lnTo>
                  <a:lnTo>
                    <a:pt x="70374" y="71794"/>
                  </a:lnTo>
                  <a:lnTo>
                    <a:pt x="92561" y="39192"/>
                  </a:lnTo>
                  <a:lnTo>
                    <a:pt x="116406" y="39192"/>
                  </a:lnTo>
                  <a:lnTo>
                    <a:pt x="131041" y="17688"/>
                  </a:lnTo>
                  <a:lnTo>
                    <a:pt x="0" y="0"/>
                  </a:lnTo>
                  <a:close/>
                </a:path>
                <a:path w="2363470" h="1618614">
                  <a:moveTo>
                    <a:pt x="92561" y="39192"/>
                  </a:moveTo>
                  <a:lnTo>
                    <a:pt x="70374" y="71794"/>
                  </a:lnTo>
                  <a:lnTo>
                    <a:pt x="86666" y="82891"/>
                  </a:lnTo>
                  <a:lnTo>
                    <a:pt x="108853" y="50290"/>
                  </a:lnTo>
                  <a:lnTo>
                    <a:pt x="92561" y="39192"/>
                  </a:lnTo>
                  <a:close/>
                </a:path>
                <a:path w="2363470" h="1618614">
                  <a:moveTo>
                    <a:pt x="116406" y="39192"/>
                  </a:moveTo>
                  <a:lnTo>
                    <a:pt x="92561" y="39192"/>
                  </a:lnTo>
                  <a:lnTo>
                    <a:pt x="108853" y="50290"/>
                  </a:lnTo>
                  <a:lnTo>
                    <a:pt x="116406" y="39192"/>
                  </a:lnTo>
                  <a:close/>
                </a:path>
              </a:pathLst>
            </a:custGeom>
            <a:solidFill>
              <a:srgbClr val="56568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836397" y="1690515"/>
            <a:ext cx="1803400" cy="59563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501015" marR="5080" indent="-488950">
              <a:lnSpc>
                <a:spcPts val="2210"/>
              </a:lnSpc>
              <a:spcBef>
                <a:spcPts val="229"/>
              </a:spcBef>
            </a:pPr>
            <a:r>
              <a:rPr dirty="0" sz="1900" spc="-20" i="1">
                <a:solidFill>
                  <a:srgbClr val="333399"/>
                </a:solidFill>
                <a:latin typeface="Calibri"/>
                <a:cs typeface="Calibri"/>
              </a:rPr>
              <a:t>Most</a:t>
            </a:r>
            <a:r>
              <a:rPr dirty="0" sz="1900" spc="-60" i="1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dirty="0" sz="1900" spc="-55" i="1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333399"/>
                </a:solidFill>
                <a:latin typeface="Calibri"/>
                <a:cs typeface="Calibri"/>
              </a:rPr>
              <a:t>your</a:t>
            </a:r>
            <a:r>
              <a:rPr dirty="0" sz="1900" spc="-65" i="1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333399"/>
                </a:solidFill>
                <a:latin typeface="Calibri"/>
                <a:cs typeface="Calibri"/>
              </a:rPr>
              <a:t>users </a:t>
            </a:r>
            <a:r>
              <a:rPr dirty="0" sz="1900" i="1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dirty="0" sz="1900" spc="-70" i="1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333399"/>
                </a:solidFill>
                <a:latin typeface="Calibri"/>
                <a:cs typeface="Calibri"/>
              </a:rPr>
              <a:t>here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815584" y="2103120"/>
            <a:ext cx="1295400" cy="1188720"/>
            <a:chOff x="5815584" y="2103120"/>
            <a:chExt cx="1295400" cy="1188720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5584" y="2103120"/>
              <a:ext cx="1295400" cy="118871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976044" y="2123666"/>
              <a:ext cx="1091565" cy="984250"/>
            </a:xfrm>
            <a:custGeom>
              <a:avLst/>
              <a:gdLst/>
              <a:ahLst/>
              <a:cxnLst/>
              <a:rect l="l" t="t" r="r" b="b"/>
              <a:pathLst>
                <a:path w="1091565" h="984250">
                  <a:moveTo>
                    <a:pt x="48450" y="860621"/>
                  </a:moveTo>
                  <a:lnTo>
                    <a:pt x="0" y="983708"/>
                  </a:lnTo>
                  <a:lnTo>
                    <a:pt x="127495" y="948634"/>
                  </a:lnTo>
                  <a:lnTo>
                    <a:pt x="112984" y="932477"/>
                  </a:lnTo>
                  <a:lnTo>
                    <a:pt x="86484" y="932477"/>
                  </a:lnTo>
                  <a:lnTo>
                    <a:pt x="60135" y="903138"/>
                  </a:lnTo>
                  <a:lnTo>
                    <a:pt x="74798" y="889958"/>
                  </a:lnTo>
                  <a:lnTo>
                    <a:pt x="48450" y="860621"/>
                  </a:lnTo>
                  <a:close/>
                </a:path>
                <a:path w="1091565" h="984250">
                  <a:moveTo>
                    <a:pt x="74798" y="889958"/>
                  </a:moveTo>
                  <a:lnTo>
                    <a:pt x="60135" y="903138"/>
                  </a:lnTo>
                  <a:lnTo>
                    <a:pt x="86484" y="932477"/>
                  </a:lnTo>
                  <a:lnTo>
                    <a:pt x="101146" y="919296"/>
                  </a:lnTo>
                  <a:lnTo>
                    <a:pt x="74798" y="889958"/>
                  </a:lnTo>
                  <a:close/>
                </a:path>
                <a:path w="1091565" h="984250">
                  <a:moveTo>
                    <a:pt x="101146" y="919296"/>
                  </a:moveTo>
                  <a:lnTo>
                    <a:pt x="86484" y="932477"/>
                  </a:lnTo>
                  <a:lnTo>
                    <a:pt x="112984" y="932477"/>
                  </a:lnTo>
                  <a:lnTo>
                    <a:pt x="101146" y="919296"/>
                  </a:lnTo>
                  <a:close/>
                </a:path>
                <a:path w="1091565" h="984250">
                  <a:moveTo>
                    <a:pt x="1064821" y="0"/>
                  </a:moveTo>
                  <a:lnTo>
                    <a:pt x="74798" y="889958"/>
                  </a:lnTo>
                  <a:lnTo>
                    <a:pt x="101146" y="919296"/>
                  </a:lnTo>
                  <a:lnTo>
                    <a:pt x="1091170" y="29337"/>
                  </a:lnTo>
                  <a:lnTo>
                    <a:pt x="1064821" y="0"/>
                  </a:lnTo>
                  <a:close/>
                </a:path>
              </a:pathLst>
            </a:custGeom>
            <a:solidFill>
              <a:srgbClr val="56568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1347304" y="5241435"/>
            <a:ext cx="2235835" cy="885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230"/>
              </a:lnSpc>
              <a:spcBef>
                <a:spcPts val="100"/>
              </a:spcBef>
            </a:pPr>
            <a:r>
              <a:rPr dirty="0" sz="1900" spc="-25" i="1">
                <a:solidFill>
                  <a:srgbClr val="FF3300"/>
                </a:solidFill>
                <a:latin typeface="Calibri"/>
                <a:cs typeface="Calibri"/>
              </a:rPr>
              <a:t>Strategy</a:t>
            </a:r>
            <a:r>
              <a:rPr dirty="0" sz="1900" spc="-30" i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3300"/>
                </a:solidFill>
                <a:latin typeface="Calibri"/>
                <a:cs typeface="Calibri"/>
              </a:rPr>
              <a:t>curve:</a:t>
            </a:r>
            <a:endParaRPr sz="1900">
              <a:latin typeface="Calibri"/>
              <a:cs typeface="Calibri"/>
            </a:endParaRPr>
          </a:p>
          <a:p>
            <a:pPr algn="ctr" marL="12065" marR="5080">
              <a:lnSpc>
                <a:spcPts val="2300"/>
              </a:lnSpc>
              <a:spcBef>
                <a:spcPts val="10"/>
              </a:spcBef>
            </a:pPr>
            <a:r>
              <a:rPr dirty="0" sz="1900" i="1">
                <a:solidFill>
                  <a:srgbClr val="FF3300"/>
                </a:solidFill>
                <a:latin typeface="Calibri"/>
                <a:cs typeface="Calibri"/>
              </a:rPr>
              <a:t>we</a:t>
            </a:r>
            <a:r>
              <a:rPr dirty="0" sz="1900" spc="-80" i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3300"/>
                </a:solidFill>
                <a:latin typeface="Calibri"/>
                <a:cs typeface="Calibri"/>
              </a:rPr>
              <a:t>design</a:t>
            </a:r>
            <a:r>
              <a:rPr dirty="0" sz="1900" spc="-85" i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FF3300"/>
                </a:solidFill>
                <a:latin typeface="Calibri"/>
                <a:cs typeface="Calibri"/>
              </a:rPr>
              <a:t>for</a:t>
            </a:r>
            <a:r>
              <a:rPr dirty="0" sz="1900" spc="-75" i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FF3300"/>
                </a:solidFill>
                <a:latin typeface="Calibri"/>
                <a:cs typeface="Calibri"/>
              </a:rPr>
              <a:t>the</a:t>
            </a:r>
            <a:r>
              <a:rPr dirty="0" sz="1900" spc="-80" i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FF3300"/>
                </a:solidFill>
                <a:latin typeface="Calibri"/>
                <a:cs typeface="Calibri"/>
              </a:rPr>
              <a:t>users </a:t>
            </a:r>
            <a:r>
              <a:rPr dirty="0" sz="1900" spc="-10" i="1">
                <a:solidFill>
                  <a:srgbClr val="FF3300"/>
                </a:solidFill>
                <a:latin typeface="Calibri"/>
                <a:cs typeface="Calibri"/>
              </a:rPr>
              <a:t>lying</a:t>
            </a:r>
            <a:r>
              <a:rPr dirty="0" sz="1900" spc="-80" i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FF3300"/>
                </a:solidFill>
                <a:latin typeface="Calibri"/>
                <a:cs typeface="Calibri"/>
              </a:rPr>
              <a:t>within</a:t>
            </a:r>
            <a:r>
              <a:rPr dirty="0" sz="1900" spc="-80" i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FF3300"/>
                </a:solidFill>
                <a:latin typeface="Calibri"/>
                <a:cs typeface="Calibri"/>
              </a:rPr>
              <a:t>this</a:t>
            </a:r>
            <a:r>
              <a:rPr dirty="0" sz="1900" spc="-80" i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FF3300"/>
                </a:solidFill>
                <a:latin typeface="Calibri"/>
                <a:cs typeface="Calibri"/>
              </a:rPr>
              <a:t>curve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349752" y="3535679"/>
            <a:ext cx="1405255" cy="3213100"/>
            <a:chOff x="3349752" y="3535679"/>
            <a:chExt cx="1405255" cy="3213100"/>
          </a:xfrm>
        </p:grpSpPr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49752" y="3535679"/>
              <a:ext cx="1243584" cy="202692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391461" y="3673074"/>
              <a:ext cx="1040130" cy="1822450"/>
            </a:xfrm>
            <a:custGeom>
              <a:avLst/>
              <a:gdLst/>
              <a:ahLst/>
              <a:cxnLst/>
              <a:rect l="l" t="t" r="r" b="b"/>
              <a:pathLst>
                <a:path w="1040129" h="1822450">
                  <a:moveTo>
                    <a:pt x="964402" y="93351"/>
                  </a:moveTo>
                  <a:lnTo>
                    <a:pt x="0" y="1802930"/>
                  </a:lnTo>
                  <a:lnTo>
                    <a:pt x="34331" y="1822315"/>
                  </a:lnTo>
                  <a:lnTo>
                    <a:pt x="998734" y="112736"/>
                  </a:lnTo>
                  <a:lnTo>
                    <a:pt x="964402" y="93351"/>
                  </a:lnTo>
                  <a:close/>
                </a:path>
                <a:path w="1040129" h="1822450">
                  <a:moveTo>
                    <a:pt x="1035875" y="76174"/>
                  </a:moveTo>
                  <a:lnTo>
                    <a:pt x="974092" y="76174"/>
                  </a:lnTo>
                  <a:lnTo>
                    <a:pt x="1008424" y="95559"/>
                  </a:lnTo>
                  <a:lnTo>
                    <a:pt x="998734" y="112736"/>
                  </a:lnTo>
                  <a:lnTo>
                    <a:pt x="1033067" y="132121"/>
                  </a:lnTo>
                  <a:lnTo>
                    <a:pt x="1035875" y="76174"/>
                  </a:lnTo>
                  <a:close/>
                </a:path>
                <a:path w="1040129" h="1822450">
                  <a:moveTo>
                    <a:pt x="974092" y="76174"/>
                  </a:moveTo>
                  <a:lnTo>
                    <a:pt x="964402" y="93351"/>
                  </a:lnTo>
                  <a:lnTo>
                    <a:pt x="998734" y="112736"/>
                  </a:lnTo>
                  <a:lnTo>
                    <a:pt x="1008424" y="95559"/>
                  </a:lnTo>
                  <a:lnTo>
                    <a:pt x="974092" y="76174"/>
                  </a:lnTo>
                  <a:close/>
                </a:path>
                <a:path w="1040129" h="1822450">
                  <a:moveTo>
                    <a:pt x="1039698" y="0"/>
                  </a:moveTo>
                  <a:lnTo>
                    <a:pt x="930070" y="73966"/>
                  </a:lnTo>
                  <a:lnTo>
                    <a:pt x="964402" y="93351"/>
                  </a:lnTo>
                  <a:lnTo>
                    <a:pt x="974092" y="76174"/>
                  </a:lnTo>
                  <a:lnTo>
                    <a:pt x="1035875" y="76174"/>
                  </a:lnTo>
                  <a:lnTo>
                    <a:pt x="1039698" y="0"/>
                  </a:lnTo>
                  <a:close/>
                </a:path>
              </a:pathLst>
            </a:custGeom>
            <a:solidFill>
              <a:srgbClr val="5656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016326" y="6461747"/>
              <a:ext cx="738505" cy="287020"/>
            </a:xfrm>
            <a:custGeom>
              <a:avLst/>
              <a:gdLst/>
              <a:ahLst/>
              <a:cxnLst/>
              <a:rect l="l" t="t" r="r" b="b"/>
              <a:pathLst>
                <a:path w="738504" h="287020">
                  <a:moveTo>
                    <a:pt x="738436" y="0"/>
                  </a:moveTo>
                  <a:lnTo>
                    <a:pt x="0" y="0"/>
                  </a:lnTo>
                  <a:lnTo>
                    <a:pt x="0" y="286745"/>
                  </a:lnTo>
                  <a:lnTo>
                    <a:pt x="738436" y="286745"/>
                  </a:lnTo>
                  <a:lnTo>
                    <a:pt x="738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4098241" y="6497759"/>
            <a:ext cx="5657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51515"/>
                </a:solidFill>
                <a:latin typeface="Arial MT"/>
                <a:cs typeface="Arial MT"/>
              </a:rPr>
              <a:t>Student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967808" y="6461747"/>
            <a:ext cx="764540" cy="287020"/>
          </a:xfrm>
          <a:custGeom>
            <a:avLst/>
            <a:gdLst/>
            <a:ahLst/>
            <a:cxnLst/>
            <a:rect l="l" t="t" r="r" b="b"/>
            <a:pathLst>
              <a:path w="764539" h="287020">
                <a:moveTo>
                  <a:pt x="764462" y="0"/>
                </a:moveTo>
                <a:lnTo>
                  <a:pt x="0" y="0"/>
                </a:lnTo>
                <a:lnTo>
                  <a:pt x="0" y="286745"/>
                </a:lnTo>
                <a:lnTo>
                  <a:pt x="764462" y="286745"/>
                </a:lnTo>
                <a:lnTo>
                  <a:pt x="7644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049723" y="6497759"/>
            <a:ext cx="5822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51515"/>
                </a:solidFill>
                <a:latin typeface="Arial MT"/>
                <a:cs typeface="Arial MT"/>
              </a:rPr>
              <a:t>Teacher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936415" y="6461747"/>
            <a:ext cx="1266190" cy="287020"/>
          </a:xfrm>
          <a:custGeom>
            <a:avLst/>
            <a:gdLst/>
            <a:ahLst/>
            <a:cxnLst/>
            <a:rect l="l" t="t" r="r" b="b"/>
            <a:pathLst>
              <a:path w="1266190" h="287020">
                <a:moveTo>
                  <a:pt x="1266111" y="0"/>
                </a:moveTo>
                <a:lnTo>
                  <a:pt x="0" y="0"/>
                </a:lnTo>
                <a:lnTo>
                  <a:pt x="0" y="286745"/>
                </a:lnTo>
                <a:lnTo>
                  <a:pt x="1266111" y="286745"/>
                </a:lnTo>
                <a:lnTo>
                  <a:pt x="12661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018330" y="6497759"/>
            <a:ext cx="10185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51515"/>
                </a:solidFill>
                <a:latin typeface="Arial MT"/>
                <a:cs typeface="Arial MT"/>
              </a:rPr>
              <a:t>Administration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03058" y="6461747"/>
            <a:ext cx="2868295" cy="866775"/>
            <a:chOff x="7203058" y="6461747"/>
            <a:chExt cx="2868295" cy="866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7098" y="6628229"/>
              <a:ext cx="2077993" cy="5499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03058" y="6461747"/>
              <a:ext cx="2868295" cy="866775"/>
            </a:xfrm>
            <a:custGeom>
              <a:avLst/>
              <a:gdLst/>
              <a:ahLst/>
              <a:cxnLst/>
              <a:rect l="l" t="t" r="r" b="b"/>
              <a:pathLst>
                <a:path w="2868295" h="866775">
                  <a:moveTo>
                    <a:pt x="2868042" y="0"/>
                  </a:moveTo>
                  <a:lnTo>
                    <a:pt x="0" y="0"/>
                  </a:lnTo>
                  <a:lnTo>
                    <a:pt x="0" y="866151"/>
                  </a:lnTo>
                  <a:lnTo>
                    <a:pt x="2868042" y="866151"/>
                  </a:lnTo>
                  <a:lnTo>
                    <a:pt x="286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219623" y="1652089"/>
            <a:ext cx="3005455" cy="3471545"/>
            <a:chOff x="1219623" y="1652089"/>
            <a:chExt cx="3005455" cy="3471545"/>
          </a:xfrm>
        </p:grpSpPr>
        <p:sp>
          <p:nvSpPr>
            <p:cNvPr id="6" name="object 6"/>
            <p:cNvSpPr/>
            <p:nvPr/>
          </p:nvSpPr>
          <p:spPr>
            <a:xfrm>
              <a:off x="1221267" y="1653733"/>
              <a:ext cx="3002280" cy="3468370"/>
            </a:xfrm>
            <a:custGeom>
              <a:avLst/>
              <a:gdLst/>
              <a:ahLst/>
              <a:cxnLst/>
              <a:rect l="l" t="t" r="r" b="b"/>
              <a:pathLst>
                <a:path w="3002279" h="3468370">
                  <a:moveTo>
                    <a:pt x="1500798" y="0"/>
                  </a:moveTo>
                  <a:lnTo>
                    <a:pt x="3001838" y="868207"/>
                  </a:lnTo>
                </a:path>
                <a:path w="3002279" h="3468370">
                  <a:moveTo>
                    <a:pt x="3001838" y="868207"/>
                  </a:moveTo>
                  <a:lnTo>
                    <a:pt x="3001838" y="2600411"/>
                  </a:lnTo>
                </a:path>
                <a:path w="3002279" h="3468370">
                  <a:moveTo>
                    <a:pt x="3001838" y="2600411"/>
                  </a:moveTo>
                  <a:lnTo>
                    <a:pt x="1500798" y="3467775"/>
                  </a:lnTo>
                </a:path>
                <a:path w="3002279" h="3468370">
                  <a:moveTo>
                    <a:pt x="1500798" y="3467775"/>
                  </a:moveTo>
                  <a:lnTo>
                    <a:pt x="0" y="2600411"/>
                  </a:lnTo>
                </a:path>
                <a:path w="3002279" h="3468370">
                  <a:moveTo>
                    <a:pt x="0" y="2600411"/>
                  </a:moveTo>
                  <a:lnTo>
                    <a:pt x="0" y="868207"/>
                  </a:lnTo>
                </a:path>
                <a:path w="3002279" h="3468370">
                  <a:moveTo>
                    <a:pt x="0" y="868207"/>
                  </a:moveTo>
                  <a:lnTo>
                    <a:pt x="1500798" y="0"/>
                  </a:lnTo>
                </a:path>
                <a:path w="3002279" h="3468370">
                  <a:moveTo>
                    <a:pt x="1500798" y="432106"/>
                  </a:moveTo>
                  <a:lnTo>
                    <a:pt x="2625617" y="1084733"/>
                  </a:lnTo>
                </a:path>
                <a:path w="3002279" h="3468370">
                  <a:moveTo>
                    <a:pt x="2625617" y="1084733"/>
                  </a:moveTo>
                  <a:lnTo>
                    <a:pt x="2625617" y="2383886"/>
                  </a:lnTo>
                </a:path>
                <a:path w="3002279" h="3468370">
                  <a:moveTo>
                    <a:pt x="2625617" y="2383886"/>
                  </a:moveTo>
                  <a:lnTo>
                    <a:pt x="1500798" y="3033463"/>
                  </a:lnTo>
                </a:path>
                <a:path w="3002279" h="3468370">
                  <a:moveTo>
                    <a:pt x="1500798" y="3033463"/>
                  </a:moveTo>
                  <a:lnTo>
                    <a:pt x="375978" y="2383886"/>
                  </a:lnTo>
                </a:path>
                <a:path w="3002279" h="3468370">
                  <a:moveTo>
                    <a:pt x="375978" y="2383886"/>
                  </a:moveTo>
                  <a:lnTo>
                    <a:pt x="375978" y="1084733"/>
                  </a:lnTo>
                </a:path>
                <a:path w="3002279" h="3468370">
                  <a:moveTo>
                    <a:pt x="375978" y="1084733"/>
                  </a:moveTo>
                  <a:lnTo>
                    <a:pt x="1500798" y="432106"/>
                  </a:lnTo>
                </a:path>
                <a:path w="3002279" h="3468370">
                  <a:moveTo>
                    <a:pt x="1500798" y="868207"/>
                  </a:moveTo>
                  <a:lnTo>
                    <a:pt x="2250678" y="1301258"/>
                  </a:lnTo>
                </a:path>
                <a:path w="3002279" h="3468370">
                  <a:moveTo>
                    <a:pt x="2250678" y="1301258"/>
                  </a:moveTo>
                  <a:lnTo>
                    <a:pt x="2250678" y="2167360"/>
                  </a:lnTo>
                </a:path>
                <a:path w="3002279" h="3468370">
                  <a:moveTo>
                    <a:pt x="2250678" y="2167360"/>
                  </a:moveTo>
                  <a:lnTo>
                    <a:pt x="1500798" y="2600411"/>
                  </a:lnTo>
                </a:path>
                <a:path w="3002279" h="3468370">
                  <a:moveTo>
                    <a:pt x="1500798" y="2600411"/>
                  </a:moveTo>
                  <a:lnTo>
                    <a:pt x="750918" y="2167360"/>
                  </a:lnTo>
                </a:path>
                <a:path w="3002279" h="3468370">
                  <a:moveTo>
                    <a:pt x="750918" y="2167360"/>
                  </a:moveTo>
                  <a:lnTo>
                    <a:pt x="750918" y="1301258"/>
                  </a:lnTo>
                </a:path>
                <a:path w="3002279" h="3468370">
                  <a:moveTo>
                    <a:pt x="750918" y="1301258"/>
                  </a:moveTo>
                  <a:lnTo>
                    <a:pt x="1500798" y="868207"/>
                  </a:lnTo>
                </a:path>
                <a:path w="3002279" h="3468370">
                  <a:moveTo>
                    <a:pt x="1500798" y="1301258"/>
                  </a:moveTo>
                  <a:lnTo>
                    <a:pt x="1875738" y="1517784"/>
                  </a:lnTo>
                </a:path>
                <a:path w="3002279" h="3468370">
                  <a:moveTo>
                    <a:pt x="1875738" y="1517784"/>
                  </a:moveTo>
                  <a:lnTo>
                    <a:pt x="1875738" y="1950835"/>
                  </a:lnTo>
                </a:path>
                <a:path w="3002279" h="3468370">
                  <a:moveTo>
                    <a:pt x="1875738" y="1950835"/>
                  </a:moveTo>
                  <a:lnTo>
                    <a:pt x="1500798" y="2167360"/>
                  </a:lnTo>
                </a:path>
                <a:path w="3002279" h="3468370">
                  <a:moveTo>
                    <a:pt x="1500798" y="2167360"/>
                  </a:moveTo>
                  <a:lnTo>
                    <a:pt x="1125858" y="1950835"/>
                  </a:lnTo>
                </a:path>
                <a:path w="3002279" h="3468370">
                  <a:moveTo>
                    <a:pt x="1125858" y="1950835"/>
                  </a:moveTo>
                  <a:lnTo>
                    <a:pt x="1125858" y="1517784"/>
                  </a:lnTo>
                </a:path>
                <a:path w="3002279" h="3468370">
                  <a:moveTo>
                    <a:pt x="1125858" y="1517784"/>
                  </a:moveTo>
                  <a:lnTo>
                    <a:pt x="1500798" y="1301258"/>
                  </a:lnTo>
                </a:path>
                <a:path w="3002279" h="3468370">
                  <a:moveTo>
                    <a:pt x="1500799" y="1734309"/>
                  </a:moveTo>
                  <a:lnTo>
                    <a:pt x="1500799" y="0"/>
                  </a:lnTo>
                </a:path>
                <a:path w="3002279" h="3468370">
                  <a:moveTo>
                    <a:pt x="1500799" y="1734309"/>
                  </a:moveTo>
                  <a:lnTo>
                    <a:pt x="3001840" y="868207"/>
                  </a:lnTo>
                </a:path>
                <a:path w="3002279" h="3468370">
                  <a:moveTo>
                    <a:pt x="1500799" y="1734309"/>
                  </a:moveTo>
                  <a:lnTo>
                    <a:pt x="3001840" y="2600411"/>
                  </a:lnTo>
                </a:path>
                <a:path w="3002279" h="3468370">
                  <a:moveTo>
                    <a:pt x="1500799" y="1734309"/>
                  </a:moveTo>
                  <a:lnTo>
                    <a:pt x="1500799" y="3467776"/>
                  </a:lnTo>
                </a:path>
                <a:path w="3002279" h="3468370">
                  <a:moveTo>
                    <a:pt x="1500799" y="1734309"/>
                  </a:moveTo>
                  <a:lnTo>
                    <a:pt x="0" y="2600411"/>
                  </a:lnTo>
                </a:path>
                <a:path w="3002279" h="3468370">
                  <a:moveTo>
                    <a:pt x="1500799" y="1734309"/>
                  </a:moveTo>
                  <a:lnTo>
                    <a:pt x="0" y="868207"/>
                  </a:lnTo>
                </a:path>
                <a:path w="3002279" h="3468370">
                  <a:moveTo>
                    <a:pt x="1500799" y="1734309"/>
                  </a:moveTo>
                  <a:lnTo>
                    <a:pt x="1500799" y="0"/>
                  </a:lnTo>
                </a:path>
              </a:pathLst>
            </a:custGeom>
            <a:ln w="3285">
              <a:solidFill>
                <a:srgbClr val="96969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96497" y="2520676"/>
              <a:ext cx="2251710" cy="1734185"/>
            </a:xfrm>
            <a:custGeom>
              <a:avLst/>
              <a:gdLst/>
              <a:ahLst/>
              <a:cxnLst/>
              <a:rect l="l" t="t" r="r" b="b"/>
              <a:pathLst>
                <a:path w="2251710" h="1734185">
                  <a:moveTo>
                    <a:pt x="750628" y="650840"/>
                  </a:moveTo>
                  <a:lnTo>
                    <a:pt x="1125568" y="0"/>
                  </a:lnTo>
                  <a:lnTo>
                    <a:pt x="1500508" y="650840"/>
                  </a:lnTo>
                  <a:lnTo>
                    <a:pt x="2251379" y="1516942"/>
                  </a:lnTo>
                  <a:lnTo>
                    <a:pt x="1125568" y="1733889"/>
                  </a:lnTo>
                  <a:lnTo>
                    <a:pt x="0" y="1516942"/>
                  </a:lnTo>
                  <a:lnTo>
                    <a:pt x="750628" y="650840"/>
                  </a:lnTo>
                </a:path>
              </a:pathLst>
            </a:custGeom>
            <a:ln w="262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408689" y="1544758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8689" y="1980623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8689" y="2413439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08689" y="2846255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08689" y="3279071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5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1784" y="434636"/>
            <a:ext cx="3450590" cy="113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C&amp;A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diagram</a:t>
            </a:r>
            <a:endParaRPr sz="3700">
              <a:latin typeface="Calibri"/>
              <a:cs typeface="Calibri"/>
            </a:endParaRPr>
          </a:p>
          <a:p>
            <a:pPr marL="447040">
              <a:lnSpc>
                <a:spcPct val="100000"/>
              </a:lnSpc>
              <a:spcBef>
                <a:spcPts val="2835"/>
              </a:spcBef>
            </a:pPr>
            <a:r>
              <a:rPr dirty="0" sz="1200">
                <a:latin typeface="Verdana"/>
                <a:cs typeface="Verdana"/>
              </a:rPr>
              <a:t>Technical</a:t>
            </a:r>
            <a:r>
              <a:rPr dirty="0" sz="1200" spc="130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competency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0444" y="2367719"/>
            <a:ext cx="16395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Verdana"/>
                <a:cs typeface="Verdana"/>
              </a:rPr>
              <a:t>Domain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competency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95690" y="5181023"/>
            <a:ext cx="20459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Verdana"/>
                <a:cs typeface="Verdana"/>
              </a:rPr>
              <a:t>Physical</a:t>
            </a:r>
            <a:r>
              <a:rPr dirty="0" sz="1200" spc="100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and</a:t>
            </a:r>
            <a:r>
              <a:rPr dirty="0" sz="1200" spc="8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visual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ability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5044" y="2673992"/>
            <a:ext cx="5674995" cy="26352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843405" marR="65405" indent="-354965">
              <a:lnSpc>
                <a:spcPct val="99400"/>
              </a:lnSpc>
              <a:spcBef>
                <a:spcPts val="114"/>
              </a:spcBef>
              <a:buFont typeface="Wingdings"/>
              <a:buChar char=""/>
              <a:tabLst>
                <a:tab pos="18434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total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chart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represents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user: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each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occupies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within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overall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area.Outside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area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endParaRPr sz="2100">
              <a:latin typeface="Calibri"/>
              <a:cs typeface="Calibri"/>
            </a:endParaRPr>
          </a:p>
          <a:p>
            <a:pPr marL="38100">
              <a:lnSpc>
                <a:spcPts val="2485"/>
              </a:lnSpc>
            </a:pPr>
            <a:r>
              <a:rPr dirty="0" baseline="-41666" sz="1800">
                <a:latin typeface="Verdana"/>
                <a:cs typeface="Verdana"/>
              </a:rPr>
              <a:t>Lingustic</a:t>
            </a:r>
            <a:r>
              <a:rPr dirty="0" baseline="-41666" sz="1800" spc="-75">
                <a:latin typeface="Verdana"/>
                <a:cs typeface="Verdana"/>
              </a:rPr>
              <a:t> </a:t>
            </a:r>
            <a:r>
              <a:rPr dirty="0" baseline="-41666" sz="1800">
                <a:latin typeface="Verdana"/>
                <a:cs typeface="Verdana"/>
              </a:rPr>
              <a:t>competency</a:t>
            </a:r>
            <a:r>
              <a:rPr dirty="0" baseline="-41666" sz="1800" spc="600"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target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 users</a:t>
            </a:r>
            <a:r>
              <a:rPr dirty="0" sz="2100" spc="-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(that</a:t>
            </a:r>
            <a:r>
              <a:rPr dirty="0" sz="21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is: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endParaRPr sz="2100">
              <a:latin typeface="Calibri"/>
              <a:cs typeface="Calibri"/>
            </a:endParaRPr>
          </a:p>
          <a:p>
            <a:pPr marL="1843405">
              <a:lnSpc>
                <a:spcPts val="2510"/>
              </a:lnSpc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relevant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design)</a:t>
            </a:r>
            <a:endParaRPr sz="2100">
              <a:latin typeface="Calibri"/>
              <a:cs typeface="Calibri"/>
            </a:endParaRPr>
          </a:p>
          <a:p>
            <a:pPr marL="1843405" marR="30480" indent="-354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8434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center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people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with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high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skills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abilities,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near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400" y="4172135"/>
            <a:ext cx="5537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Verdana"/>
                <a:cs typeface="Verdana"/>
              </a:rPr>
              <a:t>ivation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055" y="2367719"/>
            <a:ext cx="5410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Verdana"/>
                <a:cs typeface="Verdana"/>
              </a:rPr>
              <a:t>tration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0955" y="1659008"/>
            <a:ext cx="4227195" cy="6629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67030" marR="5080" indent="-354965">
              <a:lnSpc>
                <a:spcPts val="2500"/>
              </a:lnSpc>
              <a:spcBef>
                <a:spcPts val="2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character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associated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&amp;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diagram.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character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a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75761" y="2292992"/>
            <a:ext cx="259461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score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category.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9801" y="5280032"/>
            <a:ext cx="8387080" cy="192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38065">
              <a:lnSpc>
                <a:spcPts val="2485"/>
              </a:lnSpc>
              <a:spcBef>
                <a:spcPts val="100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edges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people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lower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ones.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500"/>
              </a:lnSpc>
              <a:spcBef>
                <a:spcPts val="65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interesting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persona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borderline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character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(we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assume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that designing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average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easier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designing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corner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cases.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Characters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completely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border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(low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competences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low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abilities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all features)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extreme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cases,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intellectual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toys.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strive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personas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30"/>
              </a:lnSpc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believable,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give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credible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characteristics.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1796" y="1653732"/>
            <a:ext cx="3002280" cy="3468370"/>
          </a:xfrm>
          <a:custGeom>
            <a:avLst/>
            <a:gdLst/>
            <a:ahLst/>
            <a:cxnLst/>
            <a:rect l="l" t="t" r="r" b="b"/>
            <a:pathLst>
              <a:path w="3002279" h="3468370">
                <a:moveTo>
                  <a:pt x="1501044" y="0"/>
                </a:moveTo>
                <a:lnTo>
                  <a:pt x="3001838" y="868207"/>
                </a:lnTo>
              </a:path>
              <a:path w="3002279" h="3468370">
                <a:moveTo>
                  <a:pt x="3001838" y="868207"/>
                </a:moveTo>
                <a:lnTo>
                  <a:pt x="3001838" y="2600411"/>
                </a:lnTo>
              </a:path>
              <a:path w="3002279" h="3468370">
                <a:moveTo>
                  <a:pt x="3001838" y="2600411"/>
                </a:moveTo>
                <a:lnTo>
                  <a:pt x="1501044" y="3467775"/>
                </a:lnTo>
              </a:path>
              <a:path w="3002279" h="3468370">
                <a:moveTo>
                  <a:pt x="1501044" y="3467775"/>
                </a:moveTo>
                <a:lnTo>
                  <a:pt x="0" y="2600411"/>
                </a:lnTo>
              </a:path>
              <a:path w="3002279" h="3468370">
                <a:moveTo>
                  <a:pt x="0" y="2600411"/>
                </a:moveTo>
                <a:lnTo>
                  <a:pt x="0" y="868207"/>
                </a:lnTo>
              </a:path>
              <a:path w="3002279" h="3468370">
                <a:moveTo>
                  <a:pt x="0" y="868207"/>
                </a:moveTo>
                <a:lnTo>
                  <a:pt x="1501044" y="0"/>
                </a:lnTo>
              </a:path>
              <a:path w="3002279" h="3468370">
                <a:moveTo>
                  <a:pt x="1501044" y="432106"/>
                </a:moveTo>
                <a:lnTo>
                  <a:pt x="2625864" y="1084733"/>
                </a:lnTo>
              </a:path>
              <a:path w="3002279" h="3468370">
                <a:moveTo>
                  <a:pt x="2625864" y="1084733"/>
                </a:moveTo>
                <a:lnTo>
                  <a:pt x="2625864" y="2383886"/>
                </a:lnTo>
              </a:path>
              <a:path w="3002279" h="3468370">
                <a:moveTo>
                  <a:pt x="2625864" y="2383886"/>
                </a:moveTo>
                <a:lnTo>
                  <a:pt x="1501044" y="3033463"/>
                </a:lnTo>
              </a:path>
              <a:path w="3002279" h="3468370">
                <a:moveTo>
                  <a:pt x="1501044" y="3033463"/>
                </a:moveTo>
                <a:lnTo>
                  <a:pt x="376224" y="2383886"/>
                </a:lnTo>
              </a:path>
            </a:pathLst>
          </a:custGeom>
          <a:ln w="3285">
            <a:solidFill>
              <a:srgbClr val="9696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88021" y="2738466"/>
            <a:ext cx="0" cy="1299210"/>
          </a:xfrm>
          <a:custGeom>
            <a:avLst/>
            <a:gdLst/>
            <a:ahLst/>
            <a:cxnLst/>
            <a:rect l="l" t="t" r="r" b="b"/>
            <a:pathLst>
              <a:path w="0" h="1299210">
                <a:moveTo>
                  <a:pt x="0" y="1299153"/>
                </a:moveTo>
                <a:lnTo>
                  <a:pt x="0" y="0"/>
                </a:lnTo>
              </a:path>
            </a:pathLst>
          </a:custGeom>
          <a:ln w="3285">
            <a:solidFill>
              <a:srgbClr val="96969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09889" y="1651828"/>
            <a:ext cx="3006090" cy="3472179"/>
            <a:chOff x="1709889" y="1651828"/>
            <a:chExt cx="3006090" cy="3472179"/>
          </a:xfrm>
        </p:grpSpPr>
        <p:sp>
          <p:nvSpPr>
            <p:cNvPr id="5" name="object 5"/>
            <p:cNvSpPr/>
            <p:nvPr/>
          </p:nvSpPr>
          <p:spPr>
            <a:xfrm>
              <a:off x="1711796" y="1653733"/>
              <a:ext cx="3002280" cy="3468370"/>
            </a:xfrm>
            <a:custGeom>
              <a:avLst/>
              <a:gdLst/>
              <a:ahLst/>
              <a:cxnLst/>
              <a:rect l="l" t="t" r="r" b="b"/>
              <a:pathLst>
                <a:path w="3002279" h="3468370">
                  <a:moveTo>
                    <a:pt x="376224" y="1084733"/>
                  </a:moveTo>
                  <a:lnTo>
                    <a:pt x="1501044" y="432106"/>
                  </a:lnTo>
                </a:path>
                <a:path w="3002279" h="3468370">
                  <a:moveTo>
                    <a:pt x="1501044" y="868207"/>
                  </a:moveTo>
                  <a:lnTo>
                    <a:pt x="2250924" y="1301258"/>
                  </a:lnTo>
                </a:path>
                <a:path w="3002279" h="3468370">
                  <a:moveTo>
                    <a:pt x="2250924" y="1301258"/>
                  </a:moveTo>
                  <a:lnTo>
                    <a:pt x="2250924" y="2167360"/>
                  </a:lnTo>
                </a:path>
                <a:path w="3002279" h="3468370">
                  <a:moveTo>
                    <a:pt x="2250924" y="2167360"/>
                  </a:moveTo>
                  <a:lnTo>
                    <a:pt x="1501044" y="2600411"/>
                  </a:lnTo>
                </a:path>
                <a:path w="3002279" h="3468370">
                  <a:moveTo>
                    <a:pt x="1501044" y="2600411"/>
                  </a:moveTo>
                  <a:lnTo>
                    <a:pt x="751164" y="2167360"/>
                  </a:lnTo>
                </a:path>
                <a:path w="3002279" h="3468370">
                  <a:moveTo>
                    <a:pt x="751164" y="2167360"/>
                  </a:moveTo>
                  <a:lnTo>
                    <a:pt x="751164" y="1301258"/>
                  </a:lnTo>
                </a:path>
                <a:path w="3002279" h="3468370">
                  <a:moveTo>
                    <a:pt x="751164" y="1301258"/>
                  </a:moveTo>
                  <a:lnTo>
                    <a:pt x="1501044" y="868207"/>
                  </a:lnTo>
                </a:path>
                <a:path w="3002279" h="3468370">
                  <a:moveTo>
                    <a:pt x="1501044" y="1301258"/>
                  </a:moveTo>
                  <a:lnTo>
                    <a:pt x="1875984" y="1517784"/>
                  </a:lnTo>
                </a:path>
                <a:path w="3002279" h="3468370">
                  <a:moveTo>
                    <a:pt x="1875984" y="1517784"/>
                  </a:moveTo>
                  <a:lnTo>
                    <a:pt x="1875984" y="1950835"/>
                  </a:lnTo>
                </a:path>
                <a:path w="3002279" h="3468370">
                  <a:moveTo>
                    <a:pt x="1875984" y="1950835"/>
                  </a:moveTo>
                  <a:lnTo>
                    <a:pt x="1501044" y="2167360"/>
                  </a:lnTo>
                </a:path>
                <a:path w="3002279" h="3468370">
                  <a:moveTo>
                    <a:pt x="1501044" y="2167360"/>
                  </a:moveTo>
                  <a:lnTo>
                    <a:pt x="1126104" y="1950835"/>
                  </a:lnTo>
                </a:path>
                <a:path w="3002279" h="3468370">
                  <a:moveTo>
                    <a:pt x="1126104" y="1950835"/>
                  </a:moveTo>
                  <a:lnTo>
                    <a:pt x="1126104" y="1517784"/>
                  </a:lnTo>
                </a:path>
                <a:path w="3002279" h="3468370">
                  <a:moveTo>
                    <a:pt x="1126104" y="1517784"/>
                  </a:moveTo>
                  <a:lnTo>
                    <a:pt x="1501044" y="1301258"/>
                  </a:lnTo>
                </a:path>
                <a:path w="3002279" h="3468370">
                  <a:moveTo>
                    <a:pt x="1501045" y="1734309"/>
                  </a:moveTo>
                  <a:lnTo>
                    <a:pt x="1501045" y="0"/>
                  </a:lnTo>
                </a:path>
                <a:path w="3002279" h="3468370">
                  <a:moveTo>
                    <a:pt x="1501045" y="1734309"/>
                  </a:moveTo>
                  <a:lnTo>
                    <a:pt x="3001840" y="868207"/>
                  </a:lnTo>
                </a:path>
                <a:path w="3002279" h="3468370">
                  <a:moveTo>
                    <a:pt x="1501045" y="1734309"/>
                  </a:moveTo>
                  <a:lnTo>
                    <a:pt x="3001840" y="2600411"/>
                  </a:lnTo>
                </a:path>
                <a:path w="3002279" h="3468370">
                  <a:moveTo>
                    <a:pt x="1501045" y="1734309"/>
                  </a:moveTo>
                  <a:lnTo>
                    <a:pt x="1501045" y="3467776"/>
                  </a:lnTo>
                </a:path>
                <a:path w="3002279" h="3468370">
                  <a:moveTo>
                    <a:pt x="1501045" y="1734309"/>
                  </a:moveTo>
                  <a:lnTo>
                    <a:pt x="0" y="2600411"/>
                  </a:lnTo>
                </a:path>
                <a:path w="3002279" h="3468370">
                  <a:moveTo>
                    <a:pt x="1501045" y="1734309"/>
                  </a:moveTo>
                  <a:lnTo>
                    <a:pt x="0" y="868207"/>
                  </a:lnTo>
                </a:path>
                <a:path w="3002279" h="3468370">
                  <a:moveTo>
                    <a:pt x="1501045" y="1734309"/>
                  </a:moveTo>
                  <a:lnTo>
                    <a:pt x="1501045" y="0"/>
                  </a:lnTo>
                </a:path>
              </a:pathLst>
            </a:custGeom>
            <a:ln w="3285">
              <a:solidFill>
                <a:srgbClr val="96969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87026" y="2520676"/>
              <a:ext cx="2251710" cy="1734185"/>
            </a:xfrm>
            <a:custGeom>
              <a:avLst/>
              <a:gdLst/>
              <a:ahLst/>
              <a:cxnLst/>
              <a:rect l="l" t="t" r="r" b="b"/>
              <a:pathLst>
                <a:path w="2251710" h="1734185">
                  <a:moveTo>
                    <a:pt x="750875" y="650840"/>
                  </a:moveTo>
                  <a:lnTo>
                    <a:pt x="1125814" y="0"/>
                  </a:lnTo>
                  <a:lnTo>
                    <a:pt x="1500754" y="650840"/>
                  </a:lnTo>
                  <a:lnTo>
                    <a:pt x="2251379" y="1516942"/>
                  </a:lnTo>
                  <a:lnTo>
                    <a:pt x="1125814" y="1733889"/>
                  </a:lnTo>
                  <a:lnTo>
                    <a:pt x="0" y="1516942"/>
                  </a:lnTo>
                  <a:lnTo>
                    <a:pt x="750875" y="650840"/>
                  </a:lnTo>
                </a:path>
              </a:pathLst>
            </a:custGeom>
            <a:ln w="262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899219" y="1544758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9219" y="1980623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9219" y="2413439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9219" y="2846255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6763" y="1358831"/>
            <a:ext cx="17672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Verdana"/>
                <a:cs typeface="Verdana"/>
              </a:rPr>
              <a:t>Technical</a:t>
            </a:r>
            <a:r>
              <a:rPr dirty="0" sz="1200" spc="130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competency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0973" y="4172135"/>
            <a:ext cx="17284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Verdana"/>
                <a:cs typeface="Verdana"/>
              </a:rPr>
              <a:t>Lingustic</a:t>
            </a:r>
            <a:r>
              <a:rPr dirty="0" sz="1200" spc="110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competency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35573" y="1473080"/>
            <a:ext cx="5334000" cy="396684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725295" marR="31115" indent="-354965">
              <a:lnSpc>
                <a:spcPts val="2300"/>
              </a:lnSpc>
              <a:spcBef>
                <a:spcPts val="360"/>
              </a:spcBef>
              <a:buFont typeface="Wingdings"/>
              <a:buChar char=""/>
              <a:tabLst>
                <a:tab pos="172529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graph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is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associated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types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actions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support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endParaRPr sz="2100">
              <a:latin typeface="Calibri"/>
              <a:cs typeface="Calibri"/>
            </a:endParaRPr>
          </a:p>
          <a:p>
            <a:pPr marL="38100">
              <a:lnSpc>
                <a:spcPts val="2270"/>
              </a:lnSpc>
            </a:pPr>
            <a:r>
              <a:rPr dirty="0" baseline="34722" sz="1800">
                <a:latin typeface="Verdana"/>
                <a:cs typeface="Verdana"/>
              </a:rPr>
              <a:t>Domain</a:t>
            </a:r>
            <a:r>
              <a:rPr dirty="0" baseline="34722" sz="1800" spc="104">
                <a:latin typeface="Verdana"/>
                <a:cs typeface="Verdana"/>
              </a:rPr>
              <a:t> </a:t>
            </a:r>
            <a:r>
              <a:rPr dirty="0" baseline="34722" sz="1800">
                <a:latin typeface="Verdana"/>
                <a:cs typeface="Verdana"/>
              </a:rPr>
              <a:t>competency</a:t>
            </a:r>
            <a:r>
              <a:rPr dirty="0" baseline="34722" sz="1800" spc="352"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appropriate</a:t>
            </a:r>
            <a:r>
              <a:rPr dirty="0" sz="2100" spc="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users.</a:t>
            </a:r>
            <a:endParaRPr sz="2100">
              <a:latin typeface="Calibri"/>
              <a:cs typeface="Calibri"/>
            </a:endParaRPr>
          </a:p>
          <a:p>
            <a:pPr marL="1725295" marR="30480" indent="-354965">
              <a:lnSpc>
                <a:spcPct val="91200"/>
              </a:lnSpc>
              <a:spcBef>
                <a:spcPts val="509"/>
              </a:spcBef>
              <a:buFont typeface="Wingdings"/>
              <a:buChar char=""/>
              <a:tabLst>
                <a:tab pos="172529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high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skills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abilities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efficient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tools,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complex,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achieve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maintain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state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flow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execution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task.</a:t>
            </a:r>
            <a:endParaRPr sz="2100">
              <a:latin typeface="Calibri"/>
              <a:cs typeface="Calibri"/>
            </a:endParaRPr>
          </a:p>
          <a:p>
            <a:pPr marL="1725295" marR="36830" indent="-354965">
              <a:lnSpc>
                <a:spcPct val="89800"/>
              </a:lnSpc>
              <a:spcBef>
                <a:spcPts val="545"/>
              </a:spcBef>
              <a:buFont typeface="Wingdings"/>
              <a:buChar char=""/>
              <a:tabLst>
                <a:tab pos="1725295" algn="l"/>
                <a:tab pos="1784350" algn="l"/>
              </a:tabLst>
            </a:pPr>
            <a:r>
              <a:rPr dirty="0" sz="2100">
                <a:solidFill>
                  <a:srgbClr val="151515"/>
                </a:solidFill>
                <a:latin typeface="Times New Roman"/>
                <a:cs typeface="Times New Roman"/>
              </a:rPr>
              <a:t>	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low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technical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domain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competence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requires textual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graphical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explanation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most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obscure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concepts.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6218" y="5181023"/>
            <a:ext cx="20459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Verdana"/>
                <a:cs typeface="Verdana"/>
              </a:rPr>
              <a:t>Physical</a:t>
            </a:r>
            <a:r>
              <a:rPr dirty="0" sz="1200" spc="100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and</a:t>
            </a:r>
            <a:r>
              <a:rPr dirty="0" sz="1200" spc="8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visual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ability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5970" y="4172135"/>
            <a:ext cx="84581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Verdana"/>
                <a:cs typeface="Verdana"/>
              </a:rPr>
              <a:t>Motivation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6735" y="2367719"/>
            <a:ext cx="101091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Verdana"/>
                <a:cs typeface="Verdana"/>
              </a:rPr>
              <a:t>oncentration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1784" y="434636"/>
            <a:ext cx="601345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impact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3700" spc="-2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C&amp;A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diagram</a:t>
            </a:r>
            <a:endParaRPr sz="37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951" y="1789223"/>
            <a:ext cx="2982821" cy="318340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873819" y="3159651"/>
            <a:ext cx="75247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1574" sz="1800">
                <a:latin typeface="Verdana"/>
                <a:cs typeface="Verdana"/>
              </a:rPr>
              <a:t>5</a:t>
            </a:r>
            <a:r>
              <a:rPr dirty="0" baseline="-11574" sz="1800" spc="-262">
                <a:latin typeface="Verdana"/>
                <a:cs typeface="Verdana"/>
              </a:rPr>
              <a:t> </a:t>
            </a:r>
            <a:r>
              <a:rPr dirty="0" sz="1900" spc="-10" b="1">
                <a:solidFill>
                  <a:srgbClr val="151515"/>
                </a:solidFill>
                <a:latin typeface="Calibri"/>
                <a:cs typeface="Calibri"/>
              </a:rPr>
              <a:t>Don’t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32346" y="3440067"/>
            <a:ext cx="116395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 b="1">
                <a:solidFill>
                  <a:srgbClr val="151515"/>
                </a:solidFill>
                <a:latin typeface="Calibri"/>
                <a:cs typeface="Calibri"/>
              </a:rPr>
              <a:t>disturb</a:t>
            </a:r>
            <a:r>
              <a:rPr dirty="0" sz="19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 b="1">
                <a:solidFill>
                  <a:srgbClr val="151515"/>
                </a:solidFill>
                <a:latin typeface="Calibri"/>
                <a:cs typeface="Calibri"/>
              </a:rPr>
              <a:t>me!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76361" y="2781318"/>
            <a:ext cx="351155" cy="13798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520"/>
              </a:lnSpc>
            </a:pPr>
            <a:r>
              <a:rPr dirty="0" sz="2100" spc="-10" b="1">
                <a:solidFill>
                  <a:srgbClr val="151515"/>
                </a:solidFill>
                <a:latin typeface="Calibri"/>
                <a:cs typeface="Calibri"/>
              </a:rPr>
              <a:t>Captute</a:t>
            </a:r>
            <a:r>
              <a:rPr dirty="0" sz="2100" spc="-10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 b="1">
                <a:solidFill>
                  <a:srgbClr val="151515"/>
                </a:solidFill>
                <a:latin typeface="Calibri"/>
                <a:cs typeface="Calibri"/>
              </a:rPr>
              <a:t>me!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 rot="1800000">
            <a:off x="3308608" y="2160143"/>
            <a:ext cx="921639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90"/>
              </a:lnSpc>
            </a:pPr>
            <a:r>
              <a:rPr dirty="0" baseline="2645" sz="3150" spc="-30" b="1">
                <a:solidFill>
                  <a:srgbClr val="151515"/>
                </a:solidFill>
                <a:latin typeface="Calibri"/>
                <a:cs typeface="Calibri"/>
              </a:rPr>
              <a:t>Ex</a:t>
            </a:r>
            <a:r>
              <a:rPr dirty="0" baseline="1322" sz="3150" spc="-30" b="1">
                <a:solidFill>
                  <a:srgbClr val="151515"/>
                </a:solidFill>
                <a:latin typeface="Calibri"/>
                <a:cs typeface="Calibri"/>
              </a:rPr>
              <a:t>plai</a:t>
            </a:r>
            <a:r>
              <a:rPr dirty="0" sz="2100" spc="-20" b="1">
                <a:solidFill>
                  <a:srgbClr val="151515"/>
                </a:solidFill>
                <a:latin typeface="Calibri"/>
                <a:cs typeface="Calibri"/>
              </a:rPr>
              <a:t>n!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 rot="20040000">
            <a:off x="3331055" y="4357062"/>
            <a:ext cx="1035851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90"/>
              </a:lnSpc>
            </a:pPr>
            <a:r>
              <a:rPr dirty="0" sz="2100" spc="-20" b="1">
                <a:solidFill>
                  <a:srgbClr val="151515"/>
                </a:solidFill>
                <a:latin typeface="Calibri"/>
                <a:cs typeface="Calibri"/>
              </a:rPr>
              <a:t>Hel</a:t>
            </a:r>
            <a:r>
              <a:rPr dirty="0" baseline="1322" sz="3150" spc="-30" b="1">
                <a:solidFill>
                  <a:srgbClr val="151515"/>
                </a:solidFill>
                <a:latin typeface="Calibri"/>
                <a:cs typeface="Calibri"/>
              </a:rPr>
              <a:t>p</a:t>
            </a:r>
            <a:r>
              <a:rPr dirty="0" baseline="1322" sz="3150" spc="-13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baseline="1322" sz="3150" spc="-37" b="1">
                <a:solidFill>
                  <a:srgbClr val="151515"/>
                </a:solidFill>
                <a:latin typeface="Calibri"/>
                <a:cs typeface="Calibri"/>
              </a:rPr>
              <a:t>me!</a:t>
            </a:r>
            <a:endParaRPr baseline="1322" sz="31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7260" y="5514728"/>
            <a:ext cx="8132445" cy="16167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20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Lack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linguistic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physical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skils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require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additional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aids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describing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and/or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activating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services.</a:t>
            </a:r>
            <a:endParaRPr sz="2100">
              <a:latin typeface="Calibri"/>
              <a:cs typeface="Calibri"/>
            </a:endParaRPr>
          </a:p>
          <a:p>
            <a:pPr marL="12700" marR="38100">
              <a:lnSpc>
                <a:spcPts val="2500"/>
              </a:lnSpc>
              <a:spcBef>
                <a:spcPts val="15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Lack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motivations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concentration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require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additional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ways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capture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maintaing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attention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even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visceral-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level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10"/>
              </a:lnSpc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aids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below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threshold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conscience.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5381" y="1633908"/>
            <a:ext cx="3006090" cy="3472179"/>
            <a:chOff x="1635381" y="1633908"/>
            <a:chExt cx="3006090" cy="3472179"/>
          </a:xfrm>
        </p:grpSpPr>
        <p:sp>
          <p:nvSpPr>
            <p:cNvPr id="3" name="object 3"/>
            <p:cNvSpPr/>
            <p:nvPr/>
          </p:nvSpPr>
          <p:spPr>
            <a:xfrm>
              <a:off x="1637287" y="1635813"/>
              <a:ext cx="3002280" cy="3468370"/>
            </a:xfrm>
            <a:custGeom>
              <a:avLst/>
              <a:gdLst/>
              <a:ahLst/>
              <a:cxnLst/>
              <a:rect l="l" t="t" r="r" b="b"/>
              <a:pathLst>
                <a:path w="3002279" h="3468370">
                  <a:moveTo>
                    <a:pt x="1502393" y="0"/>
                  </a:moveTo>
                  <a:lnTo>
                    <a:pt x="3001838" y="867829"/>
                  </a:lnTo>
                </a:path>
                <a:path w="3002279" h="3468370">
                  <a:moveTo>
                    <a:pt x="3001838" y="867829"/>
                  </a:moveTo>
                  <a:lnTo>
                    <a:pt x="3001838" y="2600034"/>
                  </a:lnTo>
                </a:path>
                <a:path w="3002279" h="3468370">
                  <a:moveTo>
                    <a:pt x="3001838" y="2600034"/>
                  </a:moveTo>
                  <a:lnTo>
                    <a:pt x="1502393" y="3467775"/>
                  </a:lnTo>
                </a:path>
                <a:path w="3002279" h="3468370">
                  <a:moveTo>
                    <a:pt x="1502393" y="3467775"/>
                  </a:moveTo>
                  <a:lnTo>
                    <a:pt x="0" y="2600034"/>
                  </a:lnTo>
                </a:path>
                <a:path w="3002279" h="3468370">
                  <a:moveTo>
                    <a:pt x="0" y="2600034"/>
                  </a:moveTo>
                  <a:lnTo>
                    <a:pt x="0" y="867829"/>
                  </a:lnTo>
                </a:path>
                <a:path w="3002279" h="3468370">
                  <a:moveTo>
                    <a:pt x="0" y="867829"/>
                  </a:moveTo>
                  <a:lnTo>
                    <a:pt x="1502393" y="0"/>
                  </a:lnTo>
                </a:path>
                <a:path w="3002279" h="3468370">
                  <a:moveTo>
                    <a:pt x="1502393" y="434778"/>
                  </a:moveTo>
                  <a:lnTo>
                    <a:pt x="2627213" y="1084355"/>
                  </a:lnTo>
                </a:path>
                <a:path w="3002279" h="3468370">
                  <a:moveTo>
                    <a:pt x="2627213" y="1084355"/>
                  </a:moveTo>
                  <a:lnTo>
                    <a:pt x="2627213" y="2383508"/>
                  </a:lnTo>
                </a:path>
                <a:path w="3002279" h="3468370">
                  <a:moveTo>
                    <a:pt x="2627213" y="2383508"/>
                  </a:moveTo>
                  <a:lnTo>
                    <a:pt x="1502393" y="3033085"/>
                  </a:lnTo>
                </a:path>
                <a:path w="3002279" h="3468370">
                  <a:moveTo>
                    <a:pt x="1502393" y="3033085"/>
                  </a:moveTo>
                  <a:lnTo>
                    <a:pt x="374525" y="2383508"/>
                  </a:lnTo>
                </a:path>
                <a:path w="3002279" h="3468370">
                  <a:moveTo>
                    <a:pt x="374525" y="1084355"/>
                  </a:moveTo>
                  <a:lnTo>
                    <a:pt x="1502393" y="434778"/>
                  </a:lnTo>
                </a:path>
                <a:path w="3002279" h="3468370">
                  <a:moveTo>
                    <a:pt x="1502393" y="867829"/>
                  </a:moveTo>
                  <a:lnTo>
                    <a:pt x="2252273" y="1300880"/>
                  </a:lnTo>
                </a:path>
                <a:path w="3002279" h="3468370">
                  <a:moveTo>
                    <a:pt x="2252273" y="1300880"/>
                  </a:moveTo>
                  <a:lnTo>
                    <a:pt x="2252273" y="2166983"/>
                  </a:lnTo>
                </a:path>
                <a:path w="3002279" h="3468370">
                  <a:moveTo>
                    <a:pt x="2252273" y="2166983"/>
                  </a:moveTo>
                  <a:lnTo>
                    <a:pt x="1502393" y="2600034"/>
                  </a:lnTo>
                </a:path>
                <a:path w="3002279" h="3468370">
                  <a:moveTo>
                    <a:pt x="1502393" y="2600034"/>
                  </a:moveTo>
                  <a:lnTo>
                    <a:pt x="749465" y="2166983"/>
                  </a:lnTo>
                </a:path>
                <a:path w="3002279" h="3468370">
                  <a:moveTo>
                    <a:pt x="749465" y="2166983"/>
                  </a:moveTo>
                  <a:lnTo>
                    <a:pt x="749465" y="1300880"/>
                  </a:lnTo>
                </a:path>
                <a:path w="3002279" h="3468370">
                  <a:moveTo>
                    <a:pt x="749465" y="1300880"/>
                  </a:moveTo>
                  <a:lnTo>
                    <a:pt x="1502393" y="867829"/>
                  </a:lnTo>
                </a:path>
                <a:path w="3002279" h="3468370">
                  <a:moveTo>
                    <a:pt x="1502393" y="1300880"/>
                  </a:moveTo>
                  <a:lnTo>
                    <a:pt x="1877333" y="1517406"/>
                  </a:lnTo>
                </a:path>
                <a:path w="3002279" h="3468370">
                  <a:moveTo>
                    <a:pt x="1877333" y="1517406"/>
                  </a:moveTo>
                  <a:lnTo>
                    <a:pt x="1877333" y="1950457"/>
                  </a:lnTo>
                </a:path>
                <a:path w="3002279" h="3468370">
                  <a:moveTo>
                    <a:pt x="1877333" y="1950457"/>
                  </a:moveTo>
                  <a:lnTo>
                    <a:pt x="1502393" y="2166983"/>
                  </a:lnTo>
                </a:path>
                <a:path w="3002279" h="3468370">
                  <a:moveTo>
                    <a:pt x="1502393" y="2166983"/>
                  </a:moveTo>
                  <a:lnTo>
                    <a:pt x="1124405" y="1950457"/>
                  </a:lnTo>
                </a:path>
                <a:path w="3002279" h="3468370">
                  <a:moveTo>
                    <a:pt x="1124405" y="1950457"/>
                  </a:moveTo>
                  <a:lnTo>
                    <a:pt x="1124405" y="1517406"/>
                  </a:lnTo>
                </a:path>
                <a:path w="3002279" h="3468370">
                  <a:moveTo>
                    <a:pt x="1124405" y="1517406"/>
                  </a:moveTo>
                  <a:lnTo>
                    <a:pt x="1502393" y="1300880"/>
                  </a:lnTo>
                </a:path>
                <a:path w="3002279" h="3468370">
                  <a:moveTo>
                    <a:pt x="1502394" y="1733931"/>
                  </a:moveTo>
                  <a:lnTo>
                    <a:pt x="1502394" y="0"/>
                  </a:lnTo>
                </a:path>
                <a:path w="3002279" h="3468370">
                  <a:moveTo>
                    <a:pt x="1502394" y="1733931"/>
                  </a:moveTo>
                  <a:lnTo>
                    <a:pt x="3001840" y="867829"/>
                  </a:lnTo>
                </a:path>
                <a:path w="3002279" h="3468370">
                  <a:moveTo>
                    <a:pt x="1502394" y="1733931"/>
                  </a:moveTo>
                  <a:lnTo>
                    <a:pt x="3001840" y="2600034"/>
                  </a:lnTo>
                </a:path>
                <a:path w="3002279" h="3468370">
                  <a:moveTo>
                    <a:pt x="1502394" y="1733931"/>
                  </a:moveTo>
                  <a:lnTo>
                    <a:pt x="1502394" y="3467776"/>
                  </a:lnTo>
                </a:path>
                <a:path w="3002279" h="3468370">
                  <a:moveTo>
                    <a:pt x="1502394" y="1733931"/>
                  </a:moveTo>
                  <a:lnTo>
                    <a:pt x="0" y="2600034"/>
                  </a:lnTo>
                </a:path>
                <a:path w="3002279" h="3468370">
                  <a:moveTo>
                    <a:pt x="1502394" y="1733931"/>
                  </a:moveTo>
                  <a:lnTo>
                    <a:pt x="0" y="867829"/>
                  </a:lnTo>
                </a:path>
                <a:path w="3002279" h="3468370">
                  <a:moveTo>
                    <a:pt x="1502394" y="1733931"/>
                  </a:moveTo>
                  <a:lnTo>
                    <a:pt x="1502394" y="0"/>
                  </a:lnTo>
                </a:path>
              </a:pathLst>
            </a:custGeom>
            <a:ln w="3285">
              <a:solidFill>
                <a:srgbClr val="96969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12518" y="2502757"/>
              <a:ext cx="2251710" cy="1734185"/>
            </a:xfrm>
            <a:custGeom>
              <a:avLst/>
              <a:gdLst/>
              <a:ahLst/>
              <a:cxnLst/>
              <a:rect l="l" t="t" r="r" b="b"/>
              <a:pathLst>
                <a:path w="2251710" h="1734185">
                  <a:moveTo>
                    <a:pt x="749176" y="650462"/>
                  </a:moveTo>
                  <a:lnTo>
                    <a:pt x="1127164" y="0"/>
                  </a:lnTo>
                  <a:lnTo>
                    <a:pt x="1502104" y="650462"/>
                  </a:lnTo>
                  <a:lnTo>
                    <a:pt x="2251379" y="1516564"/>
                  </a:lnTo>
                  <a:lnTo>
                    <a:pt x="1127164" y="1733889"/>
                  </a:lnTo>
                  <a:lnTo>
                    <a:pt x="0" y="1516564"/>
                  </a:lnTo>
                  <a:lnTo>
                    <a:pt x="749176" y="650462"/>
                  </a:lnTo>
                </a:path>
              </a:pathLst>
            </a:custGeom>
            <a:ln w="262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824711" y="1526470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4711" y="1962335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4711" y="2395151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4711" y="2827967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4711" y="3263831"/>
            <a:ext cx="122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Verdana"/>
                <a:cs typeface="Verdana"/>
              </a:rPr>
              <a:t>5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2254" y="1340542"/>
            <a:ext cx="17672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Verdana"/>
                <a:cs typeface="Verdana"/>
              </a:rPr>
              <a:t>Technical</a:t>
            </a:r>
            <a:r>
              <a:rPr dirty="0" sz="1200" spc="130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competency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9165" y="2349431"/>
            <a:ext cx="16141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Verdana"/>
                <a:cs typeface="Verdana"/>
              </a:rPr>
              <a:t>Domain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competency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11710" y="5162735"/>
            <a:ext cx="20459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Verdana"/>
                <a:cs typeface="Verdana"/>
              </a:rPr>
              <a:t>Physical</a:t>
            </a:r>
            <a:r>
              <a:rPr dirty="0" sz="1200" spc="100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and</a:t>
            </a:r>
            <a:r>
              <a:rPr dirty="0" sz="1200" spc="8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visual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 spc="-10">
                <a:latin typeface="Verdana"/>
                <a:cs typeface="Verdana"/>
              </a:rPr>
              <a:t>ability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1462" y="4153847"/>
            <a:ext cx="84581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Verdana"/>
                <a:cs typeface="Verdana"/>
              </a:rPr>
              <a:t>Motivation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226" y="2349431"/>
            <a:ext cx="101091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Verdana"/>
                <a:cs typeface="Verdana"/>
              </a:rPr>
              <a:t>oncentration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1784" y="434636"/>
            <a:ext cx="601345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impact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3700" spc="-2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C&amp;A</a:t>
            </a:r>
            <a:r>
              <a:rPr dirty="0" sz="3700" spc="-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diagram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3498" y="1396879"/>
            <a:ext cx="3961129" cy="251904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67030" marR="112395" indent="-354965">
              <a:lnSpc>
                <a:spcPts val="2300"/>
              </a:lnSpc>
              <a:spcBef>
                <a:spcPts val="36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risk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value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characterizing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dimension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addressed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correctly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?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It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depends.</a:t>
            </a:r>
            <a:endParaRPr sz="2100">
              <a:latin typeface="Calibri"/>
              <a:cs typeface="Calibri"/>
            </a:endParaRPr>
          </a:p>
          <a:p>
            <a:pPr marL="367030" marR="5080" indent="-354965">
              <a:lnSpc>
                <a:spcPts val="2300"/>
              </a:lnSpc>
              <a:spcBef>
                <a:spcPts val="49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solving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competencies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issues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leads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making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serious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mistakes.</a:t>
            </a:r>
            <a:endParaRPr sz="2100">
              <a:latin typeface="Calibri"/>
              <a:cs typeface="Calibri"/>
            </a:endParaRPr>
          </a:p>
          <a:p>
            <a:pPr marL="367030" marR="709930" indent="-354965">
              <a:lnSpc>
                <a:spcPts val="2300"/>
              </a:lnSpc>
              <a:spcBef>
                <a:spcPts val="509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solving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language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comprehension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physical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1065" y="3862712"/>
            <a:ext cx="5436870" cy="1858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58775">
              <a:lnSpc>
                <a:spcPts val="2400"/>
              </a:lnSpc>
              <a:spcBef>
                <a:spcPts val="100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fitness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issues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cause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serious</a:t>
            </a:r>
            <a:endParaRPr sz="2100">
              <a:latin typeface="Calibri"/>
              <a:cs typeface="Calibri"/>
            </a:endParaRPr>
          </a:p>
          <a:p>
            <a:pPr algn="r" marR="332105">
              <a:lnSpc>
                <a:spcPts val="2400"/>
              </a:lnSpc>
            </a:pPr>
            <a:r>
              <a:rPr dirty="0" baseline="41666" sz="1800">
                <a:latin typeface="Verdana"/>
                <a:cs typeface="Verdana"/>
              </a:rPr>
              <a:t>Lingustic</a:t>
            </a:r>
            <a:r>
              <a:rPr dirty="0" baseline="41666" sz="1800" spc="-37">
                <a:latin typeface="Verdana"/>
                <a:cs typeface="Verdana"/>
              </a:rPr>
              <a:t> </a:t>
            </a:r>
            <a:r>
              <a:rPr dirty="0" baseline="41666" sz="1800">
                <a:latin typeface="Verdana"/>
                <a:cs typeface="Verdana"/>
              </a:rPr>
              <a:t>competency</a:t>
            </a:r>
            <a:r>
              <a:rPr dirty="0" baseline="41666" sz="1800" spc="120"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action</a:t>
            </a:r>
            <a:r>
              <a:rPr dirty="0" sz="2100" spc="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errors,</a:t>
            </a:r>
            <a:r>
              <a:rPr dirty="0" sz="2100" spc="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particularly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slips.</a:t>
            </a:r>
            <a:endParaRPr sz="2100">
              <a:latin typeface="Calibri"/>
              <a:cs typeface="Calibri"/>
            </a:endParaRPr>
          </a:p>
          <a:p>
            <a:pPr marL="1799589" marR="30480" indent="-354965">
              <a:lnSpc>
                <a:spcPct val="90200"/>
              </a:lnSpc>
              <a:spcBef>
                <a:spcPts val="535"/>
              </a:spcBef>
              <a:buFont typeface="Wingdings"/>
              <a:buChar char=""/>
              <a:tabLst>
                <a:tab pos="1799589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solving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motivation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or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concentration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issues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lead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abandoning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halfway,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means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losing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customer,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3924" y="5667128"/>
            <a:ext cx="8038465" cy="1269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36515">
              <a:lnSpc>
                <a:spcPts val="2390"/>
              </a:lnSpc>
              <a:spcBef>
                <a:spcPts val="100"/>
              </a:spcBef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sale,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90"/>
              </a:lnSpc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Irritation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frustration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clear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signs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person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knows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he/she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500"/>
              </a:lnSpc>
              <a:spcBef>
                <a:spcPts val="100"/>
              </a:spcBef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wants,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good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motivation,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helping.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result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of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handling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high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competencies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skills.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45840" y="2956105"/>
            <a:ext cx="2127885" cy="830580"/>
            <a:chOff x="2245840" y="2956105"/>
            <a:chExt cx="2127885" cy="830580"/>
          </a:xfrm>
        </p:grpSpPr>
        <p:sp>
          <p:nvSpPr>
            <p:cNvPr id="20" name="object 20"/>
            <p:cNvSpPr/>
            <p:nvPr/>
          </p:nvSpPr>
          <p:spPr>
            <a:xfrm>
              <a:off x="2250921" y="2961185"/>
              <a:ext cx="2117725" cy="820419"/>
            </a:xfrm>
            <a:custGeom>
              <a:avLst/>
              <a:gdLst/>
              <a:ahLst/>
              <a:cxnLst/>
              <a:rect l="l" t="t" r="r" b="b"/>
              <a:pathLst>
                <a:path w="2117725" h="820420">
                  <a:moveTo>
                    <a:pt x="1650353" y="0"/>
                  </a:moveTo>
                  <a:lnTo>
                    <a:pt x="1598413" y="2253"/>
                  </a:lnTo>
                  <a:lnTo>
                    <a:pt x="1548415" y="10429"/>
                  </a:lnTo>
                  <a:lnTo>
                    <a:pt x="1502372" y="24440"/>
                  </a:lnTo>
                  <a:lnTo>
                    <a:pt x="1462298" y="44199"/>
                  </a:lnTo>
                  <a:lnTo>
                    <a:pt x="1446394" y="34408"/>
                  </a:lnTo>
                  <a:lnTo>
                    <a:pt x="1408914" y="18051"/>
                  </a:lnTo>
                  <a:lnTo>
                    <a:pt x="1333421" y="1861"/>
                  </a:lnTo>
                  <a:lnTo>
                    <a:pt x="1278083" y="8"/>
                  </a:lnTo>
                  <a:lnTo>
                    <a:pt x="1224425" y="5603"/>
                  </a:lnTo>
                  <a:lnTo>
                    <a:pt x="1175181" y="18164"/>
                  </a:lnTo>
                  <a:lnTo>
                    <a:pt x="1133085" y="37209"/>
                  </a:lnTo>
                  <a:lnTo>
                    <a:pt x="1100872" y="62255"/>
                  </a:lnTo>
                  <a:lnTo>
                    <a:pt x="1086932" y="55517"/>
                  </a:lnTo>
                  <a:lnTo>
                    <a:pt x="1040152" y="38739"/>
                  </a:lnTo>
                  <a:lnTo>
                    <a:pt x="991157" y="28173"/>
                  </a:lnTo>
                  <a:lnTo>
                    <a:pt x="940701" y="23124"/>
                  </a:lnTo>
                  <a:lnTo>
                    <a:pt x="890203" y="23365"/>
                  </a:lnTo>
                  <a:lnTo>
                    <a:pt x="841085" y="28663"/>
                  </a:lnTo>
                  <a:lnTo>
                    <a:pt x="794768" y="38791"/>
                  </a:lnTo>
                  <a:lnTo>
                    <a:pt x="752672" y="53519"/>
                  </a:lnTo>
                  <a:lnTo>
                    <a:pt x="716219" y="72616"/>
                  </a:lnTo>
                  <a:lnTo>
                    <a:pt x="686828" y="95852"/>
                  </a:lnTo>
                  <a:lnTo>
                    <a:pt x="637093" y="83296"/>
                  </a:lnTo>
                  <a:lnTo>
                    <a:pt x="584460" y="75309"/>
                  </a:lnTo>
                  <a:lnTo>
                    <a:pt x="530050" y="72009"/>
                  </a:lnTo>
                  <a:lnTo>
                    <a:pt x="474981" y="73513"/>
                  </a:lnTo>
                  <a:lnTo>
                    <a:pt x="416770" y="80525"/>
                  </a:lnTo>
                  <a:lnTo>
                    <a:pt x="363377" y="92532"/>
                  </a:lnTo>
                  <a:lnTo>
                    <a:pt x="315603" y="108980"/>
                  </a:lnTo>
                  <a:lnTo>
                    <a:pt x="274246" y="129316"/>
                  </a:lnTo>
                  <a:lnTo>
                    <a:pt x="240108" y="152983"/>
                  </a:lnTo>
                  <a:lnTo>
                    <a:pt x="196686" y="208096"/>
                  </a:lnTo>
                  <a:lnTo>
                    <a:pt x="189002" y="238432"/>
                  </a:lnTo>
                  <a:lnTo>
                    <a:pt x="191736" y="269882"/>
                  </a:lnTo>
                  <a:lnTo>
                    <a:pt x="189953" y="272436"/>
                  </a:lnTo>
                  <a:lnTo>
                    <a:pt x="141018" y="278257"/>
                  </a:lnTo>
                  <a:lnTo>
                    <a:pt x="96574" y="289796"/>
                  </a:lnTo>
                  <a:lnTo>
                    <a:pt x="58354" y="306461"/>
                  </a:lnTo>
                  <a:lnTo>
                    <a:pt x="3453" y="361349"/>
                  </a:lnTo>
                  <a:lnTo>
                    <a:pt x="0" y="396176"/>
                  </a:lnTo>
                  <a:lnTo>
                    <a:pt x="16477" y="429601"/>
                  </a:lnTo>
                  <a:lnTo>
                    <a:pt x="51632" y="459080"/>
                  </a:lnTo>
                  <a:lnTo>
                    <a:pt x="104210" y="482070"/>
                  </a:lnTo>
                  <a:lnTo>
                    <a:pt x="76269" y="501678"/>
                  </a:lnTo>
                  <a:lnTo>
                    <a:pt x="57246" y="523738"/>
                  </a:lnTo>
                  <a:lnTo>
                    <a:pt x="47654" y="547430"/>
                  </a:lnTo>
                  <a:lnTo>
                    <a:pt x="48008" y="571931"/>
                  </a:lnTo>
                  <a:lnTo>
                    <a:pt x="89542" y="626455"/>
                  </a:lnTo>
                  <a:lnTo>
                    <a:pt x="127756" y="646988"/>
                  </a:lnTo>
                  <a:lnTo>
                    <a:pt x="174587" y="661784"/>
                  </a:lnTo>
                  <a:lnTo>
                    <a:pt x="227778" y="669903"/>
                  </a:lnTo>
                  <a:lnTo>
                    <a:pt x="285067" y="670408"/>
                  </a:lnTo>
                  <a:lnTo>
                    <a:pt x="289065" y="674011"/>
                  </a:lnTo>
                  <a:lnTo>
                    <a:pt x="321376" y="698240"/>
                  </a:lnTo>
                  <a:lnTo>
                    <a:pt x="359071" y="719185"/>
                  </a:lnTo>
                  <a:lnTo>
                    <a:pt x="401346" y="736739"/>
                  </a:lnTo>
                  <a:lnTo>
                    <a:pt x="447399" y="750798"/>
                  </a:lnTo>
                  <a:lnTo>
                    <a:pt x="496427" y="761254"/>
                  </a:lnTo>
                  <a:lnTo>
                    <a:pt x="547627" y="768003"/>
                  </a:lnTo>
                  <a:lnTo>
                    <a:pt x="600196" y="770939"/>
                  </a:lnTo>
                  <a:lnTo>
                    <a:pt x="653331" y="769955"/>
                  </a:lnTo>
                  <a:lnTo>
                    <a:pt x="706230" y="764946"/>
                  </a:lnTo>
                  <a:lnTo>
                    <a:pt x="758089" y="755806"/>
                  </a:lnTo>
                  <a:lnTo>
                    <a:pt x="808105" y="742430"/>
                  </a:lnTo>
                  <a:lnTo>
                    <a:pt x="843745" y="765949"/>
                  </a:lnTo>
                  <a:lnTo>
                    <a:pt x="886159" y="785753"/>
                  </a:lnTo>
                  <a:lnTo>
                    <a:pt x="934334" y="801447"/>
                  </a:lnTo>
                  <a:lnTo>
                    <a:pt x="987259" y="812633"/>
                  </a:lnTo>
                  <a:lnTo>
                    <a:pt x="1045716" y="819047"/>
                  </a:lnTo>
                  <a:lnTo>
                    <a:pt x="1103734" y="819846"/>
                  </a:lnTo>
                  <a:lnTo>
                    <a:pt x="1160149" y="815359"/>
                  </a:lnTo>
                  <a:lnTo>
                    <a:pt x="1213795" y="805917"/>
                  </a:lnTo>
                  <a:lnTo>
                    <a:pt x="1263509" y="791848"/>
                  </a:lnTo>
                  <a:lnTo>
                    <a:pt x="1308125" y="773483"/>
                  </a:lnTo>
                  <a:lnTo>
                    <a:pt x="1346478" y="751151"/>
                  </a:lnTo>
                  <a:lnTo>
                    <a:pt x="1377404" y="725182"/>
                  </a:lnTo>
                  <a:lnTo>
                    <a:pt x="1399736" y="695906"/>
                  </a:lnTo>
                  <a:lnTo>
                    <a:pt x="1434195" y="705570"/>
                  </a:lnTo>
                  <a:lnTo>
                    <a:pt x="1470672" y="712622"/>
                  </a:lnTo>
                  <a:lnTo>
                    <a:pt x="1508636" y="716978"/>
                  </a:lnTo>
                  <a:lnTo>
                    <a:pt x="1547557" y="718559"/>
                  </a:lnTo>
                  <a:lnTo>
                    <a:pt x="1604722" y="715766"/>
                  </a:lnTo>
                  <a:lnTo>
                    <a:pt x="1658056" y="707290"/>
                  </a:lnTo>
                  <a:lnTo>
                    <a:pt x="1706409" y="693726"/>
                  </a:lnTo>
                  <a:lnTo>
                    <a:pt x="1748633" y="675669"/>
                  </a:lnTo>
                  <a:lnTo>
                    <a:pt x="1783578" y="653715"/>
                  </a:lnTo>
                  <a:lnTo>
                    <a:pt x="1827037" y="600499"/>
                  </a:lnTo>
                  <a:lnTo>
                    <a:pt x="1833253" y="570429"/>
                  </a:lnTo>
                  <a:lnTo>
                    <a:pt x="1874972" y="565826"/>
                  </a:lnTo>
                  <a:lnTo>
                    <a:pt x="1915068" y="558478"/>
                  </a:lnTo>
                  <a:lnTo>
                    <a:pt x="1953058" y="548492"/>
                  </a:lnTo>
                  <a:lnTo>
                    <a:pt x="2037403" y="511670"/>
                  </a:lnTo>
                  <a:lnTo>
                    <a:pt x="2075037" y="483571"/>
                  </a:lnTo>
                  <a:lnTo>
                    <a:pt x="2101111" y="452665"/>
                  </a:lnTo>
                  <a:lnTo>
                    <a:pt x="2117603" y="386379"/>
                  </a:lnTo>
                  <a:lnTo>
                    <a:pt x="2107530" y="352972"/>
                  </a:lnTo>
                  <a:lnTo>
                    <a:pt x="2084916" y="320706"/>
                  </a:lnTo>
                  <a:lnTo>
                    <a:pt x="2049515" y="290566"/>
                  </a:lnTo>
                  <a:lnTo>
                    <a:pt x="2054295" y="284676"/>
                  </a:lnTo>
                  <a:lnTo>
                    <a:pt x="2058295" y="278616"/>
                  </a:lnTo>
                  <a:lnTo>
                    <a:pt x="2061482" y="272431"/>
                  </a:lnTo>
                  <a:lnTo>
                    <a:pt x="2070564" y="240929"/>
                  </a:lnTo>
                  <a:lnTo>
                    <a:pt x="2066047" y="210163"/>
                  </a:lnTo>
                  <a:lnTo>
                    <a:pt x="2020620" y="154902"/>
                  </a:lnTo>
                  <a:lnTo>
                    <a:pt x="1981914" y="132442"/>
                  </a:lnTo>
                  <a:lnTo>
                    <a:pt x="1934014" y="114786"/>
                  </a:lnTo>
                  <a:lnTo>
                    <a:pt x="1878021" y="102952"/>
                  </a:lnTo>
                  <a:lnTo>
                    <a:pt x="1867264" y="82075"/>
                  </a:lnTo>
                  <a:lnTo>
                    <a:pt x="1826643" y="45006"/>
                  </a:lnTo>
                  <a:lnTo>
                    <a:pt x="1752006" y="13609"/>
                  </a:lnTo>
                  <a:lnTo>
                    <a:pt x="1702222" y="3756"/>
                  </a:lnTo>
                  <a:lnTo>
                    <a:pt x="1650353" y="0"/>
                  </a:lnTo>
                  <a:close/>
                </a:path>
              </a:pathLst>
            </a:custGeom>
            <a:solidFill>
              <a:srgbClr val="FF0000">
                <a:alpha val="309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50920" y="2961185"/>
              <a:ext cx="2117725" cy="820419"/>
            </a:xfrm>
            <a:custGeom>
              <a:avLst/>
              <a:gdLst/>
              <a:ahLst/>
              <a:cxnLst/>
              <a:rect l="l" t="t" r="r" b="b"/>
              <a:pathLst>
                <a:path w="2117725" h="820420">
                  <a:moveTo>
                    <a:pt x="191737" y="269882"/>
                  </a:moveTo>
                  <a:lnTo>
                    <a:pt x="196687" y="208096"/>
                  </a:lnTo>
                  <a:lnTo>
                    <a:pt x="240109" y="152983"/>
                  </a:lnTo>
                  <a:lnTo>
                    <a:pt x="274247" y="129316"/>
                  </a:lnTo>
                  <a:lnTo>
                    <a:pt x="315603" y="108981"/>
                  </a:lnTo>
                  <a:lnTo>
                    <a:pt x="363377" y="92532"/>
                  </a:lnTo>
                  <a:lnTo>
                    <a:pt x="416770" y="80525"/>
                  </a:lnTo>
                  <a:lnTo>
                    <a:pt x="474981" y="73514"/>
                  </a:lnTo>
                  <a:lnTo>
                    <a:pt x="530050" y="72009"/>
                  </a:lnTo>
                  <a:lnTo>
                    <a:pt x="584460" y="75309"/>
                  </a:lnTo>
                  <a:lnTo>
                    <a:pt x="637093" y="83297"/>
                  </a:lnTo>
                  <a:lnTo>
                    <a:pt x="686829" y="95853"/>
                  </a:lnTo>
                  <a:lnTo>
                    <a:pt x="716219" y="72616"/>
                  </a:lnTo>
                  <a:lnTo>
                    <a:pt x="752673" y="53519"/>
                  </a:lnTo>
                  <a:lnTo>
                    <a:pt x="794768" y="38792"/>
                  </a:lnTo>
                  <a:lnTo>
                    <a:pt x="841086" y="28664"/>
                  </a:lnTo>
                  <a:lnTo>
                    <a:pt x="890203" y="23365"/>
                  </a:lnTo>
                  <a:lnTo>
                    <a:pt x="940701" y="23125"/>
                  </a:lnTo>
                  <a:lnTo>
                    <a:pt x="991158" y="28173"/>
                  </a:lnTo>
                  <a:lnTo>
                    <a:pt x="1040153" y="38740"/>
                  </a:lnTo>
                  <a:lnTo>
                    <a:pt x="1086932" y="55517"/>
                  </a:lnTo>
                  <a:lnTo>
                    <a:pt x="1100872" y="62255"/>
                  </a:lnTo>
                  <a:lnTo>
                    <a:pt x="1133086" y="37209"/>
                  </a:lnTo>
                  <a:lnTo>
                    <a:pt x="1175181" y="18165"/>
                  </a:lnTo>
                  <a:lnTo>
                    <a:pt x="1224425" y="5604"/>
                  </a:lnTo>
                  <a:lnTo>
                    <a:pt x="1278083" y="8"/>
                  </a:lnTo>
                  <a:lnTo>
                    <a:pt x="1333421" y="1862"/>
                  </a:lnTo>
                  <a:lnTo>
                    <a:pt x="1387705" y="11646"/>
                  </a:lnTo>
                  <a:lnTo>
                    <a:pt x="1428538" y="25666"/>
                  </a:lnTo>
                  <a:lnTo>
                    <a:pt x="1462299" y="44199"/>
                  </a:lnTo>
                  <a:lnTo>
                    <a:pt x="1502373" y="24440"/>
                  </a:lnTo>
                  <a:lnTo>
                    <a:pt x="1548416" y="10429"/>
                  </a:lnTo>
                  <a:lnTo>
                    <a:pt x="1598414" y="2253"/>
                  </a:lnTo>
                  <a:lnTo>
                    <a:pt x="1650354" y="0"/>
                  </a:lnTo>
                  <a:lnTo>
                    <a:pt x="1702222" y="3756"/>
                  </a:lnTo>
                  <a:lnTo>
                    <a:pt x="1752006" y="13609"/>
                  </a:lnTo>
                  <a:lnTo>
                    <a:pt x="1797692" y="29647"/>
                  </a:lnTo>
                  <a:lnTo>
                    <a:pt x="1849986" y="62621"/>
                  </a:lnTo>
                  <a:lnTo>
                    <a:pt x="1878021" y="102951"/>
                  </a:lnTo>
                  <a:lnTo>
                    <a:pt x="1934014" y="114786"/>
                  </a:lnTo>
                  <a:lnTo>
                    <a:pt x="1981914" y="132442"/>
                  </a:lnTo>
                  <a:lnTo>
                    <a:pt x="2020620" y="154902"/>
                  </a:lnTo>
                  <a:lnTo>
                    <a:pt x="2049032" y="181147"/>
                  </a:lnTo>
                  <a:lnTo>
                    <a:pt x="2070564" y="240929"/>
                  </a:lnTo>
                  <a:lnTo>
                    <a:pt x="2061482" y="272431"/>
                  </a:lnTo>
                  <a:lnTo>
                    <a:pt x="2058294" y="278616"/>
                  </a:lnTo>
                  <a:lnTo>
                    <a:pt x="2054296" y="284676"/>
                  </a:lnTo>
                  <a:lnTo>
                    <a:pt x="2049516" y="290567"/>
                  </a:lnTo>
                  <a:lnTo>
                    <a:pt x="2084916" y="320706"/>
                  </a:lnTo>
                  <a:lnTo>
                    <a:pt x="2107530" y="352972"/>
                  </a:lnTo>
                  <a:lnTo>
                    <a:pt x="2117603" y="386379"/>
                  </a:lnTo>
                  <a:lnTo>
                    <a:pt x="2115382" y="419939"/>
                  </a:lnTo>
                  <a:lnTo>
                    <a:pt x="2075037" y="483571"/>
                  </a:lnTo>
                  <a:lnTo>
                    <a:pt x="2037404" y="511670"/>
                  </a:lnTo>
                  <a:lnTo>
                    <a:pt x="1988458" y="535975"/>
                  </a:lnTo>
                  <a:lnTo>
                    <a:pt x="1915068" y="558478"/>
                  </a:lnTo>
                  <a:lnTo>
                    <a:pt x="1874972" y="565826"/>
                  </a:lnTo>
                  <a:lnTo>
                    <a:pt x="1833253" y="570429"/>
                  </a:lnTo>
                  <a:lnTo>
                    <a:pt x="1827037" y="600499"/>
                  </a:lnTo>
                  <a:lnTo>
                    <a:pt x="1783578" y="653715"/>
                  </a:lnTo>
                  <a:lnTo>
                    <a:pt x="1748633" y="675669"/>
                  </a:lnTo>
                  <a:lnTo>
                    <a:pt x="1706410" y="693727"/>
                  </a:lnTo>
                  <a:lnTo>
                    <a:pt x="1658057" y="707291"/>
                  </a:lnTo>
                  <a:lnTo>
                    <a:pt x="1604723" y="715767"/>
                  </a:lnTo>
                  <a:lnTo>
                    <a:pt x="1547558" y="718560"/>
                  </a:lnTo>
                  <a:lnTo>
                    <a:pt x="1508636" y="716979"/>
                  </a:lnTo>
                  <a:lnTo>
                    <a:pt x="1470672" y="712622"/>
                  </a:lnTo>
                  <a:lnTo>
                    <a:pt x="1434195" y="705571"/>
                  </a:lnTo>
                  <a:lnTo>
                    <a:pt x="1399736" y="695906"/>
                  </a:lnTo>
                  <a:lnTo>
                    <a:pt x="1377404" y="725183"/>
                  </a:lnTo>
                  <a:lnTo>
                    <a:pt x="1346478" y="751152"/>
                  </a:lnTo>
                  <a:lnTo>
                    <a:pt x="1308125" y="773484"/>
                  </a:lnTo>
                  <a:lnTo>
                    <a:pt x="1263509" y="791849"/>
                  </a:lnTo>
                  <a:lnTo>
                    <a:pt x="1213795" y="805917"/>
                  </a:lnTo>
                  <a:lnTo>
                    <a:pt x="1160149" y="815359"/>
                  </a:lnTo>
                  <a:lnTo>
                    <a:pt x="1103734" y="819846"/>
                  </a:lnTo>
                  <a:lnTo>
                    <a:pt x="1045715" y="819047"/>
                  </a:lnTo>
                  <a:lnTo>
                    <a:pt x="987259" y="812633"/>
                  </a:lnTo>
                  <a:lnTo>
                    <a:pt x="934334" y="801447"/>
                  </a:lnTo>
                  <a:lnTo>
                    <a:pt x="886159" y="785753"/>
                  </a:lnTo>
                  <a:lnTo>
                    <a:pt x="843745" y="765949"/>
                  </a:lnTo>
                  <a:lnTo>
                    <a:pt x="808106" y="742430"/>
                  </a:lnTo>
                  <a:lnTo>
                    <a:pt x="758089" y="755806"/>
                  </a:lnTo>
                  <a:lnTo>
                    <a:pt x="706230" y="764946"/>
                  </a:lnTo>
                  <a:lnTo>
                    <a:pt x="653331" y="769955"/>
                  </a:lnTo>
                  <a:lnTo>
                    <a:pt x="600196" y="770939"/>
                  </a:lnTo>
                  <a:lnTo>
                    <a:pt x="547627" y="768003"/>
                  </a:lnTo>
                  <a:lnTo>
                    <a:pt x="496427" y="761254"/>
                  </a:lnTo>
                  <a:lnTo>
                    <a:pt x="447399" y="750798"/>
                  </a:lnTo>
                  <a:lnTo>
                    <a:pt x="401346" y="736739"/>
                  </a:lnTo>
                  <a:lnTo>
                    <a:pt x="359071" y="719185"/>
                  </a:lnTo>
                  <a:lnTo>
                    <a:pt x="321376" y="698241"/>
                  </a:lnTo>
                  <a:lnTo>
                    <a:pt x="289065" y="674012"/>
                  </a:lnTo>
                  <a:lnTo>
                    <a:pt x="285067" y="670408"/>
                  </a:lnTo>
                  <a:lnTo>
                    <a:pt x="227778" y="669904"/>
                  </a:lnTo>
                  <a:lnTo>
                    <a:pt x="174587" y="661785"/>
                  </a:lnTo>
                  <a:lnTo>
                    <a:pt x="127756" y="646989"/>
                  </a:lnTo>
                  <a:lnTo>
                    <a:pt x="89542" y="626456"/>
                  </a:lnTo>
                  <a:lnTo>
                    <a:pt x="48008" y="571932"/>
                  </a:lnTo>
                  <a:lnTo>
                    <a:pt x="47655" y="547430"/>
                  </a:lnTo>
                  <a:lnTo>
                    <a:pt x="57246" y="523738"/>
                  </a:lnTo>
                  <a:lnTo>
                    <a:pt x="76269" y="501678"/>
                  </a:lnTo>
                  <a:lnTo>
                    <a:pt x="104210" y="482070"/>
                  </a:lnTo>
                  <a:lnTo>
                    <a:pt x="51632" y="459080"/>
                  </a:lnTo>
                  <a:lnTo>
                    <a:pt x="16477" y="429601"/>
                  </a:lnTo>
                  <a:lnTo>
                    <a:pt x="0" y="396177"/>
                  </a:lnTo>
                  <a:lnTo>
                    <a:pt x="3453" y="361349"/>
                  </a:lnTo>
                  <a:lnTo>
                    <a:pt x="28090" y="327662"/>
                  </a:lnTo>
                  <a:lnTo>
                    <a:pt x="96574" y="289797"/>
                  </a:lnTo>
                  <a:lnTo>
                    <a:pt x="141019" y="278257"/>
                  </a:lnTo>
                  <a:lnTo>
                    <a:pt x="189954" y="272436"/>
                  </a:lnTo>
                  <a:lnTo>
                    <a:pt x="191737" y="269882"/>
                  </a:lnTo>
                  <a:close/>
                </a:path>
                <a:path w="2117725" h="820420">
                  <a:moveTo>
                    <a:pt x="230589" y="494005"/>
                  </a:moveTo>
                  <a:lnTo>
                    <a:pt x="198196" y="494032"/>
                  </a:lnTo>
                  <a:lnTo>
                    <a:pt x="166351" y="491476"/>
                  </a:lnTo>
                  <a:lnTo>
                    <a:pt x="135597" y="486401"/>
                  </a:lnTo>
                  <a:lnTo>
                    <a:pt x="106481" y="478876"/>
                  </a:lnTo>
                </a:path>
                <a:path w="2117725" h="820420">
                  <a:moveTo>
                    <a:pt x="340091" y="659569"/>
                  </a:moveTo>
                  <a:lnTo>
                    <a:pt x="326878" y="662081"/>
                  </a:lnTo>
                  <a:lnTo>
                    <a:pt x="313394" y="664129"/>
                  </a:lnTo>
                  <a:lnTo>
                    <a:pt x="299684" y="665707"/>
                  </a:lnTo>
                  <a:lnTo>
                    <a:pt x="285791" y="666809"/>
                  </a:lnTo>
                </a:path>
                <a:path w="2117725" h="820420">
                  <a:moveTo>
                    <a:pt x="807985" y="739123"/>
                  </a:moveTo>
                  <a:lnTo>
                    <a:pt x="798562" y="731222"/>
                  </a:lnTo>
                  <a:lnTo>
                    <a:pt x="789957" y="723071"/>
                  </a:lnTo>
                  <a:lnTo>
                    <a:pt x="782186" y="714689"/>
                  </a:lnTo>
                  <a:lnTo>
                    <a:pt x="775267" y="706094"/>
                  </a:lnTo>
                </a:path>
                <a:path w="2117725" h="820420">
                  <a:moveTo>
                    <a:pt x="1413014" y="656759"/>
                  </a:moveTo>
                  <a:lnTo>
                    <a:pt x="1411110" y="665947"/>
                  </a:lnTo>
                  <a:lnTo>
                    <a:pt x="1408294" y="675063"/>
                  </a:lnTo>
                  <a:lnTo>
                    <a:pt x="1404571" y="684088"/>
                  </a:lnTo>
                  <a:lnTo>
                    <a:pt x="1399949" y="693002"/>
                  </a:lnTo>
                </a:path>
                <a:path w="2117725" h="820420">
                  <a:moveTo>
                    <a:pt x="1672781" y="432825"/>
                  </a:moveTo>
                  <a:lnTo>
                    <a:pt x="1727142" y="451066"/>
                  </a:lnTo>
                  <a:lnTo>
                    <a:pt x="1771531" y="474817"/>
                  </a:lnTo>
                  <a:lnTo>
                    <a:pt x="1804668" y="502994"/>
                  </a:lnTo>
                  <a:lnTo>
                    <a:pt x="1825278" y="534509"/>
                  </a:lnTo>
                  <a:lnTo>
                    <a:pt x="1832081" y="568276"/>
                  </a:lnTo>
                </a:path>
                <a:path w="2117725" h="820420">
                  <a:moveTo>
                    <a:pt x="2048516" y="288560"/>
                  </a:moveTo>
                  <a:lnTo>
                    <a:pt x="2035048" y="302822"/>
                  </a:lnTo>
                  <a:lnTo>
                    <a:pt x="2018617" y="316126"/>
                  </a:lnTo>
                  <a:lnTo>
                    <a:pt x="1999403" y="328345"/>
                  </a:lnTo>
                  <a:lnTo>
                    <a:pt x="1977584" y="339351"/>
                  </a:lnTo>
                </a:path>
                <a:path w="2117725" h="820420">
                  <a:moveTo>
                    <a:pt x="1878311" y="100104"/>
                  </a:moveTo>
                  <a:lnTo>
                    <a:pt x="1881021" y="108018"/>
                  </a:lnTo>
                  <a:lnTo>
                    <a:pt x="1882275" y="116051"/>
                  </a:lnTo>
                  <a:lnTo>
                    <a:pt x="1882055" y="124091"/>
                  </a:lnTo>
                </a:path>
                <a:path w="2117725" h="820420">
                  <a:moveTo>
                    <a:pt x="1425311" y="72124"/>
                  </a:moveTo>
                  <a:lnTo>
                    <a:pt x="1432798" y="63972"/>
                  </a:lnTo>
                  <a:lnTo>
                    <a:pt x="1441374" y="56137"/>
                  </a:lnTo>
                  <a:lnTo>
                    <a:pt x="1451003" y="48647"/>
                  </a:lnTo>
                  <a:lnTo>
                    <a:pt x="1461649" y="41533"/>
                  </a:lnTo>
                </a:path>
                <a:path w="2117725" h="820420">
                  <a:moveTo>
                    <a:pt x="1085438" y="86703"/>
                  </a:moveTo>
                  <a:lnTo>
                    <a:pt x="1088666" y="79900"/>
                  </a:lnTo>
                  <a:lnTo>
                    <a:pt x="1092683" y="73223"/>
                  </a:lnTo>
                  <a:lnTo>
                    <a:pt x="1097479" y="66690"/>
                  </a:lnTo>
                  <a:lnTo>
                    <a:pt x="1103039" y="60320"/>
                  </a:lnTo>
                </a:path>
                <a:path w="2117725" h="820420">
                  <a:moveTo>
                    <a:pt x="686577" y="95662"/>
                  </a:moveTo>
                  <a:lnTo>
                    <a:pt x="703582" y="101288"/>
                  </a:lnTo>
                  <a:lnTo>
                    <a:pt x="719894" y="107440"/>
                  </a:lnTo>
                  <a:lnTo>
                    <a:pt x="735469" y="114103"/>
                  </a:lnTo>
                  <a:lnTo>
                    <a:pt x="750263" y="121258"/>
                  </a:lnTo>
                </a:path>
                <a:path w="2117725" h="820420">
                  <a:moveTo>
                    <a:pt x="202858" y="296817"/>
                  </a:moveTo>
                  <a:lnTo>
                    <a:pt x="199324" y="290176"/>
                  </a:lnTo>
                  <a:lnTo>
                    <a:pt x="196291" y="283469"/>
                  </a:lnTo>
                  <a:lnTo>
                    <a:pt x="193763" y="276703"/>
                  </a:lnTo>
                  <a:lnTo>
                    <a:pt x="191744" y="269888"/>
                  </a:lnTo>
                </a:path>
              </a:pathLst>
            </a:custGeom>
            <a:ln w="9857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700333" y="3103760"/>
            <a:ext cx="106997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151515"/>
                </a:solidFill>
                <a:latin typeface="Calibri"/>
                <a:cs typeface="Calibri"/>
              </a:rPr>
              <a:t>Irritation,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40409" y="3420752"/>
            <a:ext cx="119062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" b="1">
                <a:solidFill>
                  <a:srgbClr val="151515"/>
                </a:solidFill>
                <a:latin typeface="Calibri"/>
                <a:cs typeface="Calibri"/>
              </a:rPr>
              <a:t>frustration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611960" y="1794153"/>
            <a:ext cx="2992120" cy="2810510"/>
            <a:chOff x="1611960" y="1794153"/>
            <a:chExt cx="2992120" cy="2810510"/>
          </a:xfrm>
        </p:grpSpPr>
        <p:sp>
          <p:nvSpPr>
            <p:cNvPr id="25" name="object 25"/>
            <p:cNvSpPr/>
            <p:nvPr/>
          </p:nvSpPr>
          <p:spPr>
            <a:xfrm>
              <a:off x="1617040" y="2361070"/>
              <a:ext cx="596265" cy="2238375"/>
            </a:xfrm>
            <a:custGeom>
              <a:avLst/>
              <a:gdLst/>
              <a:ahLst/>
              <a:cxnLst/>
              <a:rect l="l" t="t" r="r" b="b"/>
              <a:pathLst>
                <a:path w="596264" h="2238375">
                  <a:moveTo>
                    <a:pt x="291433" y="0"/>
                  </a:moveTo>
                  <a:lnTo>
                    <a:pt x="263543" y="6832"/>
                  </a:lnTo>
                  <a:lnTo>
                    <a:pt x="236468" y="30876"/>
                  </a:lnTo>
                  <a:lnTo>
                    <a:pt x="211279" y="72519"/>
                  </a:lnTo>
                  <a:lnTo>
                    <a:pt x="206995" y="67467"/>
                  </a:lnTo>
                  <a:lnTo>
                    <a:pt x="202590" y="63242"/>
                  </a:lnTo>
                  <a:lnTo>
                    <a:pt x="198093" y="59874"/>
                  </a:lnTo>
                  <a:lnTo>
                    <a:pt x="171401" y="50106"/>
                  </a:lnTo>
                  <a:lnTo>
                    <a:pt x="145605" y="59634"/>
                  </a:lnTo>
                  <a:lnTo>
                    <a:pt x="121878" y="86610"/>
                  </a:lnTo>
                  <a:lnTo>
                    <a:pt x="101394" y="129185"/>
                  </a:lnTo>
                  <a:lnTo>
                    <a:pt x="85330" y="185511"/>
                  </a:lnTo>
                  <a:lnTo>
                    <a:pt x="74858" y="253742"/>
                  </a:lnTo>
                  <a:lnTo>
                    <a:pt x="59679" y="265109"/>
                  </a:lnTo>
                  <a:lnTo>
                    <a:pt x="32726" y="308034"/>
                  </a:lnTo>
                  <a:lnTo>
                    <a:pt x="9896" y="386905"/>
                  </a:lnTo>
                  <a:lnTo>
                    <a:pt x="2731" y="439513"/>
                  </a:lnTo>
                  <a:lnTo>
                    <a:pt x="0" y="494323"/>
                  </a:lnTo>
                  <a:lnTo>
                    <a:pt x="1638" y="549210"/>
                  </a:lnTo>
                  <a:lnTo>
                    <a:pt x="7583" y="602044"/>
                  </a:lnTo>
                  <a:lnTo>
                    <a:pt x="17771" y="650698"/>
                  </a:lnTo>
                  <a:lnTo>
                    <a:pt x="32138" y="693046"/>
                  </a:lnTo>
                  <a:lnTo>
                    <a:pt x="25020" y="709853"/>
                  </a:lnTo>
                  <a:lnTo>
                    <a:pt x="13126" y="749459"/>
                  </a:lnTo>
                  <a:lnTo>
                    <a:pt x="1354" y="829234"/>
                  </a:lnTo>
                  <a:lnTo>
                    <a:pt x="6" y="887711"/>
                  </a:lnTo>
                  <a:lnTo>
                    <a:pt x="4075" y="944413"/>
                  </a:lnTo>
                  <a:lnTo>
                    <a:pt x="13208" y="996450"/>
                  </a:lnTo>
                  <a:lnTo>
                    <a:pt x="27056" y="1040934"/>
                  </a:lnTo>
                  <a:lnTo>
                    <a:pt x="45267" y="1074975"/>
                  </a:lnTo>
                  <a:lnTo>
                    <a:pt x="40368" y="1089706"/>
                  </a:lnTo>
                  <a:lnTo>
                    <a:pt x="28169" y="1139139"/>
                  </a:lnTo>
                  <a:lnTo>
                    <a:pt x="20486" y="1190913"/>
                  </a:lnTo>
                  <a:lnTo>
                    <a:pt x="16815" y="1244231"/>
                  </a:lnTo>
                  <a:lnTo>
                    <a:pt x="16990" y="1297593"/>
                  </a:lnTo>
                  <a:lnTo>
                    <a:pt x="20843" y="1349497"/>
                  </a:lnTo>
                  <a:lnTo>
                    <a:pt x="28207" y="1398441"/>
                  </a:lnTo>
                  <a:lnTo>
                    <a:pt x="38915" y="1442925"/>
                  </a:lnTo>
                  <a:lnTo>
                    <a:pt x="52801" y="1481446"/>
                  </a:lnTo>
                  <a:lnTo>
                    <a:pt x="69697" y="1512504"/>
                  </a:lnTo>
                  <a:lnTo>
                    <a:pt x="60567" y="1565061"/>
                  </a:lnTo>
                  <a:lnTo>
                    <a:pt x="54759" y="1620679"/>
                  </a:lnTo>
                  <a:lnTo>
                    <a:pt x="52360" y="1678176"/>
                  </a:lnTo>
                  <a:lnTo>
                    <a:pt x="53454" y="1736369"/>
                  </a:lnTo>
                  <a:lnTo>
                    <a:pt x="59453" y="1805230"/>
                  </a:lnTo>
                  <a:lnTo>
                    <a:pt x="69986" y="1867514"/>
                  </a:lnTo>
                  <a:lnTo>
                    <a:pt x="84478" y="1922016"/>
                  </a:lnTo>
                  <a:lnTo>
                    <a:pt x="102356" y="1967533"/>
                  </a:lnTo>
                  <a:lnTo>
                    <a:pt x="123045" y="2002862"/>
                  </a:lnTo>
                  <a:lnTo>
                    <a:pt x="170561" y="2038139"/>
                  </a:lnTo>
                  <a:lnTo>
                    <a:pt x="196239" y="2035680"/>
                  </a:lnTo>
                  <a:lnTo>
                    <a:pt x="198095" y="2037565"/>
                  </a:lnTo>
                  <a:lnTo>
                    <a:pt x="202329" y="2089275"/>
                  </a:lnTo>
                  <a:lnTo>
                    <a:pt x="210720" y="2136240"/>
                  </a:lnTo>
                  <a:lnTo>
                    <a:pt x="222838" y="2176629"/>
                  </a:lnTo>
                  <a:lnTo>
                    <a:pt x="262747" y="2234645"/>
                  </a:lnTo>
                  <a:lnTo>
                    <a:pt x="288072" y="2238294"/>
                  </a:lnTo>
                  <a:lnTo>
                    <a:pt x="312376" y="2220882"/>
                  </a:lnTo>
                  <a:lnTo>
                    <a:pt x="333811" y="2183733"/>
                  </a:lnTo>
                  <a:lnTo>
                    <a:pt x="350527" y="2128172"/>
                  </a:lnTo>
                  <a:lnTo>
                    <a:pt x="364784" y="2157698"/>
                  </a:lnTo>
                  <a:lnTo>
                    <a:pt x="380825" y="2177800"/>
                  </a:lnTo>
                  <a:lnTo>
                    <a:pt x="398052" y="2187936"/>
                  </a:lnTo>
                  <a:lnTo>
                    <a:pt x="415869" y="2187562"/>
                  </a:lnTo>
                  <a:lnTo>
                    <a:pt x="455514" y="2143672"/>
                  </a:lnTo>
                  <a:lnTo>
                    <a:pt x="470444" y="2103291"/>
                  </a:lnTo>
                  <a:lnTo>
                    <a:pt x="481203" y="2053802"/>
                  </a:lnTo>
                  <a:lnTo>
                    <a:pt x="487107" y="1997595"/>
                  </a:lnTo>
                  <a:lnTo>
                    <a:pt x="487474" y="1937056"/>
                  </a:lnTo>
                  <a:lnTo>
                    <a:pt x="488353" y="1935673"/>
                  </a:lnTo>
                  <a:lnTo>
                    <a:pt x="507711" y="1898687"/>
                  </a:lnTo>
                  <a:lnTo>
                    <a:pt x="522940" y="1858854"/>
                  </a:lnTo>
                  <a:lnTo>
                    <a:pt x="535705" y="1814181"/>
                  </a:lnTo>
                  <a:lnTo>
                    <a:pt x="545927" y="1765516"/>
                  </a:lnTo>
                  <a:lnTo>
                    <a:pt x="553530" y="1713707"/>
                  </a:lnTo>
                  <a:lnTo>
                    <a:pt x="558437" y="1659603"/>
                  </a:lnTo>
                  <a:lnTo>
                    <a:pt x="560572" y="1604052"/>
                  </a:lnTo>
                  <a:lnTo>
                    <a:pt x="559857" y="1547902"/>
                  </a:lnTo>
                  <a:lnTo>
                    <a:pt x="556214" y="1492003"/>
                  </a:lnTo>
                  <a:lnTo>
                    <a:pt x="549569" y="1437202"/>
                  </a:lnTo>
                  <a:lnTo>
                    <a:pt x="539842" y="1384348"/>
                  </a:lnTo>
                  <a:lnTo>
                    <a:pt x="556944" y="1346687"/>
                  </a:lnTo>
                  <a:lnTo>
                    <a:pt x="571344" y="1301868"/>
                  </a:lnTo>
                  <a:lnTo>
                    <a:pt x="582755" y="1250959"/>
                  </a:lnTo>
                  <a:lnTo>
                    <a:pt x="590889" y="1195032"/>
                  </a:lnTo>
                  <a:lnTo>
                    <a:pt x="595553" y="1133259"/>
                  </a:lnTo>
                  <a:lnTo>
                    <a:pt x="596134" y="1071950"/>
                  </a:lnTo>
                  <a:lnTo>
                    <a:pt x="592872" y="1012335"/>
                  </a:lnTo>
                  <a:lnTo>
                    <a:pt x="586006" y="955645"/>
                  </a:lnTo>
                  <a:lnTo>
                    <a:pt x="575777" y="903111"/>
                  </a:lnTo>
                  <a:lnTo>
                    <a:pt x="562423" y="855965"/>
                  </a:lnTo>
                  <a:lnTo>
                    <a:pt x="546184" y="815436"/>
                  </a:lnTo>
                  <a:lnTo>
                    <a:pt x="506013" y="759157"/>
                  </a:lnTo>
                  <a:lnTo>
                    <a:pt x="513041" y="722744"/>
                  </a:lnTo>
                  <a:lnTo>
                    <a:pt x="518168" y="684198"/>
                  </a:lnTo>
                  <a:lnTo>
                    <a:pt x="521337" y="644080"/>
                  </a:lnTo>
                  <a:lnTo>
                    <a:pt x="522486" y="602951"/>
                  </a:lnTo>
                  <a:lnTo>
                    <a:pt x="519818" y="534216"/>
                  </a:lnTo>
                  <a:lnTo>
                    <a:pt x="511833" y="470995"/>
                  </a:lnTo>
                  <a:lnTo>
                    <a:pt x="499176" y="415102"/>
                  </a:lnTo>
                  <a:lnTo>
                    <a:pt x="482496" y="368349"/>
                  </a:lnTo>
                  <a:lnTo>
                    <a:pt x="462438" y="332548"/>
                  </a:lnTo>
                  <a:lnTo>
                    <a:pt x="414775" y="301049"/>
                  </a:lnTo>
                  <a:lnTo>
                    <a:pt x="411429" y="256964"/>
                  </a:lnTo>
                  <a:lnTo>
                    <a:pt x="406086" y="214593"/>
                  </a:lnTo>
                  <a:lnTo>
                    <a:pt x="398825" y="174448"/>
                  </a:lnTo>
                  <a:lnTo>
                    <a:pt x="389723" y="137040"/>
                  </a:lnTo>
                  <a:lnTo>
                    <a:pt x="369284" y="78899"/>
                  </a:lnTo>
                  <a:lnTo>
                    <a:pt x="345375" y="36420"/>
                  </a:lnTo>
                  <a:lnTo>
                    <a:pt x="319068" y="9991"/>
                  </a:lnTo>
                  <a:lnTo>
                    <a:pt x="291433" y="0"/>
                  </a:lnTo>
                  <a:close/>
                </a:path>
              </a:pathLst>
            </a:custGeom>
            <a:solidFill>
              <a:srgbClr val="FF0000">
                <a:alpha val="309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617040" y="2361070"/>
              <a:ext cx="596265" cy="2238375"/>
            </a:xfrm>
            <a:custGeom>
              <a:avLst/>
              <a:gdLst/>
              <a:ahLst/>
              <a:cxnLst/>
              <a:rect l="l" t="t" r="r" b="b"/>
              <a:pathLst>
                <a:path w="596264" h="2238375">
                  <a:moveTo>
                    <a:pt x="196239" y="2035681"/>
                  </a:moveTo>
                  <a:lnTo>
                    <a:pt x="145972" y="2026799"/>
                  </a:lnTo>
                  <a:lnTo>
                    <a:pt x="102356" y="1967534"/>
                  </a:lnTo>
                  <a:lnTo>
                    <a:pt x="84478" y="1922017"/>
                  </a:lnTo>
                  <a:lnTo>
                    <a:pt x="69986" y="1867515"/>
                  </a:lnTo>
                  <a:lnTo>
                    <a:pt x="59453" y="1805231"/>
                  </a:lnTo>
                  <a:lnTo>
                    <a:pt x="53454" y="1736370"/>
                  </a:lnTo>
                  <a:lnTo>
                    <a:pt x="52360" y="1678177"/>
                  </a:lnTo>
                  <a:lnTo>
                    <a:pt x="54760" y="1620680"/>
                  </a:lnTo>
                  <a:lnTo>
                    <a:pt x="60567" y="1565062"/>
                  </a:lnTo>
                  <a:lnTo>
                    <a:pt x="69697" y="1512505"/>
                  </a:lnTo>
                  <a:lnTo>
                    <a:pt x="52801" y="1481447"/>
                  </a:lnTo>
                  <a:lnTo>
                    <a:pt x="38915" y="1442926"/>
                  </a:lnTo>
                  <a:lnTo>
                    <a:pt x="28206" y="1398442"/>
                  </a:lnTo>
                  <a:lnTo>
                    <a:pt x="20842" y="1349498"/>
                  </a:lnTo>
                  <a:lnTo>
                    <a:pt x="16989" y="1297594"/>
                  </a:lnTo>
                  <a:lnTo>
                    <a:pt x="16815" y="1244232"/>
                  </a:lnTo>
                  <a:lnTo>
                    <a:pt x="20486" y="1190913"/>
                  </a:lnTo>
                  <a:lnTo>
                    <a:pt x="28169" y="1139139"/>
                  </a:lnTo>
                  <a:lnTo>
                    <a:pt x="40368" y="1089706"/>
                  </a:lnTo>
                  <a:lnTo>
                    <a:pt x="45267" y="1074974"/>
                  </a:lnTo>
                  <a:lnTo>
                    <a:pt x="27056" y="1040933"/>
                  </a:lnTo>
                  <a:lnTo>
                    <a:pt x="13208" y="996450"/>
                  </a:lnTo>
                  <a:lnTo>
                    <a:pt x="4074" y="944413"/>
                  </a:lnTo>
                  <a:lnTo>
                    <a:pt x="6" y="887711"/>
                  </a:lnTo>
                  <a:lnTo>
                    <a:pt x="1354" y="829234"/>
                  </a:lnTo>
                  <a:lnTo>
                    <a:pt x="8468" y="771871"/>
                  </a:lnTo>
                  <a:lnTo>
                    <a:pt x="18662" y="728722"/>
                  </a:lnTo>
                  <a:lnTo>
                    <a:pt x="32138" y="693047"/>
                  </a:lnTo>
                  <a:lnTo>
                    <a:pt x="17771" y="650699"/>
                  </a:lnTo>
                  <a:lnTo>
                    <a:pt x="7583" y="602044"/>
                  </a:lnTo>
                  <a:lnTo>
                    <a:pt x="1638" y="549210"/>
                  </a:lnTo>
                  <a:lnTo>
                    <a:pt x="0" y="494324"/>
                  </a:lnTo>
                  <a:lnTo>
                    <a:pt x="2731" y="439513"/>
                  </a:lnTo>
                  <a:lnTo>
                    <a:pt x="9896" y="386905"/>
                  </a:lnTo>
                  <a:lnTo>
                    <a:pt x="21557" y="338627"/>
                  </a:lnTo>
                  <a:lnTo>
                    <a:pt x="45533" y="283368"/>
                  </a:lnTo>
                  <a:lnTo>
                    <a:pt x="74859" y="253742"/>
                  </a:lnTo>
                  <a:lnTo>
                    <a:pt x="85330" y="185512"/>
                  </a:lnTo>
                  <a:lnTo>
                    <a:pt x="101394" y="129185"/>
                  </a:lnTo>
                  <a:lnTo>
                    <a:pt x="121878" y="86610"/>
                  </a:lnTo>
                  <a:lnTo>
                    <a:pt x="145605" y="59635"/>
                  </a:lnTo>
                  <a:lnTo>
                    <a:pt x="171401" y="50107"/>
                  </a:lnTo>
                  <a:lnTo>
                    <a:pt x="198092" y="59875"/>
                  </a:lnTo>
                  <a:lnTo>
                    <a:pt x="202590" y="63242"/>
                  </a:lnTo>
                  <a:lnTo>
                    <a:pt x="206996" y="67468"/>
                  </a:lnTo>
                  <a:lnTo>
                    <a:pt x="211280" y="72519"/>
                  </a:lnTo>
                  <a:lnTo>
                    <a:pt x="236469" y="30876"/>
                  </a:lnTo>
                  <a:lnTo>
                    <a:pt x="263543" y="6832"/>
                  </a:lnTo>
                  <a:lnTo>
                    <a:pt x="291434" y="0"/>
                  </a:lnTo>
                  <a:lnTo>
                    <a:pt x="319068" y="9991"/>
                  </a:lnTo>
                  <a:lnTo>
                    <a:pt x="369284" y="78899"/>
                  </a:lnTo>
                  <a:lnTo>
                    <a:pt x="389723" y="137040"/>
                  </a:lnTo>
                  <a:lnTo>
                    <a:pt x="398824" y="174448"/>
                  </a:lnTo>
                  <a:lnTo>
                    <a:pt x="406086" y="214593"/>
                  </a:lnTo>
                  <a:lnTo>
                    <a:pt x="411429" y="256964"/>
                  </a:lnTo>
                  <a:lnTo>
                    <a:pt x="414775" y="301050"/>
                  </a:lnTo>
                  <a:lnTo>
                    <a:pt x="439649" y="309511"/>
                  </a:lnTo>
                  <a:lnTo>
                    <a:pt x="482496" y="368349"/>
                  </a:lnTo>
                  <a:lnTo>
                    <a:pt x="499176" y="415102"/>
                  </a:lnTo>
                  <a:lnTo>
                    <a:pt x="511833" y="470995"/>
                  </a:lnTo>
                  <a:lnTo>
                    <a:pt x="519818" y="534215"/>
                  </a:lnTo>
                  <a:lnTo>
                    <a:pt x="522486" y="602951"/>
                  </a:lnTo>
                  <a:lnTo>
                    <a:pt x="521336" y="644080"/>
                  </a:lnTo>
                  <a:lnTo>
                    <a:pt x="518168" y="684198"/>
                  </a:lnTo>
                  <a:lnTo>
                    <a:pt x="513041" y="722744"/>
                  </a:lnTo>
                  <a:lnTo>
                    <a:pt x="506014" y="759157"/>
                  </a:lnTo>
                  <a:lnTo>
                    <a:pt x="527302" y="782756"/>
                  </a:lnTo>
                  <a:lnTo>
                    <a:pt x="562423" y="855965"/>
                  </a:lnTo>
                  <a:lnTo>
                    <a:pt x="575776" y="903112"/>
                  </a:lnTo>
                  <a:lnTo>
                    <a:pt x="586006" y="955646"/>
                  </a:lnTo>
                  <a:lnTo>
                    <a:pt x="592872" y="1012336"/>
                  </a:lnTo>
                  <a:lnTo>
                    <a:pt x="596134" y="1071951"/>
                  </a:lnTo>
                  <a:lnTo>
                    <a:pt x="595553" y="1133260"/>
                  </a:lnTo>
                  <a:lnTo>
                    <a:pt x="590889" y="1195033"/>
                  </a:lnTo>
                  <a:lnTo>
                    <a:pt x="582756" y="1250960"/>
                  </a:lnTo>
                  <a:lnTo>
                    <a:pt x="571344" y="1301868"/>
                  </a:lnTo>
                  <a:lnTo>
                    <a:pt x="556944" y="1346687"/>
                  </a:lnTo>
                  <a:lnTo>
                    <a:pt x="539842" y="1384348"/>
                  </a:lnTo>
                  <a:lnTo>
                    <a:pt x="549569" y="1437202"/>
                  </a:lnTo>
                  <a:lnTo>
                    <a:pt x="556215" y="1492003"/>
                  </a:lnTo>
                  <a:lnTo>
                    <a:pt x="559857" y="1547902"/>
                  </a:lnTo>
                  <a:lnTo>
                    <a:pt x="560572" y="1604052"/>
                  </a:lnTo>
                  <a:lnTo>
                    <a:pt x="558438" y="1659603"/>
                  </a:lnTo>
                  <a:lnTo>
                    <a:pt x="553530" y="1713707"/>
                  </a:lnTo>
                  <a:lnTo>
                    <a:pt x="545927" y="1765516"/>
                  </a:lnTo>
                  <a:lnTo>
                    <a:pt x="535705" y="1814181"/>
                  </a:lnTo>
                  <a:lnTo>
                    <a:pt x="522940" y="1858854"/>
                  </a:lnTo>
                  <a:lnTo>
                    <a:pt x="507711" y="1898687"/>
                  </a:lnTo>
                  <a:lnTo>
                    <a:pt x="490094" y="1932831"/>
                  </a:lnTo>
                  <a:lnTo>
                    <a:pt x="487473" y="1937056"/>
                  </a:lnTo>
                  <a:lnTo>
                    <a:pt x="487107" y="1997595"/>
                  </a:lnTo>
                  <a:lnTo>
                    <a:pt x="481203" y="2053803"/>
                  </a:lnTo>
                  <a:lnTo>
                    <a:pt x="470445" y="2103291"/>
                  </a:lnTo>
                  <a:lnTo>
                    <a:pt x="455514" y="2143672"/>
                  </a:lnTo>
                  <a:lnTo>
                    <a:pt x="415868" y="2187562"/>
                  </a:lnTo>
                  <a:lnTo>
                    <a:pt x="398052" y="2187936"/>
                  </a:lnTo>
                  <a:lnTo>
                    <a:pt x="380825" y="2177800"/>
                  </a:lnTo>
                  <a:lnTo>
                    <a:pt x="364785" y="2157698"/>
                  </a:lnTo>
                  <a:lnTo>
                    <a:pt x="350527" y="2128172"/>
                  </a:lnTo>
                  <a:lnTo>
                    <a:pt x="333811" y="2183732"/>
                  </a:lnTo>
                  <a:lnTo>
                    <a:pt x="312376" y="2220881"/>
                  </a:lnTo>
                  <a:lnTo>
                    <a:pt x="288072" y="2238294"/>
                  </a:lnTo>
                  <a:lnTo>
                    <a:pt x="262747" y="2234645"/>
                  </a:lnTo>
                  <a:lnTo>
                    <a:pt x="222837" y="2176629"/>
                  </a:lnTo>
                  <a:lnTo>
                    <a:pt x="210720" y="2136241"/>
                  </a:lnTo>
                  <a:lnTo>
                    <a:pt x="202329" y="2089276"/>
                  </a:lnTo>
                  <a:lnTo>
                    <a:pt x="198096" y="2037565"/>
                  </a:lnTo>
                  <a:lnTo>
                    <a:pt x="196239" y="2035681"/>
                  </a:lnTo>
                  <a:close/>
                </a:path>
                <a:path w="596264" h="2238375">
                  <a:moveTo>
                    <a:pt x="359206" y="1994624"/>
                  </a:moveTo>
                  <a:lnTo>
                    <a:pt x="359225" y="2028854"/>
                  </a:lnTo>
                  <a:lnTo>
                    <a:pt x="357366" y="2062506"/>
                  </a:lnTo>
                  <a:lnTo>
                    <a:pt x="353677" y="2095004"/>
                  </a:lnTo>
                  <a:lnTo>
                    <a:pt x="348205" y="2125772"/>
                  </a:lnTo>
                </a:path>
                <a:path w="596264" h="2238375">
                  <a:moveTo>
                    <a:pt x="479592" y="1878911"/>
                  </a:moveTo>
                  <a:lnTo>
                    <a:pt x="481418" y="1892874"/>
                  </a:lnTo>
                  <a:lnTo>
                    <a:pt x="482908" y="1907122"/>
                  </a:lnTo>
                  <a:lnTo>
                    <a:pt x="484055" y="1921610"/>
                  </a:lnTo>
                  <a:lnTo>
                    <a:pt x="484857" y="1936291"/>
                  </a:lnTo>
                </a:path>
                <a:path w="596264" h="2238375">
                  <a:moveTo>
                    <a:pt x="537438" y="1384476"/>
                  </a:moveTo>
                  <a:lnTo>
                    <a:pt x="531693" y="1394433"/>
                  </a:lnTo>
                  <a:lnTo>
                    <a:pt x="525766" y="1403526"/>
                  </a:lnTo>
                  <a:lnTo>
                    <a:pt x="519671" y="1411738"/>
                  </a:lnTo>
                  <a:lnTo>
                    <a:pt x="513421" y="1419049"/>
                  </a:lnTo>
                </a:path>
                <a:path w="596264" h="2238375">
                  <a:moveTo>
                    <a:pt x="477549" y="745127"/>
                  </a:moveTo>
                  <a:lnTo>
                    <a:pt x="484230" y="747139"/>
                  </a:lnTo>
                  <a:lnTo>
                    <a:pt x="490858" y="750115"/>
                  </a:lnTo>
                  <a:lnTo>
                    <a:pt x="497420" y="754048"/>
                  </a:lnTo>
                  <a:lnTo>
                    <a:pt x="503902" y="758932"/>
                  </a:lnTo>
                </a:path>
                <a:path w="596264" h="2238375">
                  <a:moveTo>
                    <a:pt x="314720" y="470625"/>
                  </a:moveTo>
                  <a:lnTo>
                    <a:pt x="331956" y="400413"/>
                  </a:lnTo>
                  <a:lnTo>
                    <a:pt x="355145" y="347194"/>
                  </a:lnTo>
                  <a:lnTo>
                    <a:pt x="382744" y="313607"/>
                  </a:lnTo>
                  <a:lnTo>
                    <a:pt x="413210" y="302288"/>
                  </a:lnTo>
                </a:path>
                <a:path w="596264" h="2238375">
                  <a:moveTo>
                    <a:pt x="209820" y="73575"/>
                  </a:moveTo>
                  <a:lnTo>
                    <a:pt x="220191" y="87808"/>
                  </a:lnTo>
                  <a:lnTo>
                    <a:pt x="229865" y="105171"/>
                  </a:lnTo>
                  <a:lnTo>
                    <a:pt x="238749" y="125475"/>
                  </a:lnTo>
                  <a:lnTo>
                    <a:pt x="246752" y="148532"/>
                  </a:lnTo>
                </a:path>
                <a:path w="596264" h="2238375">
                  <a:moveTo>
                    <a:pt x="72788" y="253436"/>
                  </a:moveTo>
                  <a:lnTo>
                    <a:pt x="78543" y="250572"/>
                  </a:lnTo>
                  <a:lnTo>
                    <a:pt x="84384" y="249247"/>
                  </a:lnTo>
                  <a:lnTo>
                    <a:pt x="90230" y="249478"/>
                  </a:lnTo>
                </a:path>
                <a:path w="596264" h="2238375">
                  <a:moveTo>
                    <a:pt x="52444" y="732132"/>
                  </a:moveTo>
                  <a:lnTo>
                    <a:pt x="46516" y="724220"/>
                  </a:lnTo>
                  <a:lnTo>
                    <a:pt x="40818" y="715157"/>
                  </a:lnTo>
                  <a:lnTo>
                    <a:pt x="35372" y="704982"/>
                  </a:lnTo>
                  <a:lnTo>
                    <a:pt x="30200" y="693733"/>
                  </a:lnTo>
                </a:path>
                <a:path w="596264" h="2238375">
                  <a:moveTo>
                    <a:pt x="63044" y="1091283"/>
                  </a:moveTo>
                  <a:lnTo>
                    <a:pt x="58097" y="1087873"/>
                  </a:lnTo>
                  <a:lnTo>
                    <a:pt x="53242" y="1083628"/>
                  </a:lnTo>
                  <a:lnTo>
                    <a:pt x="48492" y="1078561"/>
                  </a:lnTo>
                  <a:lnTo>
                    <a:pt x="43860" y="1072685"/>
                  </a:lnTo>
                </a:path>
                <a:path w="596264" h="2238375">
                  <a:moveTo>
                    <a:pt x="69559" y="1512770"/>
                  </a:moveTo>
                  <a:lnTo>
                    <a:pt x="73649" y="1494801"/>
                  </a:lnTo>
                  <a:lnTo>
                    <a:pt x="78123" y="1477563"/>
                  </a:lnTo>
                  <a:lnTo>
                    <a:pt x="82967" y="1461105"/>
                  </a:lnTo>
                  <a:lnTo>
                    <a:pt x="88170" y="1445472"/>
                  </a:lnTo>
                </a:path>
                <a:path w="596264" h="2238375">
                  <a:moveTo>
                    <a:pt x="215825" y="2023928"/>
                  </a:moveTo>
                  <a:lnTo>
                    <a:pt x="209420" y="2029260"/>
                  </a:lnTo>
                  <a:lnTo>
                    <a:pt x="202873" y="2033187"/>
                  </a:lnTo>
                  <a:lnTo>
                    <a:pt x="196244" y="2035673"/>
                  </a:lnTo>
                </a:path>
              </a:pathLst>
            </a:custGeom>
            <a:ln w="9857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17325" y="1794153"/>
              <a:ext cx="1686560" cy="1039494"/>
            </a:xfrm>
            <a:custGeom>
              <a:avLst/>
              <a:gdLst/>
              <a:ahLst/>
              <a:cxnLst/>
              <a:rect l="l" t="t" r="r" b="b"/>
              <a:pathLst>
                <a:path w="1686560" h="1039494">
                  <a:moveTo>
                    <a:pt x="57434" y="0"/>
                  </a:moveTo>
                  <a:lnTo>
                    <a:pt x="23272" y="8214"/>
                  </a:lnTo>
                  <a:lnTo>
                    <a:pt x="14415" y="32160"/>
                  </a:lnTo>
                  <a:lnTo>
                    <a:pt x="30429" y="68211"/>
                  </a:lnTo>
                  <a:lnTo>
                    <a:pt x="70882" y="112741"/>
                  </a:lnTo>
                  <a:lnTo>
                    <a:pt x="43137" y="109369"/>
                  </a:lnTo>
                  <a:lnTo>
                    <a:pt x="21643" y="111413"/>
                  </a:lnTo>
                  <a:lnTo>
                    <a:pt x="7048" y="118706"/>
                  </a:lnTo>
                  <a:lnTo>
                    <a:pt x="0" y="131081"/>
                  </a:lnTo>
                  <a:lnTo>
                    <a:pt x="4290" y="157110"/>
                  </a:lnTo>
                  <a:lnTo>
                    <a:pt x="24629" y="188826"/>
                  </a:lnTo>
                  <a:lnTo>
                    <a:pt x="58445" y="223585"/>
                  </a:lnTo>
                  <a:lnTo>
                    <a:pt x="103164" y="258742"/>
                  </a:lnTo>
                  <a:lnTo>
                    <a:pt x="156213" y="291652"/>
                  </a:lnTo>
                  <a:lnTo>
                    <a:pt x="178429" y="325382"/>
                  </a:lnTo>
                  <a:lnTo>
                    <a:pt x="204810" y="356467"/>
                  </a:lnTo>
                  <a:lnTo>
                    <a:pt x="236613" y="388012"/>
                  </a:lnTo>
                  <a:lnTo>
                    <a:pt x="273044" y="419442"/>
                  </a:lnTo>
                  <a:lnTo>
                    <a:pt x="313308" y="450186"/>
                  </a:lnTo>
                  <a:lnTo>
                    <a:pt x="356610" y="479670"/>
                  </a:lnTo>
                  <a:lnTo>
                    <a:pt x="402156" y="507322"/>
                  </a:lnTo>
                  <a:lnTo>
                    <a:pt x="449151" y="532569"/>
                  </a:lnTo>
                  <a:lnTo>
                    <a:pt x="496800" y="554838"/>
                  </a:lnTo>
                  <a:lnTo>
                    <a:pt x="544308" y="573556"/>
                  </a:lnTo>
                  <a:lnTo>
                    <a:pt x="565187" y="602037"/>
                  </a:lnTo>
                  <a:lnTo>
                    <a:pt x="592483" y="631855"/>
                  </a:lnTo>
                  <a:lnTo>
                    <a:pt x="625521" y="662335"/>
                  </a:lnTo>
                  <a:lnTo>
                    <a:pt x="663625" y="692802"/>
                  </a:lnTo>
                  <a:lnTo>
                    <a:pt x="713086" y="727127"/>
                  </a:lnTo>
                  <a:lnTo>
                    <a:pt x="764078" y="757588"/>
                  </a:lnTo>
                  <a:lnTo>
                    <a:pt x="815161" y="783641"/>
                  </a:lnTo>
                  <a:lnTo>
                    <a:pt x="864896" y="804739"/>
                  </a:lnTo>
                  <a:lnTo>
                    <a:pt x="911843" y="820336"/>
                  </a:lnTo>
                  <a:lnTo>
                    <a:pt x="954563" y="829884"/>
                  </a:lnTo>
                  <a:lnTo>
                    <a:pt x="991617" y="832839"/>
                  </a:lnTo>
                  <a:lnTo>
                    <a:pt x="1021566" y="828653"/>
                  </a:lnTo>
                  <a:lnTo>
                    <a:pt x="1045663" y="849677"/>
                  </a:lnTo>
                  <a:lnTo>
                    <a:pt x="1100552" y="890375"/>
                  </a:lnTo>
                  <a:lnTo>
                    <a:pt x="1191132" y="942448"/>
                  </a:lnTo>
                  <a:lnTo>
                    <a:pt x="1248750" y="967043"/>
                  </a:lnTo>
                  <a:lnTo>
                    <a:pt x="1300861" y="982676"/>
                  </a:lnTo>
                  <a:lnTo>
                    <a:pt x="1344909" y="988772"/>
                  </a:lnTo>
                  <a:lnTo>
                    <a:pt x="1378340" y="984752"/>
                  </a:lnTo>
                  <a:lnTo>
                    <a:pt x="1398598" y="970039"/>
                  </a:lnTo>
                  <a:lnTo>
                    <a:pt x="1432648" y="987369"/>
                  </a:lnTo>
                  <a:lnTo>
                    <a:pt x="1498985" y="1015461"/>
                  </a:lnTo>
                  <a:lnTo>
                    <a:pt x="1589558" y="1038803"/>
                  </a:lnTo>
                  <a:lnTo>
                    <a:pt x="1634643" y="1039133"/>
                  </a:lnTo>
                  <a:lnTo>
                    <a:pt x="1664548" y="1027757"/>
                  </a:lnTo>
                  <a:lnTo>
                    <a:pt x="1678121" y="1005567"/>
                  </a:lnTo>
                  <a:lnTo>
                    <a:pt x="1674205" y="973455"/>
                  </a:lnTo>
                  <a:lnTo>
                    <a:pt x="1651645" y="932313"/>
                  </a:lnTo>
                  <a:lnTo>
                    <a:pt x="1657150" y="931627"/>
                  </a:lnTo>
                  <a:lnTo>
                    <a:pt x="1662093" y="930488"/>
                  </a:lnTo>
                  <a:lnTo>
                    <a:pt x="1666439" y="928905"/>
                  </a:lnTo>
                  <a:lnTo>
                    <a:pt x="1686507" y="911165"/>
                  </a:lnTo>
                  <a:lnTo>
                    <a:pt x="1685709" y="882408"/>
                  </a:lnTo>
                  <a:lnTo>
                    <a:pt x="1665575" y="845448"/>
                  </a:lnTo>
                  <a:lnTo>
                    <a:pt x="1627637" y="803096"/>
                  </a:lnTo>
                  <a:lnTo>
                    <a:pt x="1573429" y="758165"/>
                  </a:lnTo>
                  <a:lnTo>
                    <a:pt x="1571246" y="742704"/>
                  </a:lnTo>
                  <a:lnTo>
                    <a:pt x="1550517" y="705127"/>
                  </a:lnTo>
                  <a:lnTo>
                    <a:pt x="1495752" y="649551"/>
                  </a:lnTo>
                  <a:lnTo>
                    <a:pt x="1452547" y="617021"/>
                  </a:lnTo>
                  <a:lnTo>
                    <a:pt x="1405365" y="587701"/>
                  </a:lnTo>
                  <a:lnTo>
                    <a:pt x="1356752" y="563027"/>
                  </a:lnTo>
                  <a:lnTo>
                    <a:pt x="1309254" y="544432"/>
                  </a:lnTo>
                  <a:lnTo>
                    <a:pt x="1265415" y="533351"/>
                  </a:lnTo>
                  <a:lnTo>
                    <a:pt x="1255886" y="520992"/>
                  </a:lnTo>
                  <a:lnTo>
                    <a:pt x="1216728" y="482046"/>
                  </a:lnTo>
                  <a:lnTo>
                    <a:pt x="1168765" y="445937"/>
                  </a:lnTo>
                  <a:lnTo>
                    <a:pt x="1116858" y="415106"/>
                  </a:lnTo>
                  <a:lnTo>
                    <a:pt x="1064955" y="391360"/>
                  </a:lnTo>
                  <a:lnTo>
                    <a:pt x="1017005" y="376505"/>
                  </a:lnTo>
                  <a:lnTo>
                    <a:pt x="976957" y="372348"/>
                  </a:lnTo>
                  <a:lnTo>
                    <a:pt x="968054" y="362434"/>
                  </a:lnTo>
                  <a:lnTo>
                    <a:pt x="936434" y="332070"/>
                  </a:lnTo>
                  <a:lnTo>
                    <a:pt x="895936" y="299871"/>
                  </a:lnTo>
                  <a:lnTo>
                    <a:pt x="852008" y="270469"/>
                  </a:lnTo>
                  <a:lnTo>
                    <a:pt x="806414" y="244689"/>
                  </a:lnTo>
                  <a:lnTo>
                    <a:pt x="760918" y="223360"/>
                  </a:lnTo>
                  <a:lnTo>
                    <a:pt x="717282" y="207307"/>
                  </a:lnTo>
                  <a:lnTo>
                    <a:pt x="677270" y="197358"/>
                  </a:lnTo>
                  <a:lnTo>
                    <a:pt x="642646" y="194339"/>
                  </a:lnTo>
                  <a:lnTo>
                    <a:pt x="607448" y="164689"/>
                  </a:lnTo>
                  <a:lnTo>
                    <a:pt x="568616" y="135953"/>
                  </a:lnTo>
                  <a:lnTo>
                    <a:pt x="526990" y="108716"/>
                  </a:lnTo>
                  <a:lnTo>
                    <a:pt x="483412" y="83563"/>
                  </a:lnTo>
                  <a:lnTo>
                    <a:pt x="422486" y="53721"/>
                  </a:lnTo>
                  <a:lnTo>
                    <a:pt x="365704" y="31787"/>
                  </a:lnTo>
                  <a:lnTo>
                    <a:pt x="314748" y="17975"/>
                  </a:lnTo>
                  <a:lnTo>
                    <a:pt x="271302" y="12496"/>
                  </a:lnTo>
                  <a:lnTo>
                    <a:pt x="237052" y="15562"/>
                  </a:lnTo>
                  <a:lnTo>
                    <a:pt x="213681" y="27387"/>
                  </a:lnTo>
                  <a:lnTo>
                    <a:pt x="202872" y="48182"/>
                  </a:lnTo>
                  <a:lnTo>
                    <a:pt x="200712" y="48615"/>
                  </a:lnTo>
                  <a:lnTo>
                    <a:pt x="160647" y="28499"/>
                  </a:lnTo>
                  <a:lnTo>
                    <a:pt x="122389" y="13344"/>
                  </a:lnTo>
                  <a:lnTo>
                    <a:pt x="87473" y="3671"/>
                  </a:lnTo>
                  <a:lnTo>
                    <a:pt x="57434" y="0"/>
                  </a:lnTo>
                  <a:close/>
                </a:path>
              </a:pathLst>
            </a:custGeom>
            <a:solidFill>
              <a:srgbClr val="FF0000">
                <a:alpha val="3097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727345" y="2707468"/>
            <a:ext cx="351155" cy="136525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520"/>
              </a:lnSpc>
              <a:tabLst>
                <a:tab pos="1351915" algn="l"/>
              </a:tabLst>
            </a:pPr>
            <a:r>
              <a:rPr dirty="0" u="sng" sz="2100" spc="-10" b="1">
                <a:solidFill>
                  <a:srgbClr val="151515"/>
                </a:solidFill>
                <a:uFill>
                  <a:solidFill>
                    <a:srgbClr val="969696"/>
                  </a:solidFill>
                </a:uFill>
                <a:latin typeface="Calibri"/>
                <a:cs typeface="Calibri"/>
              </a:rPr>
              <a:t>Abandon</a:t>
            </a:r>
            <a:r>
              <a:rPr dirty="0" u="sng" sz="2100" b="1">
                <a:solidFill>
                  <a:srgbClr val="151515"/>
                </a:solidFill>
                <a:uFill>
                  <a:solidFill>
                    <a:srgbClr val="969696"/>
                  </a:solidFill>
                </a:uFill>
                <a:latin typeface="Calibri"/>
                <a:cs typeface="Calibri"/>
              </a:rPr>
              <a:t>	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17325" y="1794153"/>
            <a:ext cx="1686560" cy="1039494"/>
          </a:xfrm>
          <a:custGeom>
            <a:avLst/>
            <a:gdLst/>
            <a:ahLst/>
            <a:cxnLst/>
            <a:rect l="l" t="t" r="r" b="b"/>
            <a:pathLst>
              <a:path w="1686560" h="1039494">
                <a:moveTo>
                  <a:pt x="202872" y="48181"/>
                </a:moveTo>
                <a:lnTo>
                  <a:pt x="213681" y="27387"/>
                </a:lnTo>
                <a:lnTo>
                  <a:pt x="237053" y="15562"/>
                </a:lnTo>
                <a:lnTo>
                  <a:pt x="271303" y="12496"/>
                </a:lnTo>
                <a:lnTo>
                  <a:pt x="314748" y="17975"/>
                </a:lnTo>
                <a:lnTo>
                  <a:pt x="365704" y="31788"/>
                </a:lnTo>
                <a:lnTo>
                  <a:pt x="422487" y="53721"/>
                </a:lnTo>
                <a:lnTo>
                  <a:pt x="483412" y="83563"/>
                </a:lnTo>
                <a:lnTo>
                  <a:pt x="526991" y="108716"/>
                </a:lnTo>
                <a:lnTo>
                  <a:pt x="568617" y="135953"/>
                </a:lnTo>
                <a:lnTo>
                  <a:pt x="607449" y="164689"/>
                </a:lnTo>
                <a:lnTo>
                  <a:pt x="642646" y="194339"/>
                </a:lnTo>
                <a:lnTo>
                  <a:pt x="677271" y="197358"/>
                </a:lnTo>
                <a:lnTo>
                  <a:pt x="717282" y="207307"/>
                </a:lnTo>
                <a:lnTo>
                  <a:pt x="760918" y="223360"/>
                </a:lnTo>
                <a:lnTo>
                  <a:pt x="806415" y="244690"/>
                </a:lnTo>
                <a:lnTo>
                  <a:pt x="852009" y="270469"/>
                </a:lnTo>
                <a:lnTo>
                  <a:pt x="895937" y="299871"/>
                </a:lnTo>
                <a:lnTo>
                  <a:pt x="936435" y="332071"/>
                </a:lnTo>
                <a:lnTo>
                  <a:pt x="968055" y="362433"/>
                </a:lnTo>
                <a:lnTo>
                  <a:pt x="976958" y="372348"/>
                </a:lnTo>
                <a:lnTo>
                  <a:pt x="1017005" y="376504"/>
                </a:lnTo>
                <a:lnTo>
                  <a:pt x="1064955" y="391359"/>
                </a:lnTo>
                <a:lnTo>
                  <a:pt x="1116858" y="415106"/>
                </a:lnTo>
                <a:lnTo>
                  <a:pt x="1168766" y="445937"/>
                </a:lnTo>
                <a:lnTo>
                  <a:pt x="1216728" y="482045"/>
                </a:lnTo>
                <a:lnTo>
                  <a:pt x="1244516" y="508237"/>
                </a:lnTo>
                <a:lnTo>
                  <a:pt x="1265415" y="533351"/>
                </a:lnTo>
                <a:lnTo>
                  <a:pt x="1309254" y="544432"/>
                </a:lnTo>
                <a:lnTo>
                  <a:pt x="1356752" y="563027"/>
                </a:lnTo>
                <a:lnTo>
                  <a:pt x="1405365" y="587701"/>
                </a:lnTo>
                <a:lnTo>
                  <a:pt x="1452546" y="617021"/>
                </a:lnTo>
                <a:lnTo>
                  <a:pt x="1495752" y="649551"/>
                </a:lnTo>
                <a:lnTo>
                  <a:pt x="1532436" y="683856"/>
                </a:lnTo>
                <a:lnTo>
                  <a:pt x="1563532" y="724883"/>
                </a:lnTo>
                <a:lnTo>
                  <a:pt x="1573430" y="758165"/>
                </a:lnTo>
                <a:lnTo>
                  <a:pt x="1627638" y="803096"/>
                </a:lnTo>
                <a:lnTo>
                  <a:pt x="1665576" y="845448"/>
                </a:lnTo>
                <a:lnTo>
                  <a:pt x="1685709" y="882408"/>
                </a:lnTo>
                <a:lnTo>
                  <a:pt x="1686508" y="911165"/>
                </a:lnTo>
                <a:lnTo>
                  <a:pt x="1666440" y="928905"/>
                </a:lnTo>
                <a:lnTo>
                  <a:pt x="1662094" y="930488"/>
                </a:lnTo>
                <a:lnTo>
                  <a:pt x="1657150" y="931626"/>
                </a:lnTo>
                <a:lnTo>
                  <a:pt x="1651645" y="932314"/>
                </a:lnTo>
                <a:lnTo>
                  <a:pt x="1674205" y="973456"/>
                </a:lnTo>
                <a:lnTo>
                  <a:pt x="1678122" y="1005567"/>
                </a:lnTo>
                <a:lnTo>
                  <a:pt x="1664549" y="1027757"/>
                </a:lnTo>
                <a:lnTo>
                  <a:pt x="1634644" y="1039133"/>
                </a:lnTo>
                <a:lnTo>
                  <a:pt x="1589560" y="1038803"/>
                </a:lnTo>
                <a:lnTo>
                  <a:pt x="1530452" y="1025875"/>
                </a:lnTo>
                <a:lnTo>
                  <a:pt x="1466248" y="1002568"/>
                </a:lnTo>
                <a:lnTo>
                  <a:pt x="1398599" y="970040"/>
                </a:lnTo>
                <a:lnTo>
                  <a:pt x="1378341" y="984753"/>
                </a:lnTo>
                <a:lnTo>
                  <a:pt x="1300862" y="982677"/>
                </a:lnTo>
                <a:lnTo>
                  <a:pt x="1248751" y="967043"/>
                </a:lnTo>
                <a:lnTo>
                  <a:pt x="1191133" y="942448"/>
                </a:lnTo>
                <a:lnTo>
                  <a:pt x="1130562" y="909470"/>
                </a:lnTo>
                <a:lnTo>
                  <a:pt x="1072123" y="870347"/>
                </a:lnTo>
                <a:lnTo>
                  <a:pt x="1021566" y="828653"/>
                </a:lnTo>
                <a:lnTo>
                  <a:pt x="991618" y="832839"/>
                </a:lnTo>
                <a:lnTo>
                  <a:pt x="911843" y="820336"/>
                </a:lnTo>
                <a:lnTo>
                  <a:pt x="864896" y="804740"/>
                </a:lnTo>
                <a:lnTo>
                  <a:pt x="815162" y="783642"/>
                </a:lnTo>
                <a:lnTo>
                  <a:pt x="764079" y="757588"/>
                </a:lnTo>
                <a:lnTo>
                  <a:pt x="713087" y="727126"/>
                </a:lnTo>
                <a:lnTo>
                  <a:pt x="663626" y="692802"/>
                </a:lnTo>
                <a:lnTo>
                  <a:pt x="625521" y="662335"/>
                </a:lnTo>
                <a:lnTo>
                  <a:pt x="592484" y="631855"/>
                </a:lnTo>
                <a:lnTo>
                  <a:pt x="565188" y="602037"/>
                </a:lnTo>
                <a:lnTo>
                  <a:pt x="544308" y="573555"/>
                </a:lnTo>
                <a:lnTo>
                  <a:pt x="496801" y="554838"/>
                </a:lnTo>
                <a:lnTo>
                  <a:pt x="449152" y="532569"/>
                </a:lnTo>
                <a:lnTo>
                  <a:pt x="402157" y="507322"/>
                </a:lnTo>
                <a:lnTo>
                  <a:pt x="356611" y="479671"/>
                </a:lnTo>
                <a:lnTo>
                  <a:pt x="313309" y="450186"/>
                </a:lnTo>
                <a:lnTo>
                  <a:pt x="273044" y="419443"/>
                </a:lnTo>
                <a:lnTo>
                  <a:pt x="236613" y="388012"/>
                </a:lnTo>
                <a:lnTo>
                  <a:pt x="204810" y="356468"/>
                </a:lnTo>
                <a:lnTo>
                  <a:pt x="178430" y="325382"/>
                </a:lnTo>
                <a:lnTo>
                  <a:pt x="156878" y="292870"/>
                </a:lnTo>
                <a:lnTo>
                  <a:pt x="156214" y="291652"/>
                </a:lnTo>
                <a:lnTo>
                  <a:pt x="103165" y="258742"/>
                </a:lnTo>
                <a:lnTo>
                  <a:pt x="58446" y="223585"/>
                </a:lnTo>
                <a:lnTo>
                  <a:pt x="24630" y="188826"/>
                </a:lnTo>
                <a:lnTo>
                  <a:pt x="4290" y="157110"/>
                </a:lnTo>
                <a:lnTo>
                  <a:pt x="0" y="131081"/>
                </a:lnTo>
                <a:lnTo>
                  <a:pt x="7048" y="118706"/>
                </a:lnTo>
                <a:lnTo>
                  <a:pt x="21643" y="111413"/>
                </a:lnTo>
                <a:lnTo>
                  <a:pt x="43138" y="109368"/>
                </a:lnTo>
                <a:lnTo>
                  <a:pt x="70883" y="112741"/>
                </a:lnTo>
                <a:lnTo>
                  <a:pt x="30429" y="68211"/>
                </a:lnTo>
                <a:lnTo>
                  <a:pt x="14415" y="32160"/>
                </a:lnTo>
                <a:lnTo>
                  <a:pt x="23272" y="8214"/>
                </a:lnTo>
                <a:lnTo>
                  <a:pt x="57434" y="0"/>
                </a:lnTo>
                <a:lnTo>
                  <a:pt x="87474" y="3671"/>
                </a:lnTo>
                <a:lnTo>
                  <a:pt x="122390" y="13344"/>
                </a:lnTo>
                <a:lnTo>
                  <a:pt x="160647" y="28499"/>
                </a:lnTo>
                <a:lnTo>
                  <a:pt x="200713" y="48616"/>
                </a:lnTo>
                <a:lnTo>
                  <a:pt x="202872" y="48181"/>
                </a:lnTo>
                <a:close/>
              </a:path>
              <a:path w="1686560" h="1039494">
                <a:moveTo>
                  <a:pt x="166290" y="178131"/>
                </a:moveTo>
                <a:lnTo>
                  <a:pt x="140913" y="162908"/>
                </a:lnTo>
                <a:lnTo>
                  <a:pt x="116737" y="146656"/>
                </a:lnTo>
                <a:lnTo>
                  <a:pt x="94169" y="129662"/>
                </a:lnTo>
                <a:lnTo>
                  <a:pt x="73616" y="112217"/>
                </a:lnTo>
              </a:path>
              <a:path w="1686560" h="1039494">
                <a:moveTo>
                  <a:pt x="202547" y="312132"/>
                </a:moveTo>
                <a:lnTo>
                  <a:pt x="191448" y="307169"/>
                </a:lnTo>
                <a:lnTo>
                  <a:pt x="180276" y="301848"/>
                </a:lnTo>
                <a:lnTo>
                  <a:pt x="169067" y="296185"/>
                </a:lnTo>
                <a:lnTo>
                  <a:pt x="157857" y="290200"/>
                </a:lnTo>
              </a:path>
              <a:path w="1686560" h="1039494">
                <a:moveTo>
                  <a:pt x="545202" y="571851"/>
                </a:moveTo>
                <a:lnTo>
                  <a:pt x="540185" y="563482"/>
                </a:lnTo>
                <a:lnTo>
                  <a:pt x="535883" y="555373"/>
                </a:lnTo>
                <a:lnTo>
                  <a:pt x="532303" y="547541"/>
                </a:lnTo>
                <a:lnTo>
                  <a:pt x="529454" y="540004"/>
                </a:lnTo>
              </a:path>
              <a:path w="1686560" h="1039494">
                <a:moveTo>
                  <a:pt x="1043669" y="815392"/>
                </a:moveTo>
                <a:lnTo>
                  <a:pt x="1038485" y="820610"/>
                </a:lnTo>
                <a:lnTo>
                  <a:pt x="1031423" y="824603"/>
                </a:lnTo>
                <a:lnTo>
                  <a:pt x="1022601" y="827306"/>
                </a:lnTo>
              </a:path>
              <a:path w="1686560" h="1039494">
                <a:moveTo>
                  <a:pt x="1314064" y="825996"/>
                </a:moveTo>
                <a:lnTo>
                  <a:pt x="1359013" y="869059"/>
                </a:lnTo>
                <a:lnTo>
                  <a:pt x="1388920" y="908638"/>
                </a:lnTo>
                <a:lnTo>
                  <a:pt x="1402464" y="942500"/>
                </a:lnTo>
                <a:lnTo>
                  <a:pt x="1398325" y="968416"/>
                </a:lnTo>
              </a:path>
              <a:path w="1686560" h="1039494">
                <a:moveTo>
                  <a:pt x="1651463" y="930844"/>
                </a:moveTo>
                <a:lnTo>
                  <a:pt x="1636651" y="931615"/>
                </a:lnTo>
                <a:lnTo>
                  <a:pt x="1619805" y="930516"/>
                </a:lnTo>
                <a:lnTo>
                  <a:pt x="1601103" y="927566"/>
                </a:lnTo>
                <a:lnTo>
                  <a:pt x="1580724" y="922787"/>
                </a:lnTo>
              </a:path>
              <a:path w="1686560" h="1039494">
                <a:moveTo>
                  <a:pt x="1574508" y="756883"/>
                </a:moveTo>
                <a:lnTo>
                  <a:pt x="1574264" y="762101"/>
                </a:lnTo>
                <a:lnTo>
                  <a:pt x="1572846" y="766693"/>
                </a:lnTo>
                <a:lnTo>
                  <a:pt x="1570270" y="770596"/>
                </a:lnTo>
              </a:path>
              <a:path w="1686560" h="1039494">
                <a:moveTo>
                  <a:pt x="1228098" y="529868"/>
                </a:moveTo>
                <a:lnTo>
                  <a:pt x="1236400" y="529329"/>
                </a:lnTo>
                <a:lnTo>
                  <a:pt x="1245459" y="529458"/>
                </a:lnTo>
                <a:lnTo>
                  <a:pt x="1255239" y="530255"/>
                </a:lnTo>
                <a:lnTo>
                  <a:pt x="1265703" y="531718"/>
                </a:lnTo>
              </a:path>
              <a:path w="1686560" h="1039494">
                <a:moveTo>
                  <a:pt x="957562" y="377270"/>
                </a:moveTo>
                <a:lnTo>
                  <a:pt x="963249" y="374487"/>
                </a:lnTo>
                <a:lnTo>
                  <a:pt x="970529" y="372852"/>
                </a:lnTo>
                <a:lnTo>
                  <a:pt x="979233" y="372403"/>
                </a:lnTo>
              </a:path>
              <a:path w="1686560" h="1039494">
                <a:moveTo>
                  <a:pt x="642506" y="194126"/>
                </a:moveTo>
                <a:lnTo>
                  <a:pt x="654142" y="204927"/>
                </a:lnTo>
                <a:lnTo>
                  <a:pt x="665078" y="215666"/>
                </a:lnTo>
                <a:lnTo>
                  <a:pt x="675284" y="226311"/>
                </a:lnTo>
                <a:lnTo>
                  <a:pt x="684731" y="236835"/>
                </a:lnTo>
              </a:path>
              <a:path w="1686560" h="1039494">
                <a:moveTo>
                  <a:pt x="203529" y="66834"/>
                </a:moveTo>
                <a:lnTo>
                  <a:pt x="202211" y="60072"/>
                </a:lnTo>
                <a:lnTo>
                  <a:pt x="201992" y="53837"/>
                </a:lnTo>
                <a:lnTo>
                  <a:pt x="202876" y="48188"/>
                </a:lnTo>
              </a:path>
            </a:pathLst>
          </a:custGeom>
          <a:ln w="9857">
            <a:solidFill>
              <a:srgbClr val="6666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 rot="1800000">
            <a:off x="3187546" y="2161789"/>
            <a:ext cx="1014395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90"/>
              </a:lnSpc>
            </a:pPr>
            <a:r>
              <a:rPr dirty="0" baseline="2645" sz="3150" spc="-52" b="1">
                <a:solidFill>
                  <a:srgbClr val="151515"/>
                </a:solidFill>
                <a:latin typeface="Calibri"/>
                <a:cs typeface="Calibri"/>
              </a:rPr>
              <a:t>Mis</a:t>
            </a:r>
            <a:r>
              <a:rPr dirty="0" baseline="1322" sz="3150" spc="-52" b="1">
                <a:solidFill>
                  <a:srgbClr val="151515"/>
                </a:solidFill>
                <a:latin typeface="Calibri"/>
                <a:cs typeface="Calibri"/>
              </a:rPr>
              <a:t>tak</a:t>
            </a:r>
            <a:r>
              <a:rPr dirty="0" sz="2100" spc="-35" b="1">
                <a:solidFill>
                  <a:srgbClr val="151515"/>
                </a:solidFill>
                <a:latin typeface="Calibri"/>
                <a:cs typeface="Calibri"/>
              </a:rPr>
              <a:t>es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44885" y="4074613"/>
            <a:ext cx="1506855" cy="975994"/>
            <a:chOff x="3044885" y="4074613"/>
            <a:chExt cx="1506855" cy="975994"/>
          </a:xfrm>
        </p:grpSpPr>
        <p:sp>
          <p:nvSpPr>
            <p:cNvPr id="32" name="object 32"/>
            <p:cNvSpPr/>
            <p:nvPr/>
          </p:nvSpPr>
          <p:spPr>
            <a:xfrm>
              <a:off x="3049814" y="4079542"/>
              <a:ext cx="1497330" cy="966469"/>
            </a:xfrm>
            <a:custGeom>
              <a:avLst/>
              <a:gdLst/>
              <a:ahLst/>
              <a:cxnLst/>
              <a:rect l="l" t="t" r="r" b="b"/>
              <a:pathLst>
                <a:path w="1497329" h="966470">
                  <a:moveTo>
                    <a:pt x="1342595" y="0"/>
                  </a:moveTo>
                  <a:lnTo>
                    <a:pt x="1292078" y="3068"/>
                  </a:lnTo>
                  <a:lnTo>
                    <a:pt x="1233104" y="18517"/>
                  </a:lnTo>
                  <a:lnTo>
                    <a:pt x="1219158" y="9447"/>
                  </a:lnTo>
                  <a:lnTo>
                    <a:pt x="1201080" y="3534"/>
                  </a:lnTo>
                  <a:lnTo>
                    <a:pt x="1179320" y="876"/>
                  </a:lnTo>
                  <a:lnTo>
                    <a:pt x="1154323" y="1568"/>
                  </a:lnTo>
                  <a:lnTo>
                    <a:pt x="1102274" y="11665"/>
                  </a:lnTo>
                  <a:lnTo>
                    <a:pt x="1049405" y="31433"/>
                  </a:lnTo>
                  <a:lnTo>
                    <a:pt x="999513" y="58790"/>
                  </a:lnTo>
                  <a:lnTo>
                    <a:pt x="956393" y="91655"/>
                  </a:lnTo>
                  <a:lnTo>
                    <a:pt x="923843" y="127947"/>
                  </a:lnTo>
                  <a:lnTo>
                    <a:pt x="909696" y="127495"/>
                  </a:lnTo>
                  <a:lnTo>
                    <a:pt x="861594" y="134048"/>
                  </a:lnTo>
                  <a:lnTo>
                    <a:pt x="812504" y="150306"/>
                  </a:lnTo>
                  <a:lnTo>
                    <a:pt x="766367" y="173756"/>
                  </a:lnTo>
                  <a:lnTo>
                    <a:pt x="726235" y="202233"/>
                  </a:lnTo>
                  <a:lnTo>
                    <a:pt x="695163" y="233568"/>
                  </a:lnTo>
                  <a:lnTo>
                    <a:pt x="676205" y="265597"/>
                  </a:lnTo>
                  <a:lnTo>
                    <a:pt x="664370" y="266335"/>
                  </a:lnTo>
                  <a:lnTo>
                    <a:pt x="626449" y="272397"/>
                  </a:lnTo>
                  <a:lnTo>
                    <a:pt x="576464" y="287506"/>
                  </a:lnTo>
                  <a:lnTo>
                    <a:pt x="528219" y="309178"/>
                  </a:lnTo>
                  <a:lnTo>
                    <a:pt x="483906" y="335900"/>
                  </a:lnTo>
                  <a:lnTo>
                    <a:pt x="445717" y="366158"/>
                  </a:lnTo>
                  <a:lnTo>
                    <a:pt x="415844" y="398438"/>
                  </a:lnTo>
                  <a:lnTo>
                    <a:pt x="396478" y="431225"/>
                  </a:lnTo>
                  <a:lnTo>
                    <a:pt x="357782" y="440918"/>
                  </a:lnTo>
                  <a:lnTo>
                    <a:pt x="318460" y="454435"/>
                  </a:lnTo>
                  <a:lnTo>
                    <a:pt x="279332" y="471456"/>
                  </a:lnTo>
                  <a:lnTo>
                    <a:pt x="241217" y="491663"/>
                  </a:lnTo>
                  <a:lnTo>
                    <a:pt x="185097" y="529260"/>
                  </a:lnTo>
                  <a:lnTo>
                    <a:pt x="140462" y="569275"/>
                  </a:lnTo>
                  <a:lnTo>
                    <a:pt x="108628" y="609611"/>
                  </a:lnTo>
                  <a:lnTo>
                    <a:pt x="90912" y="648172"/>
                  </a:lnTo>
                  <a:lnTo>
                    <a:pt x="88630" y="682861"/>
                  </a:lnTo>
                  <a:lnTo>
                    <a:pt x="103098" y="711583"/>
                  </a:lnTo>
                  <a:lnTo>
                    <a:pt x="102635" y="713777"/>
                  </a:lnTo>
                  <a:lnTo>
                    <a:pt x="70143" y="734491"/>
                  </a:lnTo>
                  <a:lnTo>
                    <a:pt x="20895" y="780778"/>
                  </a:lnTo>
                  <a:lnTo>
                    <a:pt x="0" y="840080"/>
                  </a:lnTo>
                  <a:lnTo>
                    <a:pt x="16881" y="864818"/>
                  </a:lnTo>
                  <a:lnTo>
                    <a:pt x="53609" y="876425"/>
                  </a:lnTo>
                  <a:lnTo>
                    <a:pt x="106943" y="872704"/>
                  </a:lnTo>
                  <a:lnTo>
                    <a:pt x="93390" y="894544"/>
                  </a:lnTo>
                  <a:lnTo>
                    <a:pt x="86838" y="914770"/>
                  </a:lnTo>
                  <a:lnTo>
                    <a:pt x="87394" y="932696"/>
                  </a:lnTo>
                  <a:lnTo>
                    <a:pt x="95166" y="947639"/>
                  </a:lnTo>
                  <a:lnTo>
                    <a:pt x="126654" y="964479"/>
                  </a:lnTo>
                  <a:lnTo>
                    <a:pt x="174077" y="965870"/>
                  </a:lnTo>
                  <a:lnTo>
                    <a:pt x="231120" y="952533"/>
                  </a:lnTo>
                  <a:lnTo>
                    <a:pt x="291467" y="925191"/>
                  </a:lnTo>
                  <a:lnTo>
                    <a:pt x="294058" y="925748"/>
                  </a:lnTo>
                  <a:lnTo>
                    <a:pt x="332527" y="929852"/>
                  </a:lnTo>
                  <a:lnTo>
                    <a:pt x="373610" y="927935"/>
                  </a:lnTo>
                  <a:lnTo>
                    <a:pt x="417537" y="920652"/>
                  </a:lnTo>
                  <a:lnTo>
                    <a:pt x="463221" y="908397"/>
                  </a:lnTo>
                  <a:lnTo>
                    <a:pt x="509575" y="891564"/>
                  </a:lnTo>
                  <a:lnTo>
                    <a:pt x="555514" y="870548"/>
                  </a:lnTo>
                  <a:lnTo>
                    <a:pt x="599952" y="845744"/>
                  </a:lnTo>
                  <a:lnTo>
                    <a:pt x="641802" y="817545"/>
                  </a:lnTo>
                  <a:lnTo>
                    <a:pt x="679978" y="786347"/>
                  </a:lnTo>
                  <a:lnTo>
                    <a:pt x="712166" y="788330"/>
                  </a:lnTo>
                  <a:lnTo>
                    <a:pt x="786524" y="778440"/>
                  </a:lnTo>
                  <a:lnTo>
                    <a:pt x="827034" y="766787"/>
                  </a:lnTo>
                  <a:lnTo>
                    <a:pt x="881873" y="744911"/>
                  </a:lnTo>
                  <a:lnTo>
                    <a:pt x="933018" y="717868"/>
                  </a:lnTo>
                  <a:lnTo>
                    <a:pt x="978947" y="686958"/>
                  </a:lnTo>
                  <a:lnTo>
                    <a:pt x="1018143" y="653477"/>
                  </a:lnTo>
                  <a:lnTo>
                    <a:pt x="1049086" y="618723"/>
                  </a:lnTo>
                  <a:lnTo>
                    <a:pt x="1070257" y="583995"/>
                  </a:lnTo>
                  <a:lnTo>
                    <a:pt x="1080136" y="550590"/>
                  </a:lnTo>
                  <a:lnTo>
                    <a:pt x="1107243" y="544468"/>
                  </a:lnTo>
                  <a:lnTo>
                    <a:pt x="1162893" y="525419"/>
                  </a:lnTo>
                  <a:lnTo>
                    <a:pt x="1241940" y="483271"/>
                  </a:lnTo>
                  <a:lnTo>
                    <a:pt x="1284993" y="450405"/>
                  </a:lnTo>
                  <a:lnTo>
                    <a:pt x="1318329" y="415988"/>
                  </a:lnTo>
                  <a:lnTo>
                    <a:pt x="1340473" y="381842"/>
                  </a:lnTo>
                  <a:lnTo>
                    <a:pt x="1349952" y="349787"/>
                  </a:lnTo>
                  <a:lnTo>
                    <a:pt x="1345290" y="321647"/>
                  </a:lnTo>
                  <a:lnTo>
                    <a:pt x="1373101" y="304210"/>
                  </a:lnTo>
                  <a:lnTo>
                    <a:pt x="1422479" y="266210"/>
                  </a:lnTo>
                  <a:lnTo>
                    <a:pt x="1477172" y="203669"/>
                  </a:lnTo>
                  <a:lnTo>
                    <a:pt x="1494829" y="164525"/>
                  </a:lnTo>
                  <a:lnTo>
                    <a:pt x="1496715" y="130327"/>
                  </a:lnTo>
                  <a:lnTo>
                    <a:pt x="1483139" y="102719"/>
                  </a:lnTo>
                  <a:lnTo>
                    <a:pt x="1454414" y="83342"/>
                  </a:lnTo>
                  <a:lnTo>
                    <a:pt x="1410849" y="73838"/>
                  </a:lnTo>
                  <a:lnTo>
                    <a:pt x="1412388" y="68541"/>
                  </a:lnTo>
                  <a:lnTo>
                    <a:pt x="1413328" y="63416"/>
                  </a:lnTo>
                  <a:lnTo>
                    <a:pt x="1413662" y="58496"/>
                  </a:lnTo>
                  <a:lnTo>
                    <a:pt x="1406361" y="28372"/>
                  </a:lnTo>
                  <a:lnTo>
                    <a:pt x="1381681" y="8654"/>
                  </a:lnTo>
                  <a:lnTo>
                    <a:pt x="1342595" y="0"/>
                  </a:lnTo>
                  <a:close/>
                </a:path>
              </a:pathLst>
            </a:custGeom>
            <a:solidFill>
              <a:srgbClr val="FF0000">
                <a:alpha val="309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049814" y="4079542"/>
              <a:ext cx="1497330" cy="966469"/>
            </a:xfrm>
            <a:custGeom>
              <a:avLst/>
              <a:gdLst/>
              <a:ahLst/>
              <a:cxnLst/>
              <a:rect l="l" t="t" r="r" b="b"/>
              <a:pathLst>
                <a:path w="1497329" h="966470">
                  <a:moveTo>
                    <a:pt x="103099" y="711583"/>
                  </a:moveTo>
                  <a:lnTo>
                    <a:pt x="88629" y="682861"/>
                  </a:lnTo>
                  <a:lnTo>
                    <a:pt x="90911" y="648171"/>
                  </a:lnTo>
                  <a:lnTo>
                    <a:pt x="108627" y="609610"/>
                  </a:lnTo>
                  <a:lnTo>
                    <a:pt x="140461" y="569275"/>
                  </a:lnTo>
                  <a:lnTo>
                    <a:pt x="185096" y="529260"/>
                  </a:lnTo>
                  <a:lnTo>
                    <a:pt x="241217" y="491663"/>
                  </a:lnTo>
                  <a:lnTo>
                    <a:pt x="279331" y="471456"/>
                  </a:lnTo>
                  <a:lnTo>
                    <a:pt x="318460" y="454435"/>
                  </a:lnTo>
                  <a:lnTo>
                    <a:pt x="357782" y="440918"/>
                  </a:lnTo>
                  <a:lnTo>
                    <a:pt x="396478" y="431225"/>
                  </a:lnTo>
                  <a:lnTo>
                    <a:pt x="415844" y="398437"/>
                  </a:lnTo>
                  <a:lnTo>
                    <a:pt x="445717" y="366158"/>
                  </a:lnTo>
                  <a:lnTo>
                    <a:pt x="483906" y="335900"/>
                  </a:lnTo>
                  <a:lnTo>
                    <a:pt x="528219" y="309178"/>
                  </a:lnTo>
                  <a:lnTo>
                    <a:pt x="576464" y="287505"/>
                  </a:lnTo>
                  <a:lnTo>
                    <a:pt x="626448" y="272396"/>
                  </a:lnTo>
                  <a:lnTo>
                    <a:pt x="664370" y="266334"/>
                  </a:lnTo>
                  <a:lnTo>
                    <a:pt x="676204" y="265596"/>
                  </a:lnTo>
                  <a:lnTo>
                    <a:pt x="695163" y="233568"/>
                  </a:lnTo>
                  <a:lnTo>
                    <a:pt x="726235" y="202232"/>
                  </a:lnTo>
                  <a:lnTo>
                    <a:pt x="766366" y="173756"/>
                  </a:lnTo>
                  <a:lnTo>
                    <a:pt x="812504" y="150305"/>
                  </a:lnTo>
                  <a:lnTo>
                    <a:pt x="861594" y="134047"/>
                  </a:lnTo>
                  <a:lnTo>
                    <a:pt x="909696" y="127495"/>
                  </a:lnTo>
                  <a:lnTo>
                    <a:pt x="923843" y="127947"/>
                  </a:lnTo>
                  <a:lnTo>
                    <a:pt x="956393" y="91656"/>
                  </a:lnTo>
                  <a:lnTo>
                    <a:pt x="999512" y="58790"/>
                  </a:lnTo>
                  <a:lnTo>
                    <a:pt x="1049404" y="31433"/>
                  </a:lnTo>
                  <a:lnTo>
                    <a:pt x="1102273" y="11665"/>
                  </a:lnTo>
                  <a:lnTo>
                    <a:pt x="1154323" y="1568"/>
                  </a:lnTo>
                  <a:lnTo>
                    <a:pt x="1179319" y="875"/>
                  </a:lnTo>
                  <a:lnTo>
                    <a:pt x="1201080" y="3534"/>
                  </a:lnTo>
                  <a:lnTo>
                    <a:pt x="1219157" y="9447"/>
                  </a:lnTo>
                  <a:lnTo>
                    <a:pt x="1233103" y="18517"/>
                  </a:lnTo>
                  <a:lnTo>
                    <a:pt x="1292078" y="3068"/>
                  </a:lnTo>
                  <a:lnTo>
                    <a:pt x="1342595" y="0"/>
                  </a:lnTo>
                  <a:lnTo>
                    <a:pt x="1381681" y="8654"/>
                  </a:lnTo>
                  <a:lnTo>
                    <a:pt x="1406361" y="28372"/>
                  </a:lnTo>
                  <a:lnTo>
                    <a:pt x="1413662" y="58496"/>
                  </a:lnTo>
                  <a:lnTo>
                    <a:pt x="1413328" y="63415"/>
                  </a:lnTo>
                  <a:lnTo>
                    <a:pt x="1412388" y="68541"/>
                  </a:lnTo>
                  <a:lnTo>
                    <a:pt x="1410848" y="73838"/>
                  </a:lnTo>
                  <a:lnTo>
                    <a:pt x="1454413" y="83342"/>
                  </a:lnTo>
                  <a:lnTo>
                    <a:pt x="1483139" y="102719"/>
                  </a:lnTo>
                  <a:lnTo>
                    <a:pt x="1496715" y="130327"/>
                  </a:lnTo>
                  <a:lnTo>
                    <a:pt x="1494829" y="164525"/>
                  </a:lnTo>
                  <a:lnTo>
                    <a:pt x="1477172" y="203669"/>
                  </a:lnTo>
                  <a:lnTo>
                    <a:pt x="1443433" y="246119"/>
                  </a:lnTo>
                  <a:lnTo>
                    <a:pt x="1398933" y="285652"/>
                  </a:lnTo>
                  <a:lnTo>
                    <a:pt x="1345290" y="321647"/>
                  </a:lnTo>
                  <a:lnTo>
                    <a:pt x="1349951" y="349787"/>
                  </a:lnTo>
                  <a:lnTo>
                    <a:pt x="1318328" y="415988"/>
                  </a:lnTo>
                  <a:lnTo>
                    <a:pt x="1284993" y="450405"/>
                  </a:lnTo>
                  <a:lnTo>
                    <a:pt x="1241939" y="483271"/>
                  </a:lnTo>
                  <a:lnTo>
                    <a:pt x="1190643" y="512764"/>
                  </a:lnTo>
                  <a:lnTo>
                    <a:pt x="1134960" y="536032"/>
                  </a:lnTo>
                  <a:lnTo>
                    <a:pt x="1080136" y="550590"/>
                  </a:lnTo>
                  <a:lnTo>
                    <a:pt x="1070257" y="583995"/>
                  </a:lnTo>
                  <a:lnTo>
                    <a:pt x="1049086" y="618723"/>
                  </a:lnTo>
                  <a:lnTo>
                    <a:pt x="1018143" y="653477"/>
                  </a:lnTo>
                  <a:lnTo>
                    <a:pt x="978947" y="686957"/>
                  </a:lnTo>
                  <a:lnTo>
                    <a:pt x="933017" y="717868"/>
                  </a:lnTo>
                  <a:lnTo>
                    <a:pt x="881873" y="744910"/>
                  </a:lnTo>
                  <a:lnTo>
                    <a:pt x="827033" y="766787"/>
                  </a:lnTo>
                  <a:lnTo>
                    <a:pt x="786524" y="778439"/>
                  </a:lnTo>
                  <a:lnTo>
                    <a:pt x="747958" y="785657"/>
                  </a:lnTo>
                  <a:lnTo>
                    <a:pt x="712165" y="788329"/>
                  </a:lnTo>
                  <a:lnTo>
                    <a:pt x="679977" y="786346"/>
                  </a:lnTo>
                  <a:lnTo>
                    <a:pt x="641801" y="817544"/>
                  </a:lnTo>
                  <a:lnTo>
                    <a:pt x="599951" y="845743"/>
                  </a:lnTo>
                  <a:lnTo>
                    <a:pt x="555513" y="870548"/>
                  </a:lnTo>
                  <a:lnTo>
                    <a:pt x="509574" y="891564"/>
                  </a:lnTo>
                  <a:lnTo>
                    <a:pt x="463220" y="908396"/>
                  </a:lnTo>
                  <a:lnTo>
                    <a:pt x="417536" y="920652"/>
                  </a:lnTo>
                  <a:lnTo>
                    <a:pt x="373610" y="927935"/>
                  </a:lnTo>
                  <a:lnTo>
                    <a:pt x="332527" y="929851"/>
                  </a:lnTo>
                  <a:lnTo>
                    <a:pt x="295374" y="926007"/>
                  </a:lnTo>
                  <a:lnTo>
                    <a:pt x="294057" y="925748"/>
                  </a:lnTo>
                  <a:lnTo>
                    <a:pt x="292755" y="925476"/>
                  </a:lnTo>
                  <a:lnTo>
                    <a:pt x="291467" y="925191"/>
                  </a:lnTo>
                  <a:lnTo>
                    <a:pt x="231119" y="952533"/>
                  </a:lnTo>
                  <a:lnTo>
                    <a:pt x="174076" y="965870"/>
                  </a:lnTo>
                  <a:lnTo>
                    <a:pt x="126653" y="964479"/>
                  </a:lnTo>
                  <a:lnTo>
                    <a:pt x="95165" y="947639"/>
                  </a:lnTo>
                  <a:lnTo>
                    <a:pt x="87393" y="932696"/>
                  </a:lnTo>
                  <a:lnTo>
                    <a:pt x="86837" y="914770"/>
                  </a:lnTo>
                  <a:lnTo>
                    <a:pt x="93389" y="894544"/>
                  </a:lnTo>
                  <a:lnTo>
                    <a:pt x="106942" y="872704"/>
                  </a:lnTo>
                  <a:lnTo>
                    <a:pt x="53609" y="876424"/>
                  </a:lnTo>
                  <a:lnTo>
                    <a:pt x="16881" y="864817"/>
                  </a:lnTo>
                  <a:lnTo>
                    <a:pt x="0" y="840080"/>
                  </a:lnTo>
                  <a:lnTo>
                    <a:pt x="6205" y="804410"/>
                  </a:lnTo>
                  <a:lnTo>
                    <a:pt x="20895" y="780777"/>
                  </a:lnTo>
                  <a:lnTo>
                    <a:pt x="42551" y="757148"/>
                  </a:lnTo>
                  <a:lnTo>
                    <a:pt x="70142" y="734491"/>
                  </a:lnTo>
                  <a:lnTo>
                    <a:pt x="102634" y="713777"/>
                  </a:lnTo>
                  <a:lnTo>
                    <a:pt x="103099" y="711583"/>
                  </a:lnTo>
                  <a:close/>
                </a:path>
                <a:path w="1497329" h="966470">
                  <a:moveTo>
                    <a:pt x="199136" y="835794"/>
                  </a:moveTo>
                  <a:lnTo>
                    <a:pt x="176453" y="847153"/>
                  </a:lnTo>
                  <a:lnTo>
                    <a:pt x="153360" y="856730"/>
                  </a:lnTo>
                  <a:lnTo>
                    <a:pt x="130259" y="864378"/>
                  </a:lnTo>
                  <a:lnTo>
                    <a:pt x="107552" y="869945"/>
                  </a:lnTo>
                </a:path>
                <a:path w="1497329" h="966470">
                  <a:moveTo>
                    <a:pt x="326683" y="899260"/>
                  </a:moveTo>
                  <a:lnTo>
                    <a:pt x="318198" y="905431"/>
                  </a:lnTo>
                  <a:lnTo>
                    <a:pt x="309382" y="911412"/>
                  </a:lnTo>
                  <a:lnTo>
                    <a:pt x="300262" y="917183"/>
                  </a:lnTo>
                  <a:lnTo>
                    <a:pt x="290869" y="922725"/>
                  </a:lnTo>
                </a:path>
                <a:path w="1497329" h="966470">
                  <a:moveTo>
                    <a:pt x="678877" y="784355"/>
                  </a:moveTo>
                  <a:lnTo>
                    <a:pt x="669850" y="782795"/>
                  </a:lnTo>
                  <a:lnTo>
                    <a:pt x="661319" y="780796"/>
                  </a:lnTo>
                  <a:lnTo>
                    <a:pt x="653302" y="778363"/>
                  </a:lnTo>
                  <a:lnTo>
                    <a:pt x="645816" y="775500"/>
                  </a:lnTo>
                </a:path>
                <a:path w="1497329" h="966470">
                  <a:moveTo>
                    <a:pt x="1077416" y="521870"/>
                  </a:moveTo>
                  <a:lnTo>
                    <a:pt x="1078904" y="528186"/>
                  </a:lnTo>
                  <a:lnTo>
                    <a:pt x="1079730" y="534778"/>
                  </a:lnTo>
                  <a:lnTo>
                    <a:pt x="1079894" y="541630"/>
                  </a:lnTo>
                  <a:lnTo>
                    <a:pt x="1079393" y="548730"/>
                  </a:lnTo>
                </a:path>
                <a:path w="1497329" h="966470">
                  <a:moveTo>
                    <a:pt x="1190624" y="293219"/>
                  </a:moveTo>
                  <a:lnTo>
                    <a:pt x="1244447" y="284531"/>
                  </a:lnTo>
                  <a:lnTo>
                    <a:pt x="1289518" y="286508"/>
                  </a:lnTo>
                  <a:lnTo>
                    <a:pt x="1323438" y="298719"/>
                  </a:lnTo>
                  <a:lnTo>
                    <a:pt x="1343808" y="320733"/>
                  </a:lnTo>
                </a:path>
                <a:path w="1497329" h="966470">
                  <a:moveTo>
                    <a:pt x="1409532" y="72954"/>
                  </a:moveTo>
                  <a:lnTo>
                    <a:pt x="1404476" y="86439"/>
                  </a:lnTo>
                  <a:lnTo>
                    <a:pt x="1397052" y="100373"/>
                  </a:lnTo>
                  <a:lnTo>
                    <a:pt x="1387344" y="114614"/>
                  </a:lnTo>
                  <a:lnTo>
                    <a:pt x="1375439" y="129021"/>
                  </a:lnTo>
                </a:path>
                <a:path w="1497329" h="966470">
                  <a:moveTo>
                    <a:pt x="1232433" y="16665"/>
                  </a:moveTo>
                  <a:lnTo>
                    <a:pt x="1236760" y="20583"/>
                  </a:lnTo>
                  <a:lnTo>
                    <a:pt x="1240106" y="25083"/>
                  </a:lnTo>
                  <a:lnTo>
                    <a:pt x="1242421" y="30103"/>
                  </a:lnTo>
                </a:path>
                <a:path w="1497329" h="966470">
                  <a:moveTo>
                    <a:pt x="906508" y="158069"/>
                  </a:moveTo>
                  <a:lnTo>
                    <a:pt x="909250" y="150435"/>
                  </a:lnTo>
                  <a:lnTo>
                    <a:pt x="912852" y="142614"/>
                  </a:lnTo>
                  <a:lnTo>
                    <a:pt x="917297" y="134637"/>
                  </a:lnTo>
                  <a:lnTo>
                    <a:pt x="922570" y="126535"/>
                  </a:lnTo>
                </a:path>
                <a:path w="1497329" h="966470">
                  <a:moveTo>
                    <a:pt x="672900" y="286033"/>
                  </a:moveTo>
                  <a:lnTo>
                    <a:pt x="672733" y="279089"/>
                  </a:lnTo>
                  <a:lnTo>
                    <a:pt x="674153" y="271570"/>
                  </a:lnTo>
                  <a:lnTo>
                    <a:pt x="677128" y="263648"/>
                  </a:lnTo>
                </a:path>
                <a:path w="1497329" h="966470">
                  <a:moveTo>
                    <a:pt x="396244" y="431196"/>
                  </a:moveTo>
                  <a:lnTo>
                    <a:pt x="409883" y="428701"/>
                  </a:lnTo>
                  <a:lnTo>
                    <a:pt x="423199" y="426773"/>
                  </a:lnTo>
                  <a:lnTo>
                    <a:pt x="436156" y="425416"/>
                  </a:lnTo>
                  <a:lnTo>
                    <a:pt x="448716" y="424636"/>
                  </a:lnTo>
                </a:path>
                <a:path w="1497329" h="966470">
                  <a:moveTo>
                    <a:pt x="119161" y="724252"/>
                  </a:moveTo>
                  <a:lnTo>
                    <a:pt x="112921" y="720602"/>
                  </a:lnTo>
                  <a:lnTo>
                    <a:pt x="107553" y="716367"/>
                  </a:lnTo>
                  <a:lnTo>
                    <a:pt x="103106" y="711584"/>
                  </a:lnTo>
                </a:path>
              </a:pathLst>
            </a:custGeom>
            <a:ln w="9857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 rot="20040000">
            <a:off x="3468567" y="4473504"/>
            <a:ext cx="568997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80"/>
              </a:lnSpc>
            </a:pPr>
            <a:r>
              <a:rPr dirty="0" sz="2100" spc="-20" b="1">
                <a:solidFill>
                  <a:srgbClr val="151515"/>
                </a:solidFill>
                <a:latin typeface="Calibri"/>
                <a:cs typeface="Calibri"/>
              </a:rPr>
              <a:t>Slip</a:t>
            </a:r>
            <a:r>
              <a:rPr dirty="0" baseline="1322" sz="3150" spc="-30" b="1">
                <a:solidFill>
                  <a:srgbClr val="151515"/>
                </a:solidFill>
                <a:latin typeface="Calibri"/>
                <a:cs typeface="Calibri"/>
              </a:rPr>
              <a:t>s</a:t>
            </a:r>
            <a:endParaRPr baseline="1322" sz="3150">
              <a:latin typeface="Calibri"/>
              <a:cs typeface="Calibri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1441" y="425492"/>
            <a:ext cx="8500110" cy="6950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Info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50" b="1">
                <a:solidFill>
                  <a:srgbClr val="151515"/>
                </a:solidFill>
                <a:latin typeface="Calibri"/>
                <a:cs typeface="Calibri"/>
              </a:rPr>
              <a:t>B</a:t>
            </a:r>
            <a:endParaRPr sz="37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324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r>
              <a:rPr dirty="0" sz="2500" spc="-10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Repeat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(identical)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here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9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Cast</a:t>
            </a:r>
            <a:r>
              <a:rPr dirty="0" sz="25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1670" marR="508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General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remarks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segments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choices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made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cast,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including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generated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discarded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personas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scenarios.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Persona</a:t>
            </a:r>
            <a:r>
              <a:rPr dirty="0" sz="2500" spc="-10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5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fields.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Mainly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text.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verbose.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sure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persona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represents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segment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others</a:t>
            </a:r>
            <a:endParaRPr sz="2100">
              <a:latin typeface="Calibri"/>
              <a:cs typeface="Calibri"/>
            </a:endParaRPr>
          </a:p>
          <a:p>
            <a:pPr lvl="1" marL="661670" marR="665480" indent="-295910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sure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creating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believable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characters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full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details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peculiarities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5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most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important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B.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complete!</a:t>
            </a:r>
            <a:endParaRPr sz="2100">
              <a:latin typeface="Calibri"/>
              <a:cs typeface="Calibri"/>
            </a:endParaRPr>
          </a:p>
          <a:p>
            <a:pPr lvl="1" marL="661670" marR="27940" indent="-295910">
              <a:lnSpc>
                <a:spcPts val="2500"/>
              </a:lnSpc>
              <a:spcBef>
                <a:spcPts val="60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Connect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recommendation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assessment and/or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testing.</a:t>
            </a:r>
            <a:endParaRPr sz="2100">
              <a:latin typeface="Calibri"/>
              <a:cs typeface="Calibri"/>
            </a:endParaRPr>
          </a:p>
          <a:p>
            <a:pPr lvl="1" marL="661670" marR="3091180" indent="-295910">
              <a:lnSpc>
                <a:spcPts val="2500"/>
              </a:lnSpc>
              <a:spcBef>
                <a:spcPts val="4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sure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personas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able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suggest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non-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obvious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ideas.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FFC00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-50" b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0650" y="2563134"/>
            <a:ext cx="1715770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</a:rPr>
              <a:t>Phase</a:t>
            </a:r>
            <a:r>
              <a:rPr dirty="0" sz="4100" spc="5">
                <a:solidFill>
                  <a:srgbClr val="FFFFFF"/>
                </a:solidFill>
              </a:rPr>
              <a:t> </a:t>
            </a:r>
            <a:r>
              <a:rPr dirty="0" sz="4100" spc="-50">
                <a:solidFill>
                  <a:srgbClr val="FFFFFF"/>
                </a:solidFill>
              </a:rPr>
              <a:t>C</a:t>
            </a:r>
            <a:endParaRPr sz="41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4</a:t>
            </a:r>
            <a:r>
              <a:rPr dirty="0" sz="3300" spc="-20"/>
              <a:t> </a:t>
            </a:r>
            <a:r>
              <a:rPr dirty="0" sz="3300"/>
              <a:t>Design</a:t>
            </a:r>
            <a:r>
              <a:rPr dirty="0" sz="3300" spc="-20"/>
              <a:t> </a:t>
            </a:r>
            <a:r>
              <a:rPr dirty="0" sz="3300" spc="-10"/>
              <a:t>proposal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390940"/>
            <a:ext cx="5100955" cy="434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68120">
              <a:lnSpc>
                <a:spcPct val="121200"/>
              </a:lnSpc>
              <a:spcBef>
                <a:spcPts val="100"/>
              </a:spcBef>
            </a:pP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your 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proposal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dirty="0" sz="330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300" spc="-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3300">
              <a:latin typeface="Calibri"/>
              <a:cs typeface="Calibri"/>
            </a:endParaRPr>
          </a:p>
          <a:p>
            <a:pPr marL="449580">
              <a:lnSpc>
                <a:spcPct val="100000"/>
              </a:lnSpc>
              <a:spcBef>
                <a:spcPts val="760"/>
              </a:spcBef>
            </a:pP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4.0</a:t>
            </a:r>
            <a:r>
              <a:rPr dirty="0" sz="2900" spc="-2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Adoption</a:t>
            </a:r>
            <a:r>
              <a:rPr dirty="0" sz="2900" spc="-3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3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900" spc="-3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900" spc="-3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model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3300">
              <a:latin typeface="Calibri"/>
              <a:cs typeface="Calibri"/>
            </a:endParaRPr>
          </a:p>
          <a:p>
            <a:pPr marL="365760">
              <a:lnSpc>
                <a:spcPct val="100000"/>
              </a:lnSpc>
              <a:spcBef>
                <a:spcPts val="445"/>
              </a:spcBef>
            </a:pP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4.1</a:t>
            </a:r>
            <a:r>
              <a:rPr dirty="0" sz="2900" spc="-8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9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Architecture</a:t>
            </a:r>
            <a:endParaRPr sz="2900">
              <a:latin typeface="Calibri"/>
              <a:cs typeface="Calibri"/>
            </a:endParaRPr>
          </a:p>
          <a:p>
            <a:pPr lvl="1" marL="916305" indent="-550545">
              <a:lnSpc>
                <a:spcPct val="100000"/>
              </a:lnSpc>
              <a:spcBef>
                <a:spcPts val="340"/>
              </a:spcBef>
              <a:buAutoNum type="arabicPeriod" startAt="3"/>
              <a:tabLst>
                <a:tab pos="916305" algn="l"/>
              </a:tabLst>
            </a:pP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Interaction</a:t>
            </a:r>
            <a:r>
              <a:rPr dirty="0" sz="2900" spc="-12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2900">
              <a:latin typeface="Calibri"/>
              <a:cs typeface="Calibri"/>
            </a:endParaRPr>
          </a:p>
          <a:p>
            <a:pPr lvl="1" marL="916305" indent="-550545">
              <a:lnSpc>
                <a:spcPct val="100000"/>
              </a:lnSpc>
              <a:spcBef>
                <a:spcPts val="405"/>
              </a:spcBef>
              <a:buAutoNum type="arabicPeriod" startAt="3"/>
              <a:tabLst>
                <a:tab pos="916305" algn="l"/>
              </a:tabLst>
            </a:pPr>
            <a:r>
              <a:rPr dirty="0" sz="2900" i="1">
                <a:solidFill>
                  <a:srgbClr val="151515"/>
                </a:solidFill>
                <a:latin typeface="Calibri"/>
                <a:cs typeface="Calibri"/>
              </a:rPr>
              <a:t>Structure</a:t>
            </a:r>
            <a:r>
              <a:rPr dirty="0" sz="2900" spc="-1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Blueprint</a:t>
            </a:r>
            <a:endParaRPr sz="2900">
              <a:latin typeface="Calibri"/>
              <a:cs typeface="Calibri"/>
            </a:endParaRPr>
          </a:p>
          <a:p>
            <a:pPr lvl="1" marL="916305" indent="-550545">
              <a:lnSpc>
                <a:spcPct val="100000"/>
              </a:lnSpc>
              <a:spcBef>
                <a:spcPts val="335"/>
              </a:spcBef>
              <a:buAutoNum type="arabicPeriod" startAt="3"/>
              <a:tabLst>
                <a:tab pos="916305" algn="l"/>
              </a:tabLst>
            </a:pPr>
            <a:r>
              <a:rPr dirty="0" sz="2900" spc="-10" i="1">
                <a:solidFill>
                  <a:srgbClr val="151515"/>
                </a:solidFill>
                <a:latin typeface="Calibri"/>
                <a:cs typeface="Calibri"/>
              </a:rPr>
              <a:t>Wireframes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6515" y="228600"/>
            <a:ext cx="1524635" cy="647700"/>
          </a:xfrm>
          <a:prstGeom prst="rect">
            <a:avLst/>
          </a:prstGeom>
          <a:solidFill>
            <a:srgbClr val="92D05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180">
                <a:latin typeface="Tahoma"/>
                <a:cs typeface="Tahoma"/>
              </a:rPr>
              <a:t>C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4.1</a:t>
            </a:r>
            <a:r>
              <a:rPr dirty="0" sz="3300" spc="-85"/>
              <a:t> </a:t>
            </a:r>
            <a:r>
              <a:rPr dirty="0" sz="3300"/>
              <a:t>Information</a:t>
            </a:r>
            <a:r>
              <a:rPr dirty="0" sz="3300" spc="-85"/>
              <a:t> </a:t>
            </a:r>
            <a:r>
              <a:rPr dirty="0" sz="3300" spc="-10"/>
              <a:t>architecture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401784" y="1408904"/>
            <a:ext cx="8139430" cy="528764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Top-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down</a:t>
            </a:r>
            <a:r>
              <a:rPr dirty="0" sz="2900" spc="-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29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overview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2500">
              <a:latin typeface="Calibri"/>
              <a:cs typeface="Calibri"/>
            </a:endParaRPr>
          </a:p>
          <a:p>
            <a:pPr marL="660400" marR="5080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Every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part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progressively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refined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adding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more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details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design.</a:t>
            </a:r>
            <a:endParaRPr sz="2500">
              <a:latin typeface="Calibri"/>
              <a:cs typeface="Calibri"/>
            </a:endParaRPr>
          </a:p>
          <a:p>
            <a:pPr marL="660400" marR="67945" indent="-294640">
              <a:lnSpc>
                <a:spcPct val="100000"/>
              </a:lnSpc>
              <a:spcBef>
                <a:spcPts val="600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starts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business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goals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users'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goals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therefore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appropriate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strategy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achieve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goal.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Bottom-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up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2900">
              <a:latin typeface="Calibri"/>
              <a:cs typeface="Calibri"/>
            </a:endParaRPr>
          </a:p>
          <a:p>
            <a:pPr marL="660400" indent="-294640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040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Individual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parts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described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detail</a:t>
            </a:r>
            <a:endParaRPr sz="2500">
              <a:latin typeface="Calibri"/>
              <a:cs typeface="Calibri"/>
            </a:endParaRPr>
          </a:p>
          <a:p>
            <a:pPr marL="660400" marR="609600" indent="-294640">
              <a:lnSpc>
                <a:spcPct val="100400"/>
              </a:lnSpc>
              <a:spcBef>
                <a:spcPts val="585"/>
              </a:spcBef>
              <a:buClr>
                <a:srgbClr val="333399"/>
              </a:buClr>
              <a:buSzPct val="76000"/>
              <a:buFont typeface="Arial MT"/>
              <a:buChar char="◆"/>
              <a:tabLst>
                <a:tab pos="66167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parts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connected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form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larger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components,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interconnected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	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complete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0762" y="6847765"/>
            <a:ext cx="5841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666699"/>
                </a:solidFill>
                <a:latin typeface="Times New Roman"/>
                <a:cs typeface="Times New Roman"/>
              </a:rPr>
              <a:t>•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46515" y="228600"/>
            <a:ext cx="1524635" cy="647700"/>
          </a:xfrm>
          <a:prstGeom prst="rect">
            <a:avLst/>
          </a:prstGeom>
          <a:solidFill>
            <a:srgbClr val="92D05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180">
                <a:latin typeface="Tahoma"/>
                <a:cs typeface="Tahoma"/>
              </a:rPr>
              <a:t>C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385127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4.3</a:t>
            </a:r>
            <a:r>
              <a:rPr dirty="0" sz="3300" spc="-7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Interaction</a:t>
            </a:r>
            <a:r>
              <a:rPr dirty="0" sz="3300" spc="-7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22428"/>
            <a:ext cx="7607934" cy="29241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framework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overall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clarifies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unambiguously: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services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available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clear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hierarchical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organization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functions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100">
              <a:latin typeface="Calibri"/>
              <a:cs typeface="Calibri"/>
            </a:endParaRPr>
          </a:p>
          <a:p>
            <a:pPr marL="367030" marR="5080" indent="-354965">
              <a:lnSpc>
                <a:spcPct val="100400"/>
              </a:lnSpc>
              <a:spcBef>
                <a:spcPts val="45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content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managed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reasonably,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be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sorted,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cataloged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correctly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be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recalled</a:t>
            </a:r>
            <a:r>
              <a:rPr dirty="0" sz="2500" spc="-1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effectively.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92D05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180" b="0">
                <a:solidFill>
                  <a:srgbClr val="000000"/>
                </a:solidFill>
                <a:latin typeface="Tahoma"/>
                <a:cs typeface="Tahoma"/>
              </a:rPr>
              <a:t>C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228473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4.4</a:t>
            </a:r>
            <a:r>
              <a:rPr dirty="0" sz="3300" spc="-3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Blueprint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05499"/>
            <a:ext cx="8234045" cy="492252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Blueprints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drawings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define:</a:t>
            </a:r>
            <a:endParaRPr sz="25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62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component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organization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content</a:t>
            </a:r>
            <a:endParaRPr sz="2100">
              <a:latin typeface="Calibri"/>
              <a:cs typeface="Calibri"/>
            </a:endParaRPr>
          </a:p>
          <a:p>
            <a:pPr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components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connected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each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other.</a:t>
            </a:r>
            <a:endParaRPr sz="2100">
              <a:latin typeface="Calibri"/>
              <a:cs typeface="Calibri"/>
            </a:endParaRPr>
          </a:p>
          <a:p>
            <a:pPr marL="367030" marR="5080" indent="-354965">
              <a:lnSpc>
                <a:spcPct val="100000"/>
              </a:lnSpc>
              <a:spcBef>
                <a:spcPts val="459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usually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difficult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represent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complex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just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one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blueprint,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advisable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provide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multiple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perspectives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architecture.</a:t>
            </a:r>
            <a:endParaRPr sz="2500">
              <a:latin typeface="Calibri"/>
              <a:cs typeface="Calibri"/>
            </a:endParaRPr>
          </a:p>
          <a:p>
            <a:pPr marL="367030" marR="30480" indent="-354965">
              <a:lnSpc>
                <a:spcPct val="100400"/>
              </a:lnSpc>
              <a:spcBef>
                <a:spcPts val="59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also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advisable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generate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versions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depending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on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blueprint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(programmers,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clients,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marketing department,</a:t>
            </a:r>
            <a:r>
              <a:rPr dirty="0" sz="2500" spc="-12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etc.)</a:t>
            </a:r>
            <a:endParaRPr sz="2500">
              <a:latin typeface="Calibri"/>
              <a:cs typeface="Calibri"/>
            </a:endParaRPr>
          </a:p>
          <a:p>
            <a:pPr marL="367030" marR="159385" indent="-354965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blueprint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complete,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include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parts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connections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implementers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inclue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final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92D05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180" b="0">
                <a:solidFill>
                  <a:srgbClr val="000000"/>
                </a:solidFill>
                <a:latin typeface="Tahoma"/>
                <a:cs typeface="Tahoma"/>
              </a:rPr>
              <a:t>C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41069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4.5</a:t>
            </a:r>
            <a:r>
              <a:rPr dirty="0" sz="3300" spc="-35"/>
              <a:t> </a:t>
            </a:r>
            <a:r>
              <a:rPr dirty="0" sz="3300" spc="-10"/>
              <a:t>Wireframes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638321" y="1496402"/>
            <a:ext cx="8291830" cy="46488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45085">
              <a:lnSpc>
                <a:spcPct val="100699"/>
              </a:lnSpc>
              <a:spcBef>
                <a:spcPts val="75"/>
              </a:spcBef>
            </a:pP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Drawings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most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fundamental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parts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page.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drawing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every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screenful</a:t>
            </a:r>
            <a:r>
              <a:rPr dirty="0" sz="2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51515"/>
                </a:solidFill>
                <a:latin typeface="Calibri"/>
                <a:cs typeface="Calibri"/>
              </a:rPr>
              <a:t>system.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(should)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wireframes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500">
              <a:latin typeface="Calibri"/>
              <a:cs typeface="Calibri"/>
            </a:endParaRPr>
          </a:p>
          <a:p>
            <a:pPr marL="28575" marR="279400" indent="-16510">
              <a:lnSpc>
                <a:spcPct val="100000"/>
              </a:lnSpc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wireframe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complete,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include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text, images,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commands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labels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need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complete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tasks</a:t>
            </a:r>
            <a:endParaRPr sz="2500">
              <a:latin typeface="Calibri"/>
              <a:cs typeface="Calibri"/>
            </a:endParaRPr>
          </a:p>
          <a:p>
            <a:pPr marL="28575" marR="5080" indent="-16510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wireframes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obvious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passages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(e.g.,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login),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include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commands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accessing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wireframe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create.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6515" y="228600"/>
            <a:ext cx="1524635" cy="647700"/>
          </a:xfrm>
          <a:prstGeom prst="rect">
            <a:avLst/>
          </a:prstGeom>
          <a:solidFill>
            <a:srgbClr val="92D05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955"/>
              </a:spcBef>
            </a:pPr>
            <a:r>
              <a:rPr dirty="0" sz="2500">
                <a:latin typeface="Tahoma"/>
                <a:cs typeface="Tahoma"/>
              </a:rPr>
              <a:t>Phase</a:t>
            </a:r>
            <a:r>
              <a:rPr dirty="0" sz="2500" spc="5">
                <a:latin typeface="Tahoma"/>
                <a:cs typeface="Tahoma"/>
              </a:rPr>
              <a:t> </a:t>
            </a:r>
            <a:r>
              <a:rPr dirty="0" sz="2500" spc="180">
                <a:latin typeface="Tahoma"/>
                <a:cs typeface="Tahoma"/>
              </a:rPr>
              <a:t>C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8321" y="464123"/>
            <a:ext cx="328676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4.5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Wireframes</a:t>
            </a:r>
            <a:r>
              <a:rPr dirty="0" sz="3300" spc="-4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25" b="1">
                <a:solidFill>
                  <a:srgbClr val="151515"/>
                </a:solidFill>
                <a:latin typeface="Calibri"/>
                <a:cs typeface="Calibri"/>
              </a:rPr>
              <a:t>(2)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8321" y="1495409"/>
            <a:ext cx="7791450" cy="4525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SzPct val="48000"/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avoid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useless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details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(e.g.,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text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shown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when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logging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in)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overly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generic interfaces.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Clr>
                <a:srgbClr val="151515"/>
              </a:buClr>
              <a:buFont typeface="Wingdings"/>
              <a:buChar char=""/>
            </a:pPr>
            <a:endParaRPr sz="2500">
              <a:latin typeface="Calibri"/>
              <a:cs typeface="Calibri"/>
            </a:endParaRPr>
          </a:p>
          <a:p>
            <a:pPr marL="367030" marR="10160" indent="-354965">
              <a:lnSpc>
                <a:spcPct val="100000"/>
              </a:lnSpc>
              <a:spcBef>
                <a:spcPts val="5"/>
              </a:spcBef>
              <a:buSzPct val="48000"/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Since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tone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messages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important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motivation,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all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parts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interface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deliver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tone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messages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FULLY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DESIGNED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DESCRIBED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151515"/>
              </a:buClr>
              <a:buFont typeface="Wingdings"/>
              <a:buChar char=""/>
            </a:pPr>
            <a:endParaRPr sz="2500">
              <a:latin typeface="Calibri"/>
              <a:cs typeface="Calibri"/>
            </a:endParaRPr>
          </a:p>
          <a:p>
            <a:pPr marL="367030" marR="199390" indent="-354965">
              <a:lnSpc>
                <a:spcPct val="100400"/>
              </a:lnSpc>
              <a:buSzPct val="48000"/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includes: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texts,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images,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layouts,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colors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anything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possibly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increase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strengthen motivation.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92D05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180" b="0">
                <a:solidFill>
                  <a:srgbClr val="000000"/>
                </a:solidFill>
                <a:latin typeface="Tahoma"/>
                <a:cs typeface="Tahoma"/>
              </a:rPr>
              <a:t>C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1441" y="425492"/>
            <a:ext cx="8614410" cy="621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Info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50" b="1">
                <a:solidFill>
                  <a:srgbClr val="151515"/>
                </a:solidFill>
                <a:latin typeface="Calibri"/>
                <a:cs typeface="Calibri"/>
              </a:rPr>
              <a:t>C</a:t>
            </a:r>
            <a:endParaRPr sz="37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324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500" spc="-10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Architecture</a:t>
            </a:r>
            <a:r>
              <a:rPr dirty="0" sz="2500" spc="-10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remarks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choices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per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Information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Architecture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9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Blueprint</a:t>
            </a:r>
            <a:r>
              <a:rPr dirty="0" sz="2500" spc="-13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(Any</a:t>
            </a:r>
            <a:r>
              <a:rPr dirty="0" sz="21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form)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used.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complete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thorough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6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Wireframe</a:t>
            </a:r>
            <a:r>
              <a:rPr dirty="0" sz="2500" spc="-10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(Any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form)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choice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tool.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Lo-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sketches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Lo-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Fi,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Hi-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drawings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Hi-</a:t>
            </a:r>
            <a:r>
              <a:rPr dirty="0" sz="2100" spc="-35">
                <a:solidFill>
                  <a:srgbClr val="151515"/>
                </a:solidFill>
                <a:latin typeface="Calibri"/>
                <a:cs typeface="Calibri"/>
              </a:rPr>
              <a:t>Fi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6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Comparison</a:t>
            </a:r>
            <a:r>
              <a:rPr dirty="0" sz="25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(Any</a:t>
            </a:r>
            <a:r>
              <a:rPr dirty="0" sz="2100" spc="-6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form)</a:t>
            </a:r>
            <a:endParaRPr sz="2100">
              <a:latin typeface="Calibri"/>
              <a:cs typeface="Calibri"/>
            </a:endParaRPr>
          </a:p>
          <a:p>
            <a:pPr lvl="1" marL="661670" marR="16637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depth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before/after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visualization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same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part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application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original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prototype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0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11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final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reflections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carried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Important: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describe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detail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personas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affected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influenced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92D05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180" b="0">
                <a:solidFill>
                  <a:srgbClr val="000000"/>
                </a:solidFill>
                <a:latin typeface="Tahoma"/>
                <a:cs typeface="Tahoma"/>
              </a:rPr>
              <a:t>C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3547" y="2563134"/>
            <a:ext cx="1768475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</a:rPr>
              <a:t>Phase</a:t>
            </a:r>
            <a:r>
              <a:rPr dirty="0" sz="4100" spc="5">
                <a:solidFill>
                  <a:srgbClr val="FFFFFF"/>
                </a:solidFill>
              </a:rPr>
              <a:t> </a:t>
            </a:r>
            <a:r>
              <a:rPr dirty="0" sz="4100" spc="-50">
                <a:solidFill>
                  <a:srgbClr val="FFFFFF"/>
                </a:solidFill>
              </a:rPr>
              <a:t>D</a:t>
            </a:r>
            <a:endParaRPr sz="41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465074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5.</a:t>
            </a:r>
            <a:r>
              <a:rPr dirty="0" sz="3300" spc="-5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3300" spc="-4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300" spc="-4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7395"/>
            <a:ext cx="7780655" cy="33756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50"/>
              </a:spcBef>
            </a:pP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Evaluate</a:t>
            </a:r>
            <a:r>
              <a:rPr dirty="0" sz="33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3300" spc="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3300" spc="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3300" spc="1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300" spc="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same</a:t>
            </a:r>
            <a:r>
              <a:rPr dirty="0" sz="33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3300" spc="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methods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33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used for</a:t>
            </a:r>
            <a:r>
              <a:rPr dirty="0" sz="33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300" spc="-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existing resources</a:t>
            </a:r>
            <a:endParaRPr sz="3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3300">
              <a:latin typeface="Calibri"/>
              <a:cs typeface="Calibri"/>
            </a:endParaRPr>
          </a:p>
          <a:p>
            <a:pPr lvl="1" marL="640715" indent="-628015">
              <a:lnSpc>
                <a:spcPct val="100000"/>
              </a:lnSpc>
              <a:buAutoNum type="arabicPeriod"/>
              <a:tabLst>
                <a:tab pos="640715" algn="l"/>
              </a:tabLst>
            </a:pPr>
            <a:r>
              <a:rPr dirty="0" sz="3300" spc="-10" i="1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endParaRPr sz="3300">
              <a:latin typeface="Calibri"/>
              <a:cs typeface="Calibri"/>
            </a:endParaRPr>
          </a:p>
          <a:p>
            <a:pPr lvl="1" marL="640715" indent="-62801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640715" algn="l"/>
              </a:tabLst>
            </a:pPr>
            <a:r>
              <a:rPr dirty="0" sz="3300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3300" spc="-2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i="1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00B0F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50" b="0">
                <a:solidFill>
                  <a:srgbClr val="000000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494411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5.1</a:t>
            </a:r>
            <a:r>
              <a:rPr dirty="0" sz="3300" spc="-5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r>
              <a:rPr dirty="0" sz="3300" spc="-5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08645" cy="3740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takes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place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within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endParaRPr sz="2500">
              <a:latin typeface="Calibri"/>
              <a:cs typeface="Calibri"/>
            </a:endParaRPr>
          </a:p>
          <a:p>
            <a:pPr marL="12700" marR="616585">
              <a:lnSpc>
                <a:spcPct val="100000"/>
              </a:lnSpc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team.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reason,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rather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cheap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technique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(but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also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rather</a:t>
            </a:r>
            <a:r>
              <a:rPr dirty="0" sz="2500" spc="-1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inaccurate).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three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techniques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relevant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purpose:</a:t>
            </a:r>
            <a:endParaRPr sz="2500">
              <a:latin typeface="Calibri"/>
              <a:cs typeface="Calibri"/>
            </a:endParaRPr>
          </a:p>
          <a:p>
            <a:pPr marL="661670" marR="508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Cognitive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walkthrough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fictional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step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step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execution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task,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empirical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performance</a:t>
            </a:r>
            <a:endParaRPr sz="2100">
              <a:latin typeface="Calibri"/>
              <a:cs typeface="Calibri"/>
            </a:endParaRPr>
          </a:p>
          <a:p>
            <a:pPr marL="661670" marR="58419" indent="-295910">
              <a:lnSpc>
                <a:spcPts val="2500"/>
              </a:lnSpc>
              <a:spcBef>
                <a:spcPts val="4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Action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quantitative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actions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be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performed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perform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task.</a:t>
            </a:r>
            <a:endParaRPr sz="2100">
              <a:latin typeface="Calibri"/>
              <a:cs typeface="Calibri"/>
            </a:endParaRPr>
          </a:p>
          <a:p>
            <a:pPr marL="661670" marR="67945" indent="-29591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Heuristic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analysis</a:t>
            </a:r>
            <a:r>
              <a:rPr dirty="0" sz="2100" spc="-6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(or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guidelines):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evaluation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system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based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common-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sense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rules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derived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past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experiences.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00B0F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50" b="0">
                <a:solidFill>
                  <a:srgbClr val="000000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275717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5.2</a:t>
            </a:r>
            <a:r>
              <a:rPr dirty="0" sz="3300" spc="-2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3300" spc="-2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00921"/>
            <a:ext cx="8261350" cy="555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04215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phase,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applied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your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now.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Recommendation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(both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here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before):</a:t>
            </a:r>
            <a:endParaRPr sz="25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505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real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(no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fiction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here: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real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people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flesh)</a:t>
            </a:r>
            <a:endParaRPr sz="1900">
              <a:latin typeface="Calibri"/>
              <a:cs typeface="Calibri"/>
            </a:endParaRPr>
          </a:p>
          <a:p>
            <a:pPr marL="661670" indent="-295910">
              <a:lnSpc>
                <a:spcPct val="100000"/>
              </a:lnSpc>
              <a:spcBef>
                <a:spcPts val="430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Apply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well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known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metrics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tests.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invent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measures</a:t>
            </a:r>
            <a:endParaRPr sz="1900">
              <a:latin typeface="Calibri"/>
              <a:cs typeface="Calibri"/>
            </a:endParaRPr>
          </a:p>
          <a:p>
            <a:pPr marL="661670" marR="313690" indent="-295910">
              <a:lnSpc>
                <a:spcPct val="101099"/>
              </a:lnSpc>
              <a:spcBef>
                <a:spcPts val="385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Plan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least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one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30" i="1">
                <a:solidFill>
                  <a:srgbClr val="151515"/>
                </a:solidFill>
                <a:latin typeface="Calibri"/>
                <a:cs typeface="Calibri"/>
              </a:rPr>
              <a:t>satisfaction-</a:t>
            </a:r>
            <a:r>
              <a:rPr dirty="0" sz="1900" spc="-20" i="1">
                <a:solidFill>
                  <a:srgbClr val="151515"/>
                </a:solidFill>
                <a:latin typeface="Calibri"/>
                <a:cs typeface="Calibri"/>
              </a:rPr>
              <a:t>oriented</a:t>
            </a:r>
            <a:r>
              <a:rPr dirty="0" sz="19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:</a:t>
            </a:r>
            <a:r>
              <a:rPr dirty="0" sz="19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after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19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30">
                <a:solidFill>
                  <a:srgbClr val="151515"/>
                </a:solidFill>
                <a:latin typeface="Calibri"/>
                <a:cs typeface="Calibri"/>
              </a:rPr>
              <a:t>user-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experience design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course,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satisfaction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most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important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aspect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UUXD.</a:t>
            </a:r>
            <a:endParaRPr sz="1900">
              <a:latin typeface="Calibri"/>
              <a:cs typeface="Calibri"/>
            </a:endParaRPr>
          </a:p>
          <a:p>
            <a:pPr marL="661670" marR="5080" indent="-295910">
              <a:lnSpc>
                <a:spcPct val="98400"/>
              </a:lnSpc>
              <a:spcBef>
                <a:spcPts val="465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Put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actual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quantitative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tables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documentation.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19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important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me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able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check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conceptual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conclusions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figures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that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back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up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opinions.</a:t>
            </a:r>
            <a:endParaRPr sz="1900">
              <a:latin typeface="Calibri"/>
              <a:cs typeface="Calibri"/>
            </a:endParaRPr>
          </a:p>
          <a:p>
            <a:pPr marL="661670" marR="82550" indent="-295910">
              <a:lnSpc>
                <a:spcPct val="98800"/>
              </a:lnSpc>
              <a:spcBef>
                <a:spcPts val="459"/>
              </a:spcBef>
              <a:buClr>
                <a:srgbClr val="333399"/>
              </a:buClr>
              <a:buSzPct val="73684"/>
              <a:buFont typeface="Arial MT"/>
              <a:buChar char="◆"/>
              <a:tabLst>
                <a:tab pos="661670" algn="l"/>
              </a:tabLst>
            </a:pP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testers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current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19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planned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means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comparing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absolute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qualities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systems,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while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using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same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testers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means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evaluating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improvement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second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over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one.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Both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good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choices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19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choices.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prepared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defend your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choice.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Make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sure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there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consistent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interval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time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two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tests,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so</a:t>
            </a:r>
            <a:r>
              <a:rPr dirty="0" sz="19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19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tester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"forget"</a:t>
            </a:r>
            <a:r>
              <a:rPr dirty="0" sz="19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details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impressions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151515"/>
                </a:solidFill>
                <a:latin typeface="Calibri"/>
                <a:cs typeface="Calibri"/>
              </a:rPr>
              <a:t>opinions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19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1900" spc="-10">
                <a:solidFill>
                  <a:srgbClr val="151515"/>
                </a:solidFill>
                <a:latin typeface="Calibri"/>
                <a:cs typeface="Calibri"/>
              </a:rPr>
              <a:t>meantime.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00B0F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50" b="0">
                <a:solidFill>
                  <a:srgbClr val="000000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1784" y="464123"/>
            <a:ext cx="652018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6</a:t>
            </a:r>
            <a:r>
              <a:rPr dirty="0" sz="3300" spc="-4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Conclusions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3300" spc="-5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151515"/>
                </a:solidFill>
                <a:latin typeface="Calibri"/>
                <a:cs typeface="Calibri"/>
              </a:rPr>
              <a:t>Recommendations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1784" y="1422428"/>
            <a:ext cx="7696200" cy="347217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wanted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get</a:t>
            </a: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been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achieved</a:t>
            </a: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numbers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prove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result</a:t>
            </a: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interpret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endParaRPr sz="25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What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other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could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improve:</a:t>
            </a:r>
            <a:endParaRPr sz="2500">
              <a:latin typeface="Calibri"/>
              <a:cs typeface="Calibri"/>
            </a:endParaRPr>
          </a:p>
          <a:p>
            <a:pPr lvl="1" marL="720725" indent="-354965">
              <a:lnSpc>
                <a:spcPct val="100000"/>
              </a:lnSpc>
              <a:spcBef>
                <a:spcPts val="6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72072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reliability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obtained</a:t>
            </a:r>
            <a:endParaRPr sz="2100">
              <a:latin typeface="Calibri"/>
              <a:cs typeface="Calibri"/>
            </a:endParaRPr>
          </a:p>
          <a:p>
            <a:pPr lvl="1" marL="720725" indent="-35496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72072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Functional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enrichment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endParaRPr sz="2100">
              <a:latin typeface="Calibri"/>
              <a:cs typeface="Calibri"/>
            </a:endParaRPr>
          </a:p>
          <a:p>
            <a:pPr lvl="1" marL="720725" indent="-35496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72072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Further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improvement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usability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product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00B0F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50" b="0">
                <a:solidFill>
                  <a:srgbClr val="000000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1441" y="146080"/>
            <a:ext cx="8714740" cy="6826884"/>
          </a:xfrm>
          <a:prstGeom prst="rect">
            <a:avLst/>
          </a:prstGeom>
        </p:spPr>
        <p:txBody>
          <a:bodyPr wrap="square" lIns="0" tIns="292100" rIns="0" bIns="0" rtlCol="0" vert="horz">
            <a:spAutoFit/>
          </a:bodyPr>
          <a:lstStyle/>
          <a:p>
            <a:pPr marL="312420">
              <a:lnSpc>
                <a:spcPct val="100000"/>
              </a:lnSpc>
              <a:spcBef>
                <a:spcPts val="2300"/>
              </a:spcBef>
            </a:pP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Info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3700" spc="-10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b="1">
                <a:solidFill>
                  <a:srgbClr val="151515"/>
                </a:solidFill>
                <a:latin typeface="Calibri"/>
                <a:cs typeface="Calibri"/>
              </a:rPr>
              <a:t>Phase</a:t>
            </a:r>
            <a:r>
              <a:rPr dirty="0" sz="3700" spc="5" b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700" spc="-50" b="1">
                <a:solidFill>
                  <a:srgbClr val="151515"/>
                </a:solidFill>
                <a:latin typeface="Calibri"/>
                <a:cs typeface="Calibri"/>
              </a:rPr>
              <a:t>D</a:t>
            </a:r>
            <a:endParaRPr sz="37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149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r>
              <a:rPr dirty="0" sz="2500" spc="-10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Repeat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(identical)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here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r>
              <a:rPr dirty="0" sz="2500" spc="-8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Inspection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carried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prototype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89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10" b="1" i="1">
                <a:solidFill>
                  <a:srgbClr val="151515"/>
                </a:solidFill>
                <a:latin typeface="Calibri"/>
                <a:cs typeface="Calibri"/>
              </a:rPr>
              <a:t>Redesign</a:t>
            </a:r>
            <a:r>
              <a:rPr dirty="0" sz="25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500" spc="-6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7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59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carried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prototype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similar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preliminary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100">
              <a:latin typeface="Calibri"/>
              <a:cs typeface="Calibri"/>
            </a:endParaRPr>
          </a:p>
          <a:p>
            <a:pPr lvl="1" marL="662305" indent="-296545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2305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least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two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first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session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subjected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session</a:t>
            </a:r>
            <a:endParaRPr sz="2100">
              <a:latin typeface="Calibri"/>
              <a:cs typeface="Calibri"/>
            </a:endParaRPr>
          </a:p>
          <a:p>
            <a:pPr lvl="1" marL="661670" marR="626745" indent="-295910">
              <a:lnSpc>
                <a:spcPct val="100000"/>
              </a:lnSpc>
              <a:spcBef>
                <a:spcPts val="480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case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ambiguous</a:t>
            </a:r>
            <a:r>
              <a:rPr dirty="0" sz="2100" spc="-5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 i="1">
                <a:solidFill>
                  <a:srgbClr val="151515"/>
                </a:solidFill>
                <a:latin typeface="Calibri"/>
                <a:cs typeface="Calibri"/>
              </a:rPr>
              <a:t>unsatisfactory</a:t>
            </a:r>
            <a:r>
              <a:rPr dirty="0" sz="21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results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4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testing,</a:t>
            </a:r>
            <a:r>
              <a:rPr dirty="0" sz="2100" spc="-4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plan</a:t>
            </a:r>
            <a:r>
              <a:rPr dirty="0" sz="2100" spc="-5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another design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i="1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100" spc="-7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i="1">
                <a:solidFill>
                  <a:srgbClr val="151515"/>
                </a:solidFill>
                <a:latin typeface="Calibri"/>
                <a:cs typeface="Calibri"/>
              </a:rPr>
              <a:t>session!</a:t>
            </a:r>
            <a:endParaRPr sz="2100">
              <a:latin typeface="Calibri"/>
              <a:cs typeface="Calibri"/>
            </a:endParaRPr>
          </a:p>
          <a:p>
            <a:pPr marL="367030" indent="-354330">
              <a:lnSpc>
                <a:spcPct val="100000"/>
              </a:lnSpc>
              <a:spcBef>
                <a:spcPts val="465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500" spc="-8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b="1" i="1">
                <a:solidFill>
                  <a:srgbClr val="151515"/>
                </a:solidFill>
                <a:latin typeface="Calibri"/>
                <a:cs typeface="Calibri"/>
              </a:rPr>
              <a:t>conclusion</a:t>
            </a:r>
            <a:r>
              <a:rPr dirty="0" sz="2500" spc="-90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 b="1" i="1">
                <a:solidFill>
                  <a:srgbClr val="151515"/>
                </a:solidFill>
                <a:latin typeface="Calibri"/>
                <a:cs typeface="Calibri"/>
              </a:rPr>
              <a:t>card</a:t>
            </a:r>
            <a:endParaRPr sz="2500">
              <a:latin typeface="Calibri"/>
              <a:cs typeface="Calibri"/>
            </a:endParaRPr>
          </a:p>
          <a:p>
            <a:pPr lvl="1" marL="661670" marR="5080" indent="-295910">
              <a:lnSpc>
                <a:spcPts val="2500"/>
              </a:lnSpc>
              <a:spcBef>
                <a:spcPts val="71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final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reflections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whole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activity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was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carried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errors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made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fixed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endParaRPr sz="2100">
              <a:latin typeface="Calibri"/>
              <a:cs typeface="Calibri"/>
            </a:endParaRPr>
          </a:p>
          <a:p>
            <a:pPr lvl="1" marL="661670" marR="212725" indent="-295910">
              <a:lnSpc>
                <a:spcPts val="2500"/>
              </a:lnSpc>
              <a:spcBef>
                <a:spcPts val="495"/>
              </a:spcBef>
              <a:buClr>
                <a:srgbClr val="333399"/>
              </a:buClr>
              <a:buSzPct val="76190"/>
              <a:buFont typeface="Arial MT"/>
              <a:buChar char="◆"/>
              <a:tabLst>
                <a:tab pos="661670" algn="l"/>
              </a:tabLst>
            </a:pP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Compare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quantitatively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qualitatively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prototype</a:t>
            </a:r>
            <a:r>
              <a:rPr dirty="0" sz="2100" spc="-4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original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stress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strong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points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weaknesses.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546515" y="228600"/>
            <a:ext cx="1524635" cy="647700"/>
          </a:xfrm>
          <a:prstGeom prst="rect"/>
          <a:solidFill>
            <a:srgbClr val="00B0F0">
              <a:alpha val="5215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955"/>
              </a:spcBef>
            </a:pPr>
            <a:r>
              <a:rPr dirty="0" sz="2500" b="0">
                <a:solidFill>
                  <a:srgbClr val="000000"/>
                </a:solidFill>
                <a:latin typeface="Tahoma"/>
                <a:cs typeface="Tahoma"/>
              </a:rPr>
              <a:t>Phase</a:t>
            </a:r>
            <a:r>
              <a:rPr dirty="0" sz="2500" spc="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500" spc="50" b="0">
                <a:solidFill>
                  <a:srgbClr val="000000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97274" y="2563134"/>
            <a:ext cx="2961640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</a:rPr>
              <a:t>Final</a:t>
            </a:r>
            <a:r>
              <a:rPr dirty="0" sz="4100" spc="25">
                <a:solidFill>
                  <a:srgbClr val="FFFFFF"/>
                </a:solidFill>
              </a:rPr>
              <a:t> </a:t>
            </a:r>
            <a:r>
              <a:rPr dirty="0" sz="4100" spc="-10">
                <a:solidFill>
                  <a:srgbClr val="FFFFFF"/>
                </a:solidFill>
              </a:rPr>
              <a:t>remarks</a:t>
            </a:r>
            <a:endParaRPr sz="41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Please</a:t>
            </a:r>
            <a:r>
              <a:rPr dirty="0" sz="3300" spc="-30"/>
              <a:t> </a:t>
            </a:r>
            <a:r>
              <a:rPr dirty="0" sz="3300" spc="-10"/>
              <a:t>remember</a:t>
            </a:r>
            <a:endParaRPr sz="33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11276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700"/>
              </a:spcBef>
              <a:buSzPct val="80000"/>
              <a:buFont typeface="Wingdings"/>
              <a:buChar char=""/>
              <a:tabLst>
                <a:tab pos="367030" algn="l"/>
              </a:tabLst>
            </a:pPr>
            <a:r>
              <a:rPr dirty="0"/>
              <a:t>Find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/>
              <a:t>tone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10"/>
              <a:t>message</a:t>
            </a: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SzPct val="80000"/>
              <a:buFont typeface="Wingdings"/>
              <a:buChar char=""/>
              <a:tabLst>
                <a:tab pos="367030" algn="l"/>
              </a:tabLst>
            </a:pPr>
            <a:r>
              <a:rPr dirty="0" spc="-10" b="0" i="0">
                <a:latin typeface="Calibri"/>
                <a:cs typeface="Calibri"/>
              </a:rPr>
              <a:t>Understand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your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product,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understand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your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audience</a:t>
            </a: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SzPct val="80000"/>
              <a:buFont typeface="Wingdings"/>
              <a:buChar char=""/>
              <a:tabLst>
                <a:tab pos="367030" algn="l"/>
              </a:tabLst>
            </a:pPr>
            <a:r>
              <a:rPr dirty="0" b="0" i="0">
                <a:latin typeface="Calibri"/>
                <a:cs typeface="Calibri"/>
              </a:rPr>
              <a:t>Be</a:t>
            </a:r>
            <a:r>
              <a:rPr dirty="0" spc="-5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specific,</a:t>
            </a:r>
            <a:r>
              <a:rPr dirty="0" spc="-5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be</a:t>
            </a:r>
            <a:r>
              <a:rPr dirty="0" spc="-5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complex</a:t>
            </a: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SzPct val="80000"/>
              <a:buFont typeface="Wingdings"/>
              <a:buChar char=""/>
              <a:tabLst>
                <a:tab pos="367030" algn="l"/>
              </a:tabLst>
            </a:pPr>
            <a:r>
              <a:rPr dirty="0" b="0" i="0">
                <a:latin typeface="Calibri"/>
                <a:cs typeface="Calibri"/>
              </a:rPr>
              <a:t>Make</a:t>
            </a:r>
            <a:r>
              <a:rPr dirty="0" spc="-10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complete</a:t>
            </a:r>
            <a:r>
              <a:rPr dirty="0" spc="-9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examples</a:t>
            </a:r>
          </a:p>
          <a:p>
            <a:pPr marL="367030" marR="353060" indent="-354965">
              <a:lnSpc>
                <a:spcPct val="100800"/>
              </a:lnSpc>
              <a:spcBef>
                <a:spcPts val="575"/>
              </a:spcBef>
              <a:buSzPct val="80000"/>
              <a:buFont typeface="Wingdings"/>
              <a:buChar char=""/>
              <a:tabLst>
                <a:tab pos="367030" algn="l"/>
              </a:tabLst>
            </a:pPr>
            <a:r>
              <a:rPr dirty="0" b="0" i="0">
                <a:latin typeface="Calibri"/>
                <a:cs typeface="Calibri"/>
              </a:rPr>
              <a:t>Use</a:t>
            </a:r>
            <a:r>
              <a:rPr dirty="0" spc="-10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actual</a:t>
            </a:r>
            <a:r>
              <a:rPr dirty="0" spc="-9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texts</a:t>
            </a:r>
            <a:r>
              <a:rPr dirty="0" spc="-10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and</a:t>
            </a:r>
            <a:r>
              <a:rPr dirty="0" spc="-9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actual</a:t>
            </a:r>
            <a:r>
              <a:rPr dirty="0" spc="-9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images</a:t>
            </a:r>
            <a:r>
              <a:rPr dirty="0" spc="-10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whenever</a:t>
            </a:r>
            <a:r>
              <a:rPr dirty="0" spc="-9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they</a:t>
            </a:r>
            <a:r>
              <a:rPr dirty="0" spc="-10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establish </a:t>
            </a: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tone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and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explain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the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message</a:t>
            </a:r>
          </a:p>
          <a:p>
            <a:pPr marL="367030" marR="5080" indent="-354965">
              <a:lnSpc>
                <a:spcPct val="100299"/>
              </a:lnSpc>
              <a:spcBef>
                <a:spcPts val="565"/>
              </a:spcBef>
              <a:buSzPct val="80000"/>
              <a:buFont typeface="Wingdings"/>
              <a:buChar char=""/>
              <a:tabLst>
                <a:tab pos="367030" algn="l"/>
              </a:tabLst>
            </a:pPr>
            <a:r>
              <a:rPr dirty="0" b="0" i="0">
                <a:latin typeface="Calibri"/>
                <a:cs typeface="Calibri"/>
              </a:rPr>
              <a:t>Handle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background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competencies!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All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these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systems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imply disconnect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between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required</a:t>
            </a:r>
            <a:r>
              <a:rPr dirty="0" spc="-8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and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available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knowledge:</a:t>
            </a:r>
            <a:r>
              <a:rPr dirty="0" spc="-75" b="0" i="0">
                <a:latin typeface="Calibri"/>
                <a:cs typeface="Calibri"/>
              </a:rPr>
              <a:t> </a:t>
            </a:r>
            <a:r>
              <a:rPr dirty="0" spc="-20" b="0" i="0">
                <a:latin typeface="Calibri"/>
                <a:cs typeface="Calibri"/>
              </a:rPr>
              <a:t>make </a:t>
            </a:r>
            <a:r>
              <a:rPr dirty="0" b="0" i="0">
                <a:latin typeface="Calibri"/>
                <a:cs typeface="Calibri"/>
              </a:rPr>
              <a:t>sure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that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help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is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not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condescending</a:t>
            </a:r>
            <a:r>
              <a:rPr dirty="0" spc="-6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and</a:t>
            </a:r>
            <a:r>
              <a:rPr dirty="0" spc="-6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patronizing</a:t>
            </a:r>
            <a:r>
              <a:rPr dirty="0" spc="-7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(users</a:t>
            </a:r>
            <a:r>
              <a:rPr dirty="0" spc="-55" b="0" i="0">
                <a:latin typeface="Calibri"/>
                <a:cs typeface="Calibri"/>
              </a:rPr>
              <a:t> </a:t>
            </a:r>
            <a:r>
              <a:rPr dirty="0" spc="-25" b="0" i="0">
                <a:latin typeface="Calibri"/>
                <a:cs typeface="Calibri"/>
              </a:rPr>
              <a:t>are </a:t>
            </a:r>
            <a:r>
              <a:rPr dirty="0" b="0" i="0">
                <a:latin typeface="Calibri"/>
                <a:cs typeface="Calibri"/>
              </a:rPr>
              <a:t>treated</a:t>
            </a:r>
            <a:r>
              <a:rPr dirty="0" spc="-9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as</a:t>
            </a:r>
            <a:r>
              <a:rPr dirty="0" spc="-9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idiots),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but</a:t>
            </a:r>
            <a:r>
              <a:rPr dirty="0" spc="-9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rather</a:t>
            </a:r>
            <a:r>
              <a:rPr dirty="0" spc="-85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helpful</a:t>
            </a:r>
            <a:r>
              <a:rPr dirty="0" spc="-90" b="0" i="0">
                <a:latin typeface="Calibri"/>
                <a:cs typeface="Calibri"/>
              </a:rPr>
              <a:t> </a:t>
            </a:r>
            <a:r>
              <a:rPr dirty="0" b="0" i="0">
                <a:latin typeface="Calibri"/>
                <a:cs typeface="Calibri"/>
              </a:rPr>
              <a:t>and</a:t>
            </a:r>
            <a:r>
              <a:rPr dirty="0" spc="-90" b="0" i="0">
                <a:latin typeface="Calibri"/>
                <a:cs typeface="Calibri"/>
              </a:rPr>
              <a:t> </a:t>
            </a:r>
            <a:r>
              <a:rPr dirty="0" spc="-10" b="0" i="0">
                <a:latin typeface="Calibri"/>
                <a:cs typeface="Calibri"/>
              </a:rPr>
              <a:t>constructive.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Frequent</a:t>
            </a:r>
            <a:r>
              <a:rPr dirty="0" spc="10"/>
              <a:t> </a:t>
            </a:r>
            <a:r>
              <a:rPr dirty="0" spc="-10"/>
              <a:t>errors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390783"/>
            <a:ext cx="8345170" cy="56191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67030" marR="5080" indent="-354965">
              <a:lnSpc>
                <a:spcPct val="99500"/>
              </a:lnSpc>
              <a:spcBef>
                <a:spcPts val="11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Some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activities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carried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syntethic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users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(personas),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some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others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real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people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flesh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bones.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Understand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carry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accordingly.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invent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real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users.</a:t>
            </a:r>
            <a:endParaRPr sz="2100">
              <a:latin typeface="Calibri"/>
              <a:cs typeface="Calibri"/>
            </a:endParaRPr>
          </a:p>
          <a:p>
            <a:pPr marL="367030" marR="78105" indent="-354965">
              <a:lnSpc>
                <a:spcPts val="2500"/>
              </a:lnSpc>
              <a:spcBef>
                <a:spcPts val="58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USE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PERSONAS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APPROPRIATELY.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Personas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simply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check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corresponding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check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box.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tools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help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focusing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and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generate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answers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outside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specific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natural,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spontaneous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reactions.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good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can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separate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their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nature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from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own.</a:t>
            </a:r>
            <a:endParaRPr sz="2100">
              <a:latin typeface="Calibri"/>
              <a:cs typeface="Calibri"/>
            </a:endParaRPr>
          </a:p>
          <a:p>
            <a:pPr marL="367030" marR="154940" indent="-354965">
              <a:lnSpc>
                <a:spcPct val="99400"/>
              </a:lnSpc>
              <a:spcBef>
                <a:spcPts val="405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generic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wireframes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when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content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obvious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or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irrelevant: squares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instead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images,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squibbles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instead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texts,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lorem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ipsum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blocks instead</a:t>
            </a:r>
            <a:r>
              <a:rPr dirty="0" sz="21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blocks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appropriate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only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when</a:t>
            </a:r>
            <a:r>
              <a:rPr dirty="0" sz="21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really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matter,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otherwise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 b="1" i="1">
                <a:solidFill>
                  <a:srgbClr val="151515"/>
                </a:solidFill>
                <a:latin typeface="Calibri"/>
                <a:cs typeface="Calibri"/>
              </a:rPr>
              <a:t>way</a:t>
            </a:r>
            <a:r>
              <a:rPr dirty="0" sz="2100" spc="-55" b="1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better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invent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something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plausible.</a:t>
            </a:r>
            <a:endParaRPr sz="2100">
              <a:latin typeface="Calibri"/>
              <a:cs typeface="Calibri"/>
            </a:endParaRPr>
          </a:p>
          <a:p>
            <a:pPr marL="367030" marR="338455" indent="-354965">
              <a:lnSpc>
                <a:spcPct val="99300"/>
              </a:lnSpc>
              <a:spcBef>
                <a:spcPts val="50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matter.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Fake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useless.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Usually,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summative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are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carried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by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different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team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than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designers,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order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minimize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bias.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yourself,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usually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with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friends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family.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Try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as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objective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possible.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evaluated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1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positive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or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negative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are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scores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obtained</a:t>
            </a:r>
            <a:r>
              <a:rPr dirty="0" sz="21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tests,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but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endParaRPr sz="2100">
              <a:latin typeface="Calibri"/>
              <a:cs typeface="Calibri"/>
            </a:endParaRPr>
          </a:p>
          <a:p>
            <a:pPr marL="367030">
              <a:lnSpc>
                <a:spcPts val="2495"/>
              </a:lnSpc>
            </a:pP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overall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likelyhood</a:t>
            </a:r>
            <a:r>
              <a:rPr dirty="0" sz="21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1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scores.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Deliverables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78495" cy="2464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345440" indent="-3549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not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accept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individual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cards.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Fill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them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compose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a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single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generate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PDF.</a:t>
            </a:r>
            <a:endParaRPr sz="2500">
              <a:latin typeface="Calibri"/>
              <a:cs typeface="Calibri"/>
            </a:endParaRPr>
          </a:p>
          <a:p>
            <a:pPr marL="367030" marR="41910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Attach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folder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additional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material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(tests,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numerical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tables,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testing</a:t>
            </a:r>
            <a:r>
              <a:rPr dirty="0" sz="2500" spc="-10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protocols,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DISCARDED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DESIGN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CHOICES,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etc.)</a:t>
            </a:r>
            <a:endParaRPr sz="2500">
              <a:latin typeface="Calibri"/>
              <a:cs typeface="Calibri"/>
            </a:endParaRPr>
          </a:p>
          <a:p>
            <a:pPr marL="367030" marR="5080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Create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single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ZIP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file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upload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virtuale.unibo.it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the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appropriate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area.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Before</a:t>
            </a:r>
            <a:r>
              <a:rPr dirty="0" spc="-5"/>
              <a:t> </a:t>
            </a:r>
            <a:r>
              <a:rPr dirty="0"/>
              <a:t>/ </a:t>
            </a:r>
            <a:r>
              <a:rPr dirty="0" spc="-20"/>
              <a:t>after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89925" cy="4829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70485" indent="-3549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documentation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must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include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comparison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dirty="0" sz="2500" spc="-70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i="1">
                <a:solidFill>
                  <a:srgbClr val="151515"/>
                </a:solidFill>
                <a:latin typeface="Calibri"/>
                <a:cs typeface="Calibri"/>
              </a:rPr>
              <a:t>/</a:t>
            </a:r>
            <a:r>
              <a:rPr dirty="0" sz="2500" spc="-85" i="1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 i="1">
                <a:solidFill>
                  <a:srgbClr val="151515"/>
                </a:solidFill>
                <a:latin typeface="Calibri"/>
                <a:cs typeface="Calibri"/>
              </a:rPr>
              <a:t>After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tool,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so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clear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which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parts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5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existing system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been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affected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how.</a:t>
            </a:r>
            <a:endParaRPr sz="2500">
              <a:latin typeface="Calibri"/>
              <a:cs typeface="Calibri"/>
            </a:endParaRPr>
          </a:p>
          <a:p>
            <a:pPr marL="367030" marR="14604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ready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defend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choices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and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how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decisions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have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improved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existing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endParaRPr sz="2500">
              <a:latin typeface="Calibri"/>
              <a:cs typeface="Calibri"/>
            </a:endParaRPr>
          </a:p>
          <a:p>
            <a:pPr marL="367030" marR="5080" indent="-354965">
              <a:lnSpc>
                <a:spcPct val="100299"/>
              </a:lnSpc>
              <a:spcBef>
                <a:spcPts val="59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Existing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change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frequently.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very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frustrating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find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out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that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based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"before"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tests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have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changed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when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creating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documentation.</a:t>
            </a:r>
            <a:r>
              <a:rPr dirty="0" sz="2500" spc="-10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151515"/>
                </a:solidFill>
                <a:latin typeface="Calibri"/>
                <a:cs typeface="Calibri"/>
              </a:rPr>
              <a:t>Make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screenshots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while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see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them.</a:t>
            </a:r>
            <a:endParaRPr sz="2500">
              <a:latin typeface="Calibri"/>
              <a:cs typeface="Calibri"/>
            </a:endParaRPr>
          </a:p>
          <a:p>
            <a:pPr algn="just" marL="367030" marR="72390" indent="-3549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67030" algn="l"/>
              </a:tabLst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Your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own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system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will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evolve</a:t>
            </a:r>
            <a:r>
              <a:rPr dirty="0" sz="2500" spc="-8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between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early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ideas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9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ready</a:t>
            </a:r>
            <a:r>
              <a:rPr dirty="0" sz="2500" spc="-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151515"/>
                </a:solidFill>
                <a:latin typeface="Calibri"/>
                <a:cs typeface="Calibri"/>
              </a:rPr>
              <a:t>to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2500" spc="-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after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testing.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all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these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phases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Project Management</a:t>
            </a:r>
            <a:r>
              <a:rPr dirty="0" sz="2500" spc="-1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784" y="1498457"/>
            <a:ext cx="8288655" cy="1262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z="2500" spc="-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this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document</a:t>
            </a:r>
            <a:r>
              <a:rPr dirty="0" sz="25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we</a:t>
            </a:r>
            <a:r>
              <a:rPr dirty="0" sz="25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151515"/>
                </a:solidFill>
                <a:latin typeface="Calibri"/>
                <a:cs typeface="Calibri"/>
              </a:rPr>
              <a:t>have</a:t>
            </a:r>
            <a:r>
              <a:rPr dirty="0" sz="25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151515"/>
                </a:solidFill>
                <a:latin typeface="Calibri"/>
                <a:cs typeface="Calibri"/>
              </a:rPr>
              <a:t>discussed: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500">
              <a:latin typeface="Calibri"/>
              <a:cs typeface="Calibri"/>
            </a:endParaRPr>
          </a:p>
          <a:p>
            <a:pPr marL="720725" indent="-354965">
              <a:lnSpc>
                <a:spcPct val="100000"/>
              </a:lnSpc>
              <a:buClr>
                <a:srgbClr val="333399"/>
              </a:buClr>
              <a:buSzPct val="76190"/>
              <a:buFont typeface="Arial MT"/>
              <a:buChar char="◆"/>
              <a:tabLst>
                <a:tab pos="720725" algn="l"/>
              </a:tabLst>
            </a:pP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Details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0">
                <a:solidFill>
                  <a:srgbClr val="151515"/>
                </a:solidFill>
                <a:latin typeface="Calibri"/>
                <a:cs typeface="Calibri"/>
              </a:rPr>
              <a:t>completion</a:t>
            </a:r>
            <a:r>
              <a:rPr dirty="0" sz="2100" spc="-6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30">
                <a:solidFill>
                  <a:srgbClr val="151515"/>
                </a:solidFill>
                <a:latin typeface="Calibri"/>
                <a:cs typeface="Calibri"/>
              </a:rPr>
              <a:t>end-of-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course</a:t>
            </a:r>
            <a:r>
              <a:rPr dirty="0" sz="2100" spc="-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for</a:t>
            </a:r>
            <a:r>
              <a:rPr dirty="0" sz="2100" spc="-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51515"/>
                </a:solidFill>
                <a:latin typeface="Calibri"/>
                <a:cs typeface="Calibri"/>
              </a:rPr>
              <a:t>A.Y.</a:t>
            </a:r>
            <a:r>
              <a:rPr dirty="0" sz="21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51515"/>
                </a:solidFill>
                <a:latin typeface="Calibri"/>
                <a:cs typeface="Calibri"/>
              </a:rPr>
              <a:t>2025-26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 Vitali</dc:creator>
  <dc:title>11-CourseProject2026</dc:title>
  <dcterms:created xsi:type="dcterms:W3CDTF">2026-06-29T19:59:41Z</dcterms:created>
  <dcterms:modified xsi:type="dcterms:W3CDTF">2026-06-29T19:59:41Z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2026-03-15T00:00:00Z</vt:filetime>
  </property>
  <property fmtid="{D5CDD505-2E9C-101B-9397-08002B2CF9AE}" pid="4" name="Creator">
    <vt:lpwstr>PowerPoint</vt:lpwstr>
  </property>
  <property fmtid="{D5CDD505-2E9C-101B-9397-08002B2CF9AE}" pid="5" name="LastSaved">
    <vt:filetime>2026-06-29T00:00:00Z</vt:filetime>
  </property>
  <property fmtid="{D5CDD505-2E9C-101B-9397-08002B2CF9AE}" pid="6" name="Producer">
    <vt:lpwstr>macOS Version 15.3.2 (Build 24D81) Quartz PDFContext</vt:lpwstr>
  </property>
</Properties>
</file>